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7"/>
  </p:notesMasterIdLst>
  <p:handoutMasterIdLst>
    <p:handoutMasterId r:id="rId38"/>
  </p:handoutMasterIdLst>
  <p:sldIdLst>
    <p:sldId id="445" r:id="rId3"/>
    <p:sldId id="449" r:id="rId4"/>
    <p:sldId id="431" r:id="rId5"/>
    <p:sldId id="454" r:id="rId6"/>
    <p:sldId id="436" r:id="rId7"/>
    <p:sldId id="452" r:id="rId8"/>
    <p:sldId id="447" r:id="rId9"/>
    <p:sldId id="448" r:id="rId10"/>
    <p:sldId id="450" r:id="rId11"/>
    <p:sldId id="453" r:id="rId12"/>
    <p:sldId id="455" r:id="rId13"/>
    <p:sldId id="456" r:id="rId14"/>
    <p:sldId id="451" r:id="rId15"/>
    <p:sldId id="391" r:id="rId16"/>
    <p:sldId id="457" r:id="rId17"/>
    <p:sldId id="460" r:id="rId18"/>
    <p:sldId id="458" r:id="rId19"/>
    <p:sldId id="462" r:id="rId20"/>
    <p:sldId id="459" r:id="rId21"/>
    <p:sldId id="461" r:id="rId22"/>
    <p:sldId id="463" r:id="rId23"/>
    <p:sldId id="464" r:id="rId24"/>
    <p:sldId id="471" r:id="rId25"/>
    <p:sldId id="465" r:id="rId26"/>
    <p:sldId id="468" r:id="rId27"/>
    <p:sldId id="466" r:id="rId28"/>
    <p:sldId id="467" r:id="rId29"/>
    <p:sldId id="469" r:id="rId30"/>
    <p:sldId id="473" r:id="rId31"/>
    <p:sldId id="470" r:id="rId32"/>
    <p:sldId id="472" r:id="rId33"/>
    <p:sldId id="474" r:id="rId34"/>
    <p:sldId id="475" r:id="rId35"/>
    <p:sldId id="27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E3E8"/>
    <a:srgbClr val="E81313"/>
    <a:srgbClr val="008573"/>
    <a:srgbClr val="0B70E8"/>
    <a:srgbClr val="FFFFFF"/>
    <a:srgbClr val="156082"/>
    <a:srgbClr val="E8E8E8"/>
    <a:srgbClr val="105CA0"/>
    <a:srgbClr val="0556A2"/>
    <a:srgbClr val="C0DA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5024F0-CACE-4895-9436-AB8DCA2D72D9}" v="24" dt="2026-01-14T15:33:45.8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9459" autoAdjust="0"/>
  </p:normalViewPr>
  <p:slideViewPr>
    <p:cSldViewPr snapToGrid="0">
      <p:cViewPr varScale="1">
        <p:scale>
          <a:sx n="99" d="100"/>
          <a:sy n="99" d="100"/>
        </p:scale>
        <p:origin x="1032"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n Pellan" userId="3f7c0edb-e8ec-4a37-8825-7980f4e34b60" providerId="ADAL" clId="{8933617A-6A37-414A-8E09-9C6B98F6846B}"/>
    <pc:docChg chg="undo redo custSel addSld delSld modSld sldOrd">
      <pc:chgData name="Marin Pellan" userId="3f7c0edb-e8ec-4a37-8825-7980f4e34b60" providerId="ADAL" clId="{8933617A-6A37-414A-8E09-9C6B98F6846B}" dt="2026-01-14T16:00:57.924" v="12052" actId="20577"/>
      <pc:docMkLst>
        <pc:docMk/>
      </pc:docMkLst>
      <pc:sldChg chg="modSp add mod ord">
        <pc:chgData name="Marin Pellan" userId="3f7c0edb-e8ec-4a37-8825-7980f4e34b60" providerId="ADAL" clId="{8933617A-6A37-414A-8E09-9C6B98F6846B}" dt="2026-01-13T15:16:38.922" v="9121" actId="20577"/>
        <pc:sldMkLst>
          <pc:docMk/>
          <pc:sldMk cId="2258077475" sldId="463"/>
        </pc:sldMkLst>
        <pc:spChg chg="mod">
          <ac:chgData name="Marin Pellan" userId="3f7c0edb-e8ec-4a37-8825-7980f4e34b60" providerId="ADAL" clId="{8933617A-6A37-414A-8E09-9C6B98F6846B}" dt="2026-01-13T15:16:38.922" v="9121" actId="20577"/>
          <ac:spMkLst>
            <pc:docMk/>
            <pc:sldMk cId="2258077475" sldId="463"/>
            <ac:spMk id="189" creationId="{BBB2DA4E-ED84-E805-0DDE-9BE76F7F1859}"/>
          </ac:spMkLst>
        </pc:spChg>
      </pc:sldChg>
      <pc:sldChg chg="modSp add mod ord">
        <pc:chgData name="Marin Pellan" userId="3f7c0edb-e8ec-4a37-8825-7980f4e34b60" providerId="ADAL" clId="{8933617A-6A37-414A-8E09-9C6B98F6846B}" dt="2026-01-14T13:34:57.581" v="11301" actId="20577"/>
        <pc:sldMkLst>
          <pc:docMk/>
          <pc:sldMk cId="562669002" sldId="464"/>
        </pc:sldMkLst>
        <pc:spChg chg="mod">
          <ac:chgData name="Marin Pellan" userId="3f7c0edb-e8ec-4a37-8825-7980f4e34b60" providerId="ADAL" clId="{8933617A-6A37-414A-8E09-9C6B98F6846B}" dt="2026-01-14T13:34:57.581" v="11301" actId="20577"/>
          <ac:spMkLst>
            <pc:docMk/>
            <pc:sldMk cId="562669002" sldId="464"/>
            <ac:spMk id="237" creationId="{2FBD04B6-F7F8-970A-EB84-AB0DD29D7D71}"/>
          </ac:spMkLst>
        </pc:spChg>
        <pc:spChg chg="mod">
          <ac:chgData name="Marin Pellan" userId="3f7c0edb-e8ec-4a37-8825-7980f4e34b60" providerId="ADAL" clId="{8933617A-6A37-414A-8E09-9C6B98F6846B}" dt="2026-01-13T16:30:02.723" v="9128" actId="20577"/>
          <ac:spMkLst>
            <pc:docMk/>
            <pc:sldMk cId="562669002" sldId="464"/>
            <ac:spMk id="238" creationId="{199F811E-5690-F18F-D8C3-28F7BBC5DBBA}"/>
          </ac:spMkLst>
        </pc:spChg>
      </pc:sldChg>
      <pc:sldChg chg="modSp add mod">
        <pc:chgData name="Marin Pellan" userId="3f7c0edb-e8ec-4a37-8825-7980f4e34b60" providerId="ADAL" clId="{8933617A-6A37-414A-8E09-9C6B98F6846B}" dt="2026-01-14T13:11:21.579" v="10851" actId="114"/>
        <pc:sldMkLst>
          <pc:docMk/>
          <pc:sldMk cId="4276111165" sldId="465"/>
        </pc:sldMkLst>
        <pc:spChg chg="mod">
          <ac:chgData name="Marin Pellan" userId="3f7c0edb-e8ec-4a37-8825-7980f4e34b60" providerId="ADAL" clId="{8933617A-6A37-414A-8E09-9C6B98F6846B}" dt="2026-01-14T13:11:21.579" v="10851" actId="114"/>
          <ac:spMkLst>
            <pc:docMk/>
            <pc:sldMk cId="4276111165" sldId="465"/>
            <ac:spMk id="237" creationId="{E7FB79D9-9FA6-99FE-6974-1A75CFCB33F4}"/>
          </ac:spMkLst>
        </pc:spChg>
        <pc:spChg chg="mod">
          <ac:chgData name="Marin Pellan" userId="3f7c0edb-e8ec-4a37-8825-7980f4e34b60" providerId="ADAL" clId="{8933617A-6A37-414A-8E09-9C6B98F6846B}" dt="2026-01-14T09:56:18.809" v="10205" actId="20577"/>
          <ac:spMkLst>
            <pc:docMk/>
            <pc:sldMk cId="4276111165" sldId="465"/>
            <ac:spMk id="238" creationId="{52641446-62CB-180D-9BA5-4E2D6A6995C3}"/>
          </ac:spMkLst>
        </pc:spChg>
      </pc:sldChg>
      <pc:sldChg chg="addSp delSp modSp add mod">
        <pc:chgData name="Marin Pellan" userId="3f7c0edb-e8ec-4a37-8825-7980f4e34b60" providerId="ADAL" clId="{8933617A-6A37-414A-8E09-9C6B98F6846B}" dt="2026-01-14T13:18:37.477" v="10903" actId="1076"/>
        <pc:sldMkLst>
          <pc:docMk/>
          <pc:sldMk cId="2368798829" sldId="466"/>
        </pc:sldMkLst>
        <pc:spChg chg="del mod">
          <ac:chgData name="Marin Pellan" userId="3f7c0edb-e8ec-4a37-8825-7980f4e34b60" providerId="ADAL" clId="{8933617A-6A37-414A-8E09-9C6B98F6846B}" dt="2026-01-14T13:08:06.063" v="10718" actId="478"/>
          <ac:spMkLst>
            <pc:docMk/>
            <pc:sldMk cId="2368798829" sldId="466"/>
            <ac:spMk id="237" creationId="{CBCBEA2F-D637-6B24-FC9E-7C2FB74F8C03}"/>
          </ac:spMkLst>
        </pc:spChg>
        <pc:spChg chg="mod">
          <ac:chgData name="Marin Pellan" userId="3f7c0edb-e8ec-4a37-8825-7980f4e34b60" providerId="ADAL" clId="{8933617A-6A37-414A-8E09-9C6B98F6846B}" dt="2026-01-14T13:08:37.139" v="10781" actId="20577"/>
          <ac:spMkLst>
            <pc:docMk/>
            <pc:sldMk cId="2368798829" sldId="466"/>
            <ac:spMk id="238" creationId="{A05BE570-6810-08D9-F229-404EE34EFCFF}"/>
          </ac:spMkLst>
        </pc:spChg>
        <pc:picChg chg="add mod modCrop">
          <ac:chgData name="Marin Pellan" userId="3f7c0edb-e8ec-4a37-8825-7980f4e34b60" providerId="ADAL" clId="{8933617A-6A37-414A-8E09-9C6B98F6846B}" dt="2026-01-14T13:18:35.725" v="10902" actId="1076"/>
          <ac:picMkLst>
            <pc:docMk/>
            <pc:sldMk cId="2368798829" sldId="466"/>
            <ac:picMk id="3" creationId="{34318509-07A1-CFB3-981B-80D56AD2D7B9}"/>
          </ac:picMkLst>
        </pc:picChg>
        <pc:picChg chg="add mod modCrop">
          <ac:chgData name="Marin Pellan" userId="3f7c0edb-e8ec-4a37-8825-7980f4e34b60" providerId="ADAL" clId="{8933617A-6A37-414A-8E09-9C6B98F6846B}" dt="2026-01-14T13:18:37.477" v="10903" actId="1076"/>
          <ac:picMkLst>
            <pc:docMk/>
            <pc:sldMk cId="2368798829" sldId="466"/>
            <ac:picMk id="4" creationId="{56166F30-02DA-1860-C871-BB384C90088C}"/>
          </ac:picMkLst>
        </pc:picChg>
      </pc:sldChg>
      <pc:sldChg chg="addSp delSp modSp add mod">
        <pc:chgData name="Marin Pellan" userId="3f7c0edb-e8ec-4a37-8825-7980f4e34b60" providerId="ADAL" clId="{8933617A-6A37-414A-8E09-9C6B98F6846B}" dt="2026-01-14T13:10:20.573" v="10824" actId="1076"/>
        <pc:sldMkLst>
          <pc:docMk/>
          <pc:sldMk cId="1267969985" sldId="467"/>
        </pc:sldMkLst>
        <pc:spChg chg="mod">
          <ac:chgData name="Marin Pellan" userId="3f7c0edb-e8ec-4a37-8825-7980f4e34b60" providerId="ADAL" clId="{8933617A-6A37-414A-8E09-9C6B98F6846B}" dt="2026-01-14T13:09:18.773" v="10806" actId="20577"/>
          <ac:spMkLst>
            <pc:docMk/>
            <pc:sldMk cId="1267969985" sldId="467"/>
            <ac:spMk id="238" creationId="{08CEFB83-B65A-D02E-4BE8-2DCD317430A3}"/>
          </ac:spMkLst>
        </pc:spChg>
        <pc:picChg chg="del">
          <ac:chgData name="Marin Pellan" userId="3f7c0edb-e8ec-4a37-8825-7980f4e34b60" providerId="ADAL" clId="{8933617A-6A37-414A-8E09-9C6B98F6846B}" dt="2026-01-14T13:08:59.830" v="10785" actId="478"/>
          <ac:picMkLst>
            <pc:docMk/>
            <pc:sldMk cId="1267969985" sldId="467"/>
            <ac:picMk id="3" creationId="{B452ED35-AA66-289D-255A-C34E69A702A9}"/>
          </ac:picMkLst>
        </pc:picChg>
        <pc:picChg chg="add mod modCrop">
          <ac:chgData name="Marin Pellan" userId="3f7c0edb-e8ec-4a37-8825-7980f4e34b60" providerId="ADAL" clId="{8933617A-6A37-414A-8E09-9C6B98F6846B}" dt="2026-01-14T13:10:13.461" v="10822" actId="1076"/>
          <ac:picMkLst>
            <pc:docMk/>
            <pc:sldMk cId="1267969985" sldId="467"/>
            <ac:picMk id="4" creationId="{364D071E-9DC7-705A-EC22-6B5F2F77F924}"/>
          </ac:picMkLst>
        </pc:picChg>
        <pc:picChg chg="add mod modCrop">
          <ac:chgData name="Marin Pellan" userId="3f7c0edb-e8ec-4a37-8825-7980f4e34b60" providerId="ADAL" clId="{8933617A-6A37-414A-8E09-9C6B98F6846B}" dt="2026-01-14T13:10:20.573" v="10824" actId="1076"/>
          <ac:picMkLst>
            <pc:docMk/>
            <pc:sldMk cId="1267969985" sldId="467"/>
            <ac:picMk id="5" creationId="{64B83FC8-FEDD-0FBE-A9A3-7A96762B3336}"/>
          </ac:picMkLst>
        </pc:picChg>
      </pc:sldChg>
      <pc:sldChg chg="addSp delSp modSp add mod">
        <pc:chgData name="Marin Pellan" userId="3f7c0edb-e8ec-4a37-8825-7980f4e34b60" providerId="ADAL" clId="{8933617A-6A37-414A-8E09-9C6B98F6846B}" dt="2026-01-14T13:12:35.239" v="10882" actId="1076"/>
        <pc:sldMkLst>
          <pc:docMk/>
          <pc:sldMk cId="1661521497" sldId="468"/>
        </pc:sldMkLst>
        <pc:spChg chg="del mod">
          <ac:chgData name="Marin Pellan" userId="3f7c0edb-e8ec-4a37-8825-7980f4e34b60" providerId="ADAL" clId="{8933617A-6A37-414A-8E09-9C6B98F6846B}" dt="2026-01-14T13:12:30.290" v="10879" actId="478"/>
          <ac:spMkLst>
            <pc:docMk/>
            <pc:sldMk cId="1661521497" sldId="468"/>
            <ac:spMk id="237" creationId="{A6BF6BD7-B7B4-B5F7-B43C-AA36C65F7B5D}"/>
          </ac:spMkLst>
        </pc:spChg>
        <pc:spChg chg="mod">
          <ac:chgData name="Marin Pellan" userId="3f7c0edb-e8ec-4a37-8825-7980f4e34b60" providerId="ADAL" clId="{8933617A-6A37-414A-8E09-9C6B98F6846B}" dt="2026-01-14T13:12:23.108" v="10878" actId="20577"/>
          <ac:spMkLst>
            <pc:docMk/>
            <pc:sldMk cId="1661521497" sldId="468"/>
            <ac:spMk id="238" creationId="{FA2BD26B-821E-9BD2-5FDF-CC0019725726}"/>
          </ac:spMkLst>
        </pc:spChg>
        <pc:picChg chg="add mod">
          <ac:chgData name="Marin Pellan" userId="3f7c0edb-e8ec-4a37-8825-7980f4e34b60" providerId="ADAL" clId="{8933617A-6A37-414A-8E09-9C6B98F6846B}" dt="2026-01-14T13:12:35.239" v="10882" actId="1076"/>
          <ac:picMkLst>
            <pc:docMk/>
            <pc:sldMk cId="1661521497" sldId="468"/>
            <ac:picMk id="1026" creationId="{5A270780-86E3-5770-D4B1-E53346B9921E}"/>
          </ac:picMkLst>
        </pc:picChg>
      </pc:sldChg>
      <pc:sldChg chg="addSp delSp modSp add mod">
        <pc:chgData name="Marin Pellan" userId="3f7c0edb-e8ec-4a37-8825-7980f4e34b60" providerId="ADAL" clId="{8933617A-6A37-414A-8E09-9C6B98F6846B}" dt="2026-01-14T13:23:51.237" v="10917" actId="1076"/>
        <pc:sldMkLst>
          <pc:docMk/>
          <pc:sldMk cId="1946280912" sldId="469"/>
        </pc:sldMkLst>
        <pc:spChg chg="mod">
          <ac:chgData name="Marin Pellan" userId="3f7c0edb-e8ec-4a37-8825-7980f4e34b60" providerId="ADAL" clId="{8933617A-6A37-414A-8E09-9C6B98F6846B}" dt="2026-01-14T13:21:56.914" v="10909" actId="20577"/>
          <ac:spMkLst>
            <pc:docMk/>
            <pc:sldMk cId="1946280912" sldId="469"/>
            <ac:spMk id="238" creationId="{EB519B60-F6C6-6269-EE67-BF083CEDFF9D}"/>
          </ac:spMkLst>
        </pc:spChg>
        <pc:picChg chg="add mod">
          <ac:chgData name="Marin Pellan" userId="3f7c0edb-e8ec-4a37-8825-7980f4e34b60" providerId="ADAL" clId="{8933617A-6A37-414A-8E09-9C6B98F6846B}" dt="2026-01-14T13:23:51.237" v="10917" actId="1076"/>
          <ac:picMkLst>
            <pc:docMk/>
            <pc:sldMk cId="1946280912" sldId="469"/>
            <ac:picMk id="3" creationId="{912D6FC9-C8B0-273D-15E9-983C70CA33A9}"/>
          </ac:picMkLst>
        </pc:picChg>
        <pc:picChg chg="del">
          <ac:chgData name="Marin Pellan" userId="3f7c0edb-e8ec-4a37-8825-7980f4e34b60" providerId="ADAL" clId="{8933617A-6A37-414A-8E09-9C6B98F6846B}" dt="2026-01-14T13:21:51.309" v="10905" actId="478"/>
          <ac:picMkLst>
            <pc:docMk/>
            <pc:sldMk cId="1946280912" sldId="469"/>
            <ac:picMk id="4" creationId="{47E6EF62-3281-5BF2-DF9F-38419C14107A}"/>
          </ac:picMkLst>
        </pc:picChg>
        <pc:picChg chg="del">
          <ac:chgData name="Marin Pellan" userId="3f7c0edb-e8ec-4a37-8825-7980f4e34b60" providerId="ADAL" clId="{8933617A-6A37-414A-8E09-9C6B98F6846B}" dt="2026-01-14T13:21:51.922" v="10906" actId="478"/>
          <ac:picMkLst>
            <pc:docMk/>
            <pc:sldMk cId="1946280912" sldId="469"/>
            <ac:picMk id="5" creationId="{A67C49AC-6489-BDC9-A877-5A1595C8CCA5}"/>
          </ac:picMkLst>
        </pc:picChg>
      </pc:sldChg>
      <pc:sldChg chg="addSp modSp add mod ord">
        <pc:chgData name="Marin Pellan" userId="3f7c0edb-e8ec-4a37-8825-7980f4e34b60" providerId="ADAL" clId="{8933617A-6A37-414A-8E09-9C6B98F6846B}" dt="2026-01-14T13:35:48.844" v="11356" actId="1076"/>
        <pc:sldMkLst>
          <pc:docMk/>
          <pc:sldMk cId="3229200581" sldId="470"/>
        </pc:sldMkLst>
        <pc:spChg chg="mod">
          <ac:chgData name="Marin Pellan" userId="3f7c0edb-e8ec-4a37-8825-7980f4e34b60" providerId="ADAL" clId="{8933617A-6A37-414A-8E09-9C6B98F6846B}" dt="2026-01-14T13:35:45.727" v="11355" actId="20577"/>
          <ac:spMkLst>
            <pc:docMk/>
            <pc:sldMk cId="3229200581" sldId="470"/>
            <ac:spMk id="237" creationId="{6729F923-44EB-8A85-7A6F-D4C1B77FC591}"/>
          </ac:spMkLst>
        </pc:spChg>
        <pc:spChg chg="mod">
          <ac:chgData name="Marin Pellan" userId="3f7c0edb-e8ec-4a37-8825-7980f4e34b60" providerId="ADAL" clId="{8933617A-6A37-414A-8E09-9C6B98F6846B}" dt="2026-01-14T13:24:19.749" v="10964" actId="20577"/>
          <ac:spMkLst>
            <pc:docMk/>
            <pc:sldMk cId="3229200581" sldId="470"/>
            <ac:spMk id="238" creationId="{047D071A-F434-E872-AEB6-54A230C133B3}"/>
          </ac:spMkLst>
        </pc:spChg>
        <pc:picChg chg="add mod">
          <ac:chgData name="Marin Pellan" userId="3f7c0edb-e8ec-4a37-8825-7980f4e34b60" providerId="ADAL" clId="{8933617A-6A37-414A-8E09-9C6B98F6846B}" dt="2026-01-14T13:35:48.844" v="11356" actId="1076"/>
          <ac:picMkLst>
            <pc:docMk/>
            <pc:sldMk cId="3229200581" sldId="470"/>
            <ac:picMk id="3" creationId="{59DBC632-7816-2735-B89C-08B81C139281}"/>
          </ac:picMkLst>
        </pc:picChg>
      </pc:sldChg>
      <pc:sldChg chg="modSp add mod">
        <pc:chgData name="Marin Pellan" userId="3f7c0edb-e8ec-4a37-8825-7980f4e34b60" providerId="ADAL" clId="{8933617A-6A37-414A-8E09-9C6B98F6846B}" dt="2026-01-14T13:35:17.059" v="11326" actId="20577"/>
        <pc:sldMkLst>
          <pc:docMk/>
          <pc:sldMk cId="2451582633" sldId="471"/>
        </pc:sldMkLst>
        <pc:spChg chg="mod">
          <ac:chgData name="Marin Pellan" userId="3f7c0edb-e8ec-4a37-8825-7980f4e34b60" providerId="ADAL" clId="{8933617A-6A37-414A-8E09-9C6B98F6846B}" dt="2026-01-14T13:35:17.059" v="11326" actId="20577"/>
          <ac:spMkLst>
            <pc:docMk/>
            <pc:sldMk cId="2451582633" sldId="471"/>
            <ac:spMk id="237" creationId="{AD69DA1F-96CA-C981-EE47-84E80B7FC5DD}"/>
          </ac:spMkLst>
        </pc:spChg>
        <pc:spChg chg="mod">
          <ac:chgData name="Marin Pellan" userId="3f7c0edb-e8ec-4a37-8825-7980f4e34b60" providerId="ADAL" clId="{8933617A-6A37-414A-8E09-9C6B98F6846B}" dt="2026-01-14T13:33:34.286" v="11155" actId="20577"/>
          <ac:spMkLst>
            <pc:docMk/>
            <pc:sldMk cId="2451582633" sldId="471"/>
            <ac:spMk id="238" creationId="{27D085B4-C2A5-FAF7-FF6A-7BB8BE5A9F1E}"/>
          </ac:spMkLst>
        </pc:spChg>
      </pc:sldChg>
      <pc:sldChg chg="addSp delSp modSp add mod">
        <pc:chgData name="Marin Pellan" userId="3f7c0edb-e8ec-4a37-8825-7980f4e34b60" providerId="ADAL" clId="{8933617A-6A37-414A-8E09-9C6B98F6846B}" dt="2026-01-14T13:59:20.388" v="11619" actId="1076"/>
        <pc:sldMkLst>
          <pc:docMk/>
          <pc:sldMk cId="1896637959" sldId="472"/>
        </pc:sldMkLst>
        <pc:spChg chg="add mod">
          <ac:chgData name="Marin Pellan" userId="3f7c0edb-e8ec-4a37-8825-7980f4e34b60" providerId="ADAL" clId="{8933617A-6A37-414A-8E09-9C6B98F6846B}" dt="2026-01-14T13:59:20.388" v="11619" actId="1076"/>
          <ac:spMkLst>
            <pc:docMk/>
            <pc:sldMk cId="1896637959" sldId="472"/>
            <ac:spMk id="5" creationId="{BF9D8F05-FAFA-3895-C35D-C5368DE88D87}"/>
          </ac:spMkLst>
        </pc:spChg>
        <pc:spChg chg="mod">
          <ac:chgData name="Marin Pellan" userId="3f7c0edb-e8ec-4a37-8825-7980f4e34b60" providerId="ADAL" clId="{8933617A-6A37-414A-8E09-9C6B98F6846B}" dt="2026-01-14T13:47:05.905" v="11359" actId="20577"/>
          <ac:spMkLst>
            <pc:docMk/>
            <pc:sldMk cId="1896637959" sldId="472"/>
            <ac:spMk id="237" creationId="{3E342D32-CAE9-2F85-46A3-D87AC480A900}"/>
          </ac:spMkLst>
        </pc:spChg>
        <pc:spChg chg="mod">
          <ac:chgData name="Marin Pellan" userId="3f7c0edb-e8ec-4a37-8825-7980f4e34b60" providerId="ADAL" clId="{8933617A-6A37-414A-8E09-9C6B98F6846B}" dt="2026-01-14T13:55:30.133" v="11592" actId="20577"/>
          <ac:spMkLst>
            <pc:docMk/>
            <pc:sldMk cId="1896637959" sldId="472"/>
            <ac:spMk id="238" creationId="{06B025ED-A0A3-B588-A7E8-DE520190867A}"/>
          </ac:spMkLst>
        </pc:spChg>
        <pc:picChg chg="del">
          <ac:chgData name="Marin Pellan" userId="3f7c0edb-e8ec-4a37-8825-7980f4e34b60" providerId="ADAL" clId="{8933617A-6A37-414A-8E09-9C6B98F6846B}" dt="2026-01-14T13:47:03.167" v="11358" actId="478"/>
          <ac:picMkLst>
            <pc:docMk/>
            <pc:sldMk cId="1896637959" sldId="472"/>
            <ac:picMk id="3" creationId="{CE9FA0A8-DDE9-1A07-2742-92E802160030}"/>
          </ac:picMkLst>
        </pc:picChg>
        <pc:picChg chg="add mod">
          <ac:chgData name="Marin Pellan" userId="3f7c0edb-e8ec-4a37-8825-7980f4e34b60" providerId="ADAL" clId="{8933617A-6A37-414A-8E09-9C6B98F6846B}" dt="2026-01-14T13:47:42.579" v="11365" actId="1076"/>
          <ac:picMkLst>
            <pc:docMk/>
            <pc:sldMk cId="1896637959" sldId="472"/>
            <ac:picMk id="4" creationId="{69DB2B3F-056B-FC6D-9110-43DC9BEAFCEE}"/>
          </ac:picMkLst>
        </pc:picChg>
        <pc:picChg chg="add del mod">
          <ac:chgData name="Marin Pellan" userId="3f7c0edb-e8ec-4a37-8825-7980f4e34b60" providerId="ADAL" clId="{8933617A-6A37-414A-8E09-9C6B98F6846B}" dt="2026-01-14T13:55:48.143" v="11594" actId="478"/>
          <ac:picMkLst>
            <pc:docMk/>
            <pc:sldMk cId="1896637959" sldId="472"/>
            <ac:picMk id="7" creationId="{B0738634-B867-84E9-969E-9EC257E859D9}"/>
          </ac:picMkLst>
        </pc:picChg>
      </pc:sldChg>
      <pc:sldChg chg="addSp delSp modSp add mod ord">
        <pc:chgData name="Marin Pellan" userId="3f7c0edb-e8ec-4a37-8825-7980f4e34b60" providerId="ADAL" clId="{8933617A-6A37-414A-8E09-9C6B98F6846B}" dt="2026-01-14T13:55:19.526" v="11556" actId="20577"/>
        <pc:sldMkLst>
          <pc:docMk/>
          <pc:sldMk cId="2338505971" sldId="473"/>
        </pc:sldMkLst>
        <pc:spChg chg="del">
          <ac:chgData name="Marin Pellan" userId="3f7c0edb-e8ec-4a37-8825-7980f4e34b60" providerId="ADAL" clId="{8933617A-6A37-414A-8E09-9C6B98F6846B}" dt="2026-01-14T13:53:59.114" v="11525" actId="478"/>
          <ac:spMkLst>
            <pc:docMk/>
            <pc:sldMk cId="2338505971" sldId="473"/>
            <ac:spMk id="5" creationId="{D00DB9E4-2C8B-B461-4D24-2F3A206340AF}"/>
          </ac:spMkLst>
        </pc:spChg>
        <pc:spChg chg="mod">
          <ac:chgData name="Marin Pellan" userId="3f7c0edb-e8ec-4a37-8825-7980f4e34b60" providerId="ADAL" clId="{8933617A-6A37-414A-8E09-9C6B98F6846B}" dt="2026-01-14T13:55:19.526" v="11556" actId="20577"/>
          <ac:spMkLst>
            <pc:docMk/>
            <pc:sldMk cId="2338505971" sldId="473"/>
            <ac:spMk id="238" creationId="{A249FF43-C811-CB33-02B3-EA49B8B00659}"/>
          </ac:spMkLst>
        </pc:spChg>
        <pc:picChg chg="add mod">
          <ac:chgData name="Marin Pellan" userId="3f7c0edb-e8ec-4a37-8825-7980f4e34b60" providerId="ADAL" clId="{8933617A-6A37-414A-8E09-9C6B98F6846B}" dt="2026-01-14T13:54:17.309" v="11534" actId="1076"/>
          <ac:picMkLst>
            <pc:docMk/>
            <pc:sldMk cId="2338505971" sldId="473"/>
            <ac:picMk id="3" creationId="{191FA77D-D0D4-522C-5751-31086EAAA33F}"/>
          </ac:picMkLst>
        </pc:picChg>
        <pc:picChg chg="del">
          <ac:chgData name="Marin Pellan" userId="3f7c0edb-e8ec-4a37-8825-7980f4e34b60" providerId="ADAL" clId="{8933617A-6A37-414A-8E09-9C6B98F6846B}" dt="2026-01-14T13:54:00.566" v="11527" actId="478"/>
          <ac:picMkLst>
            <pc:docMk/>
            <pc:sldMk cId="2338505971" sldId="473"/>
            <ac:picMk id="4" creationId="{F65EBC33-60E9-8055-A002-AE59E481DE3B}"/>
          </ac:picMkLst>
        </pc:picChg>
        <pc:picChg chg="del">
          <ac:chgData name="Marin Pellan" userId="3f7c0edb-e8ec-4a37-8825-7980f4e34b60" providerId="ADAL" clId="{8933617A-6A37-414A-8E09-9C6B98F6846B}" dt="2026-01-14T13:53:59.888" v="11526" actId="478"/>
          <ac:picMkLst>
            <pc:docMk/>
            <pc:sldMk cId="2338505971" sldId="473"/>
            <ac:picMk id="7" creationId="{4B98ECFF-3752-A7F7-09C1-77B92513AC75}"/>
          </ac:picMkLst>
        </pc:picChg>
      </pc:sldChg>
      <pc:sldChg chg="modSp add mod">
        <pc:chgData name="Marin Pellan" userId="3f7c0edb-e8ec-4a37-8825-7980f4e34b60" providerId="ADAL" clId="{8933617A-6A37-414A-8E09-9C6B98F6846B}" dt="2026-01-14T14:16:20.729" v="11712" actId="20577"/>
        <pc:sldMkLst>
          <pc:docMk/>
          <pc:sldMk cId="3691602370" sldId="474"/>
        </pc:sldMkLst>
        <pc:spChg chg="mod">
          <ac:chgData name="Marin Pellan" userId="3f7c0edb-e8ec-4a37-8825-7980f4e34b60" providerId="ADAL" clId="{8933617A-6A37-414A-8E09-9C6B98F6846B}" dt="2026-01-14T14:16:20.729" v="11712" actId="20577"/>
          <ac:spMkLst>
            <pc:docMk/>
            <pc:sldMk cId="3691602370" sldId="474"/>
            <ac:spMk id="5" creationId="{AFCC5D71-8C2A-B40F-21A3-30904A12891C}"/>
          </ac:spMkLst>
        </pc:spChg>
      </pc:sldChg>
      <pc:sldChg chg="addSp delSp modSp add mod">
        <pc:chgData name="Marin Pellan" userId="3f7c0edb-e8ec-4a37-8825-7980f4e34b60" providerId="ADAL" clId="{8933617A-6A37-414A-8E09-9C6B98F6846B}" dt="2026-01-14T16:00:57.924" v="12052" actId="20577"/>
        <pc:sldMkLst>
          <pc:docMk/>
          <pc:sldMk cId="2601806115" sldId="475"/>
        </pc:sldMkLst>
        <pc:spChg chg="add del mod">
          <ac:chgData name="Marin Pellan" userId="3f7c0edb-e8ec-4a37-8825-7980f4e34b60" providerId="ADAL" clId="{8933617A-6A37-414A-8E09-9C6B98F6846B}" dt="2026-01-14T16:00:57.924" v="12052" actId="20577"/>
          <ac:spMkLst>
            <pc:docMk/>
            <pc:sldMk cId="2601806115" sldId="475"/>
            <ac:spMk id="5" creationId="{EAA4E0D2-30A4-001B-409A-5810E609B71E}"/>
          </ac:spMkLst>
        </pc:spChg>
        <pc:spChg chg="mod">
          <ac:chgData name="Marin Pellan" userId="3f7c0edb-e8ec-4a37-8825-7980f4e34b60" providerId="ADAL" clId="{8933617A-6A37-414A-8E09-9C6B98F6846B}" dt="2026-01-14T14:34:15.916" v="11772" actId="20577"/>
          <ac:spMkLst>
            <pc:docMk/>
            <pc:sldMk cId="2601806115" sldId="475"/>
            <ac:spMk id="238" creationId="{DD560148-5C0A-532C-7CA1-A50BF5ACFA03}"/>
          </ac:spMkLst>
        </pc:spChg>
        <pc:picChg chg="del">
          <ac:chgData name="Marin Pellan" userId="3f7c0edb-e8ec-4a37-8825-7980f4e34b60" providerId="ADAL" clId="{8933617A-6A37-414A-8E09-9C6B98F6846B}" dt="2026-01-14T14:33:54.694" v="11717" actId="478"/>
          <ac:picMkLst>
            <pc:docMk/>
            <pc:sldMk cId="2601806115" sldId="475"/>
            <ac:picMk id="4" creationId="{4555D481-E919-AE37-2AD9-A2399401C854}"/>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polymtlca-my.sharepoint.com/personal/marin_pellan_polymtl_ca/Documents/POST_DOC/CODE/fasc_metal_sustainability/data/prod_vs_deman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polymtlca-my.sharepoint.com/personal/marin_pellan_polymtl_ca/Documents/POST_DOC/CODE/fasc_metal_sustainability/data/prod_vs_demand.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CCI</a:t>
            </a:r>
            <a:r>
              <a:rPr lang="fr-FR" baseline="0"/>
              <a:t> 2023 production data vs NRCan/USGS</a:t>
            </a:r>
            <a:endParaRPr lang="fr-F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bar"/>
        <c:grouping val="clustered"/>
        <c:varyColors val="0"/>
        <c:ser>
          <c:idx val="0"/>
          <c:order val="0"/>
          <c:tx>
            <c:strRef>
              <c:f>Feuil2!$B$1</c:f>
              <c:strCache>
                <c:ptCount val="1"/>
                <c:pt idx="0">
                  <c:v>CCI</c:v>
                </c:pt>
              </c:strCache>
            </c:strRef>
          </c:tx>
          <c:spPr>
            <a:solidFill>
              <a:schemeClr val="accent1"/>
            </a:solidFill>
            <a:ln>
              <a:noFill/>
            </a:ln>
            <a:effectLst/>
          </c:spPr>
          <c:invertIfNegative val="0"/>
          <c:cat>
            <c:strRef>
              <c:f>Feuil2!$A$2:$A$6</c:f>
              <c:strCache>
                <c:ptCount val="5"/>
                <c:pt idx="0">
                  <c:v>Cobalt</c:v>
                </c:pt>
                <c:pt idx="1">
                  <c:v>Copper</c:v>
                </c:pt>
                <c:pt idx="2">
                  <c:v>Graphite</c:v>
                </c:pt>
                <c:pt idx="3">
                  <c:v>Lithium</c:v>
                </c:pt>
                <c:pt idx="4">
                  <c:v>Nickel</c:v>
                </c:pt>
              </c:strCache>
            </c:strRef>
          </c:cat>
          <c:val>
            <c:numRef>
              <c:f>Feuil2!$B$2:$B$6</c:f>
              <c:numCache>
                <c:formatCode>General</c:formatCode>
                <c:ptCount val="5"/>
                <c:pt idx="0">
                  <c:v>2108.8635152974962</c:v>
                </c:pt>
                <c:pt idx="1">
                  <c:v>337237.28813559323</c:v>
                </c:pt>
                <c:pt idx="2">
                  <c:v>4200</c:v>
                </c:pt>
                <c:pt idx="3">
                  <c:v>11676.146864289502</c:v>
                </c:pt>
                <c:pt idx="4">
                  <c:v>147115.27341294783</c:v>
                </c:pt>
              </c:numCache>
            </c:numRef>
          </c:val>
          <c:extLst>
            <c:ext xmlns:c16="http://schemas.microsoft.com/office/drawing/2014/chart" uri="{C3380CC4-5D6E-409C-BE32-E72D297353CC}">
              <c16:uniqueId val="{00000000-C39E-43D6-96ED-4F7D87B040CB}"/>
            </c:ext>
          </c:extLst>
        </c:ser>
        <c:ser>
          <c:idx val="1"/>
          <c:order val="1"/>
          <c:tx>
            <c:strRef>
              <c:f>Feuil2!$C$1</c:f>
              <c:strCache>
                <c:ptCount val="1"/>
                <c:pt idx="0">
                  <c:v>Validation</c:v>
                </c:pt>
              </c:strCache>
            </c:strRef>
          </c:tx>
          <c:spPr>
            <a:solidFill>
              <a:schemeClr val="accent2"/>
            </a:solidFill>
            <a:ln>
              <a:noFill/>
            </a:ln>
            <a:effectLst/>
          </c:spPr>
          <c:invertIfNegative val="0"/>
          <c:cat>
            <c:strRef>
              <c:f>Feuil2!$A$2:$A$6</c:f>
              <c:strCache>
                <c:ptCount val="5"/>
                <c:pt idx="0">
                  <c:v>Cobalt</c:v>
                </c:pt>
                <c:pt idx="1">
                  <c:v>Copper</c:v>
                </c:pt>
                <c:pt idx="2">
                  <c:v>Graphite</c:v>
                </c:pt>
                <c:pt idx="3">
                  <c:v>Lithium</c:v>
                </c:pt>
                <c:pt idx="4">
                  <c:v>Nickel</c:v>
                </c:pt>
              </c:strCache>
            </c:strRef>
          </c:cat>
          <c:val>
            <c:numRef>
              <c:f>Feuil2!$C$2:$C$6</c:f>
              <c:numCache>
                <c:formatCode>#,##0</c:formatCode>
                <c:ptCount val="5"/>
                <c:pt idx="0">
                  <c:v>3260</c:v>
                </c:pt>
                <c:pt idx="1">
                  <c:v>484552</c:v>
                </c:pt>
                <c:pt idx="2">
                  <c:v>5470</c:v>
                </c:pt>
                <c:pt idx="3">
                  <c:v>31600</c:v>
                </c:pt>
                <c:pt idx="4">
                  <c:v>127237</c:v>
                </c:pt>
              </c:numCache>
            </c:numRef>
          </c:val>
          <c:extLst>
            <c:ext xmlns:c16="http://schemas.microsoft.com/office/drawing/2014/chart" uri="{C3380CC4-5D6E-409C-BE32-E72D297353CC}">
              <c16:uniqueId val="{00000001-C39E-43D6-96ED-4F7D87B040CB}"/>
            </c:ext>
          </c:extLst>
        </c:ser>
        <c:dLbls>
          <c:showLegendKey val="0"/>
          <c:showVal val="0"/>
          <c:showCatName val="0"/>
          <c:showSerName val="0"/>
          <c:showPercent val="0"/>
          <c:showBubbleSize val="0"/>
        </c:dLbls>
        <c:gapWidth val="182"/>
        <c:axId val="1973274208"/>
        <c:axId val="1973273248"/>
      </c:barChart>
      <c:catAx>
        <c:axId val="19732742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973273248"/>
        <c:crosses val="autoZero"/>
        <c:auto val="1"/>
        <c:lblAlgn val="ctr"/>
        <c:lblOffset val="100"/>
        <c:noMultiLvlLbl val="0"/>
      </c:catAx>
      <c:valAx>
        <c:axId val="19732732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973274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'2023_comparison'!$B$1</c:f>
              <c:strCache>
                <c:ptCount val="1"/>
                <c:pt idx="0">
                  <c:v>CCI</c:v>
                </c:pt>
              </c:strCache>
            </c:strRef>
          </c:tx>
          <c:spPr>
            <a:solidFill>
              <a:schemeClr val="accent1"/>
            </a:solidFill>
            <a:ln>
              <a:noFill/>
            </a:ln>
            <a:effectLst/>
          </c:spPr>
          <c:invertIfNegative val="0"/>
          <c:cat>
            <c:strRef>
              <c:f>'2023_comparison'!$A$2:$A$6</c:f>
              <c:strCache>
                <c:ptCount val="5"/>
                <c:pt idx="0">
                  <c:v>Cobalt</c:v>
                </c:pt>
                <c:pt idx="1">
                  <c:v>Copper</c:v>
                </c:pt>
                <c:pt idx="2">
                  <c:v>Graphite</c:v>
                </c:pt>
                <c:pt idx="3">
                  <c:v>Lithium</c:v>
                </c:pt>
                <c:pt idx="4">
                  <c:v>Nickel</c:v>
                </c:pt>
              </c:strCache>
            </c:strRef>
          </c:cat>
          <c:val>
            <c:numRef>
              <c:f>'2023_comparison'!$B$2:$B$6</c:f>
              <c:numCache>
                <c:formatCode>General</c:formatCode>
                <c:ptCount val="5"/>
                <c:pt idx="0">
                  <c:v>4796</c:v>
                </c:pt>
                <c:pt idx="1">
                  <c:v>404046</c:v>
                </c:pt>
                <c:pt idx="2">
                  <c:v>4194</c:v>
                </c:pt>
                <c:pt idx="3">
                  <c:v>16726</c:v>
                </c:pt>
                <c:pt idx="4">
                  <c:v>186813</c:v>
                </c:pt>
              </c:numCache>
            </c:numRef>
          </c:val>
          <c:extLst>
            <c:ext xmlns:c16="http://schemas.microsoft.com/office/drawing/2014/chart" uri="{C3380CC4-5D6E-409C-BE32-E72D297353CC}">
              <c16:uniqueId val="{00000000-63A6-4863-ABE1-8798316CEDC1}"/>
            </c:ext>
          </c:extLst>
        </c:ser>
        <c:ser>
          <c:idx val="1"/>
          <c:order val="1"/>
          <c:tx>
            <c:strRef>
              <c:f>'2023_comparison'!$C$1</c:f>
              <c:strCache>
                <c:ptCount val="1"/>
                <c:pt idx="0">
                  <c:v>USGS</c:v>
                </c:pt>
              </c:strCache>
            </c:strRef>
          </c:tx>
          <c:spPr>
            <a:solidFill>
              <a:schemeClr val="accent2"/>
            </a:solidFill>
            <a:ln>
              <a:noFill/>
            </a:ln>
            <a:effectLst/>
          </c:spPr>
          <c:invertIfNegative val="0"/>
          <c:cat>
            <c:strRef>
              <c:f>'2023_comparison'!$A$2:$A$6</c:f>
              <c:strCache>
                <c:ptCount val="5"/>
                <c:pt idx="0">
                  <c:v>Cobalt</c:v>
                </c:pt>
                <c:pt idx="1">
                  <c:v>Copper</c:v>
                </c:pt>
                <c:pt idx="2">
                  <c:v>Graphite</c:v>
                </c:pt>
                <c:pt idx="3">
                  <c:v>Lithium</c:v>
                </c:pt>
                <c:pt idx="4">
                  <c:v>Nickel</c:v>
                </c:pt>
              </c:strCache>
            </c:strRef>
          </c:cat>
          <c:val>
            <c:numRef>
              <c:f>'2023_comparison'!$C$2:$C$6</c:f>
              <c:numCache>
                <c:formatCode>General</c:formatCode>
                <c:ptCount val="5"/>
                <c:pt idx="0">
                  <c:v>4220</c:v>
                </c:pt>
                <c:pt idx="1">
                  <c:v>500000</c:v>
                </c:pt>
                <c:pt idx="2">
                  <c:v>5470</c:v>
                </c:pt>
                <c:pt idx="3">
                  <c:v>3240</c:v>
                </c:pt>
                <c:pt idx="4">
                  <c:v>159000</c:v>
                </c:pt>
              </c:numCache>
            </c:numRef>
          </c:val>
          <c:extLst>
            <c:ext xmlns:c16="http://schemas.microsoft.com/office/drawing/2014/chart" uri="{C3380CC4-5D6E-409C-BE32-E72D297353CC}">
              <c16:uniqueId val="{00000001-63A6-4863-ABE1-8798316CEDC1}"/>
            </c:ext>
          </c:extLst>
        </c:ser>
        <c:ser>
          <c:idx val="2"/>
          <c:order val="2"/>
          <c:tx>
            <c:strRef>
              <c:f>'2023_comparison'!$D$1</c:f>
              <c:strCache>
                <c:ptCount val="1"/>
                <c:pt idx="0">
                  <c:v>BGS</c:v>
                </c:pt>
              </c:strCache>
            </c:strRef>
          </c:tx>
          <c:spPr>
            <a:solidFill>
              <a:schemeClr val="accent3"/>
            </a:solidFill>
            <a:ln>
              <a:noFill/>
            </a:ln>
            <a:effectLst/>
          </c:spPr>
          <c:invertIfNegative val="0"/>
          <c:cat>
            <c:strRef>
              <c:f>'2023_comparison'!$A$2:$A$6</c:f>
              <c:strCache>
                <c:ptCount val="5"/>
                <c:pt idx="0">
                  <c:v>Cobalt</c:v>
                </c:pt>
                <c:pt idx="1">
                  <c:v>Copper</c:v>
                </c:pt>
                <c:pt idx="2">
                  <c:v>Graphite</c:v>
                </c:pt>
                <c:pt idx="3">
                  <c:v>Lithium</c:v>
                </c:pt>
                <c:pt idx="4">
                  <c:v>Nickel</c:v>
                </c:pt>
              </c:strCache>
            </c:strRef>
          </c:cat>
          <c:val>
            <c:numRef>
              <c:f>'2023_comparison'!$D$2:$D$6</c:f>
              <c:numCache>
                <c:formatCode>General</c:formatCode>
                <c:ptCount val="5"/>
                <c:pt idx="0">
                  <c:v>5099</c:v>
                </c:pt>
                <c:pt idx="1">
                  <c:v>499791</c:v>
                </c:pt>
                <c:pt idx="2">
                  <c:v>5800</c:v>
                </c:pt>
                <c:pt idx="3">
                  <c:v>6000</c:v>
                </c:pt>
                <c:pt idx="4">
                  <c:v>158668</c:v>
                </c:pt>
              </c:numCache>
            </c:numRef>
          </c:val>
          <c:extLst>
            <c:ext xmlns:c16="http://schemas.microsoft.com/office/drawing/2014/chart" uri="{C3380CC4-5D6E-409C-BE32-E72D297353CC}">
              <c16:uniqueId val="{00000002-63A6-4863-ABE1-8798316CEDC1}"/>
            </c:ext>
          </c:extLst>
        </c:ser>
        <c:ser>
          <c:idx val="3"/>
          <c:order val="3"/>
          <c:tx>
            <c:strRef>
              <c:f>'2023_comparison'!$E$1</c:f>
              <c:strCache>
                <c:ptCount val="1"/>
                <c:pt idx="0">
                  <c:v>StatCan</c:v>
                </c:pt>
              </c:strCache>
            </c:strRef>
          </c:tx>
          <c:spPr>
            <a:solidFill>
              <a:schemeClr val="accent4"/>
            </a:solidFill>
            <a:ln>
              <a:noFill/>
            </a:ln>
            <a:effectLst/>
          </c:spPr>
          <c:invertIfNegative val="0"/>
          <c:cat>
            <c:strRef>
              <c:f>'2023_comparison'!$A$2:$A$6</c:f>
              <c:strCache>
                <c:ptCount val="5"/>
                <c:pt idx="0">
                  <c:v>Cobalt</c:v>
                </c:pt>
                <c:pt idx="1">
                  <c:v>Copper</c:v>
                </c:pt>
                <c:pt idx="2">
                  <c:v>Graphite</c:v>
                </c:pt>
                <c:pt idx="3">
                  <c:v>Lithium</c:v>
                </c:pt>
                <c:pt idx="4">
                  <c:v>Nickel</c:v>
                </c:pt>
              </c:strCache>
            </c:strRef>
          </c:cat>
          <c:val>
            <c:numRef>
              <c:f>'2023_comparison'!$E$2:$E$6</c:f>
              <c:numCache>
                <c:formatCode>#,##0</c:formatCode>
                <c:ptCount val="5"/>
                <c:pt idx="0">
                  <c:v>3260</c:v>
                </c:pt>
                <c:pt idx="1">
                  <c:v>484552</c:v>
                </c:pt>
                <c:pt idx="3">
                  <c:v>31600</c:v>
                </c:pt>
                <c:pt idx="4">
                  <c:v>127237</c:v>
                </c:pt>
              </c:numCache>
            </c:numRef>
          </c:val>
          <c:extLst>
            <c:ext xmlns:c16="http://schemas.microsoft.com/office/drawing/2014/chart" uri="{C3380CC4-5D6E-409C-BE32-E72D297353CC}">
              <c16:uniqueId val="{00000003-63A6-4863-ABE1-8798316CEDC1}"/>
            </c:ext>
          </c:extLst>
        </c:ser>
        <c:dLbls>
          <c:showLegendKey val="0"/>
          <c:showVal val="0"/>
          <c:showCatName val="0"/>
          <c:showSerName val="0"/>
          <c:showPercent val="0"/>
          <c:showBubbleSize val="0"/>
        </c:dLbls>
        <c:gapWidth val="182"/>
        <c:axId val="413548223"/>
        <c:axId val="413525183"/>
      </c:barChart>
      <c:catAx>
        <c:axId val="4135482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fr-FR"/>
          </a:p>
        </c:txPr>
        <c:crossAx val="413525183"/>
        <c:crosses val="autoZero"/>
        <c:auto val="1"/>
        <c:lblAlgn val="ctr"/>
        <c:lblOffset val="100"/>
        <c:noMultiLvlLbl val="0"/>
      </c:catAx>
      <c:valAx>
        <c:axId val="41352518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fr-FR"/>
          </a:p>
        </c:txPr>
        <c:crossAx val="413548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532139-41F1-E2AB-9448-73D4C50EE3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6AD0F9E-2223-7F7B-3F29-7C4D41A7586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5AE24E-2ABE-4BC6-8558-918A04FCA36A}" type="datetimeFigureOut">
              <a:rPr lang="en-US" smtClean="0"/>
              <a:t>1/14/2026</a:t>
            </a:fld>
            <a:endParaRPr lang="en-US"/>
          </a:p>
        </p:txBody>
      </p:sp>
      <p:sp>
        <p:nvSpPr>
          <p:cNvPr id="4" name="Footer Placeholder 3">
            <a:extLst>
              <a:ext uri="{FF2B5EF4-FFF2-40B4-BE49-F238E27FC236}">
                <a16:creationId xmlns:a16="http://schemas.microsoft.com/office/drawing/2014/main" id="{29AF9D89-EA01-C8B9-97F9-E20ADFF9D9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06412A2-0177-3583-066A-0C781BA457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8173D9-AF91-46E5-9AF8-B68AEE333819}" type="slidenum">
              <a:rPr lang="en-US" smtClean="0"/>
              <a:t>‹N°›</a:t>
            </a:fld>
            <a:endParaRPr lang="en-US"/>
          </a:p>
        </p:txBody>
      </p:sp>
    </p:spTree>
    <p:extLst>
      <p:ext uri="{BB962C8B-B14F-4D97-AF65-F5344CB8AC3E}">
        <p14:creationId xmlns:p14="http://schemas.microsoft.com/office/powerpoint/2010/main" val="19199976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C1E67-DA38-4FDD-93A2-D8DCE29B4490}"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836CAE-2C39-4B7D-85D1-BB8F88FEEF00}" type="slidenum">
              <a:rPr lang="en-US" smtClean="0"/>
              <a:t>‹N°›</a:t>
            </a:fld>
            <a:endParaRPr lang="en-US"/>
          </a:p>
        </p:txBody>
      </p:sp>
    </p:spTree>
    <p:extLst>
      <p:ext uri="{BB962C8B-B14F-4D97-AF65-F5344CB8AC3E}">
        <p14:creationId xmlns:p14="http://schemas.microsoft.com/office/powerpoint/2010/main" val="27832926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7685195-71E0-CEA9-6DB0-C3738A2C78C8}"/>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5E965268-33C8-9D28-746B-12C578E14B4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04FA9CA0-1F3E-CC79-9F1E-5A0E7B552C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6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278CB6F-F4CD-FCCD-E03C-D935D7FBE4CF}"/>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37412640-98F7-2890-D7AA-76A499E5C5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17D86735-FD3E-7AF3-BCAA-71ACB258F3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8251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5C0A93A0-D998-488A-2BA8-EB4505E51BFE}"/>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F7E61CDE-8EDF-C773-074E-94FEA17BB8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For "production potential", we gathered production forecasts from mines at the feasibility, preproduction, or production stage (which we've internally referred to as the Post Feasibility Production Pathway). We also took the ratio of market-share-to-reserves of leading critical mineral producing countries, applied it to Canada's reserves, then applied the market share to 2040 demand in the IEA APS pathway, and finally backfilled from 2040 to 2022 using an exponential growth function (which we've referred to as the Leading Market Share Production Pathway). The "production potential" is whichever was higher in that year - generally the Post Feasibility Production Pathway potentials were higher in the first few years, and the Leading Market Share Production Pathway potentials were higher in later years.</a:t>
            </a:r>
            <a:endParaRPr dirty="0"/>
          </a:p>
        </p:txBody>
      </p:sp>
      <p:sp>
        <p:nvSpPr>
          <p:cNvPr id="235" name="Google Shape;235;p13:notes">
            <a:extLst>
              <a:ext uri="{FF2B5EF4-FFF2-40B4-BE49-F238E27FC236}">
                <a16:creationId xmlns:a16="http://schemas.microsoft.com/office/drawing/2014/main" id="{947F0E38-E1ED-BF9E-8E70-112CBC246B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5740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BF4AF3D-2C57-1C60-A3CE-3FE5E03DB9DB}"/>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FB3E1F12-8850-2F7E-62EB-45159530E7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308EA901-66C3-50AC-E325-86422EB9C1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6568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FA42C9A-448D-CBD1-D775-125124BA5FCF}"/>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877CFA27-5D72-248D-3D4F-013BDA54D08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A1FC7437-0DD3-BF69-E510-D86453F2D9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657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704FC107-6B46-A400-2EA6-DBFCCF86F7ED}"/>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1F8E7EB6-DDA9-65D0-E133-4D0736F06F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88BD4E8E-0EBE-6059-9079-C31A68C8E8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5468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9C1632F7-8A1B-DC8E-52CB-0C025F9929FC}"/>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A252E228-E220-47B1-832F-AF875F7A16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C0F416F0-821D-7679-EE5E-9BF66B94B2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9134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F30A076B-0536-BADF-EB46-61C424E3E331}"/>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EF3BBDD8-76CA-54C4-BE31-16EF477AD3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C920A2A6-C8EF-8222-1F51-20956B193D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2630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42B9B59-A08D-A362-F285-6D7CE5815139}"/>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4AB9EEDE-275A-FEFB-BBA3-27BC6CC1AD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EF7096E8-803E-D626-AAE8-36FDE15214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3497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56AE646-FF5D-E829-88EB-81D3F9DDAE47}"/>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3577612F-E9E2-7E6F-87A7-E222EDD2A4E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F385B6BE-4897-A24C-9DA5-5C0E510E57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181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B2B2929E-2385-5E77-D5E6-7E64BB663219}"/>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7F0BFB81-C124-3824-F8E9-86B29044B7B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1B264A0E-2C14-6B9D-23BB-2619D8D3AB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3162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A36389C-94B0-BB1F-455F-0EB77B4FF11B}"/>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600A726F-CE71-4231-6B16-536DB93D32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FE70210A-3BC4-60CE-107B-41C2F4CE5E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0730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9A479994-39CF-711B-31F0-4020A9C75334}"/>
            </a:ext>
          </a:extLst>
        </p:cNvPr>
        <p:cNvGrpSpPr/>
        <p:nvPr/>
      </p:nvGrpSpPr>
      <p:grpSpPr>
        <a:xfrm>
          <a:off x="0" y="0"/>
          <a:ext cx="0" cy="0"/>
          <a:chOff x="0" y="0"/>
          <a:chExt cx="0" cy="0"/>
        </a:xfrm>
      </p:grpSpPr>
      <p:sp>
        <p:nvSpPr>
          <p:cNvPr id="186" name="Google Shape;186;p6:notes">
            <a:extLst>
              <a:ext uri="{FF2B5EF4-FFF2-40B4-BE49-F238E27FC236}">
                <a16:creationId xmlns:a16="http://schemas.microsoft.com/office/drawing/2014/main" id="{85601361-F6BF-D447-D577-CA37EA2F96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i="0" dirty="0"/>
          </a:p>
        </p:txBody>
      </p:sp>
      <p:sp>
        <p:nvSpPr>
          <p:cNvPr id="187" name="Google Shape;187;p6:notes">
            <a:extLst>
              <a:ext uri="{FF2B5EF4-FFF2-40B4-BE49-F238E27FC236}">
                <a16:creationId xmlns:a16="http://schemas.microsoft.com/office/drawing/2014/main" id="{A39943A6-91FA-778B-1D53-EA78803F31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4441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0FC4DF9C-AF35-A8DE-150D-072F97FB6210}"/>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61426D3B-A110-B7FD-6A20-97AC7270D7B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D20300EA-7EBA-6DFA-3A4E-DA563FD851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20756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C0A49A6F-30F6-A7AA-7A2B-78D1D90B77A9}"/>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0E5FFB46-F461-F67B-659E-23B439E491B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21EADF22-3738-D440-0010-5DF6074E43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1939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86FDF489-2ED8-271A-9A50-6836DAD2223C}"/>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D4311608-DEB6-69F8-9830-921094514A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9D1BD2DB-C7AD-A340-F3AF-11B2707776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69251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7EF2A92-E984-0DA8-A832-F6862ECFE310}"/>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8A7DD2A3-D9E6-C835-78AA-20A5BEFD0B7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870FD4B6-560A-3322-92A0-8533FDF50B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580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FCF05BA7-D19F-E7D0-CE1B-57FE7DD10984}"/>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A48A7775-920A-FB79-AAB6-11586AB21EA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53D2528A-B698-FD0D-375E-56B6837074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4128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BCC0288-8EC4-1BFD-0DE0-5B69216E23CB}"/>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899FA432-9FB6-80E4-56E0-648908BD0CD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b="0" dirty="0"/>
          </a:p>
        </p:txBody>
      </p:sp>
      <p:sp>
        <p:nvSpPr>
          <p:cNvPr id="235" name="Google Shape;235;p13:notes">
            <a:extLst>
              <a:ext uri="{FF2B5EF4-FFF2-40B4-BE49-F238E27FC236}">
                <a16:creationId xmlns:a16="http://schemas.microsoft.com/office/drawing/2014/main" id="{FB40C271-A826-B1CD-22DC-365FB562EE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5856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2CDBE111-13B7-A832-E5CA-D377065C7150}"/>
            </a:ext>
          </a:extLst>
        </p:cNvPr>
        <p:cNvGrpSpPr/>
        <p:nvPr/>
      </p:nvGrpSpPr>
      <p:grpSpPr>
        <a:xfrm>
          <a:off x="0" y="0"/>
          <a:ext cx="0" cy="0"/>
          <a:chOff x="0" y="0"/>
          <a:chExt cx="0" cy="0"/>
        </a:xfrm>
      </p:grpSpPr>
      <p:sp>
        <p:nvSpPr>
          <p:cNvPr id="186" name="Google Shape;186;p6:notes">
            <a:extLst>
              <a:ext uri="{FF2B5EF4-FFF2-40B4-BE49-F238E27FC236}">
                <a16:creationId xmlns:a16="http://schemas.microsoft.com/office/drawing/2014/main" id="{AAFF3CD1-B817-7075-2001-4A06A1A3A0D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i="0" dirty="0"/>
          </a:p>
        </p:txBody>
      </p:sp>
      <p:sp>
        <p:nvSpPr>
          <p:cNvPr id="187" name="Google Shape;187;p6:notes">
            <a:extLst>
              <a:ext uri="{FF2B5EF4-FFF2-40B4-BE49-F238E27FC236}">
                <a16:creationId xmlns:a16="http://schemas.microsoft.com/office/drawing/2014/main" id="{81D856FD-3677-8994-F353-EFCD6603A1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94615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21AF17B-5ECE-4A38-209D-855EE07ECA42}"/>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3D438297-ACB4-3D21-BEED-DC6FF29052E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569A076C-3EEF-97A2-D25B-61D90FF0A4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0230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E1E1B97C-98D5-5D7E-2DB5-2A7D32B63824}"/>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4F423A18-2B3B-8D16-01BA-268642E38CD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A4A1E96B-E359-DCF3-1765-4997BB986C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6474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C5DBC1D-6421-E0F8-9A1E-E1DCC2EA018A}"/>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A949BA30-FF76-5619-EAA8-513FB223BE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4345BA56-2FA0-7276-5BA2-B8C0F6F278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70288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24C8911C-C105-58C3-9481-31FD762DD6CD}"/>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0C3C7ED8-6ADD-22CD-DD2A-B3445470B9D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DD0706E3-5928-D825-4925-6254884C4B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28459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918B6C34-342F-FBF9-DA8D-02CB2E076E5D}"/>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8910B3DE-9EE3-5EF7-87A2-4DCBE22053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79B8CE50-8899-B7B1-8A2E-68C364660A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729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6E90D2B9-D88B-FC2E-39D6-939DB71D7FCE}"/>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E6B068F8-6F20-6B3A-8758-CE7F339DB3B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A19803E4-B293-0C18-4B28-FB56A581AB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35420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72DD5057-BF0F-7615-1B6D-B109708D78FC}"/>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1959D6D6-6BDF-2722-9C40-1A6FAC5280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7E94C33A-2444-B85C-6271-ADA8738B5B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38569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19FA3FC-E002-D5BE-B8EE-1AD573137F82}"/>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E6118F5E-223D-07D1-16E6-DDAF1C7E1B3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4B61F907-8C97-1965-67B9-C262F942DD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44659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0F30B4A2-004E-283F-6678-004A3B63D402}"/>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5D1D40F9-8EEE-8460-EFE2-C000A9B502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17788F5E-2561-47C3-DF19-A18AE9D4788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22996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46F96F7F-9FC7-D2E2-F03A-0F5A0BAFDC39}"/>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FC20CF9A-62D8-2791-BA12-61CE845F467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B43B703E-D9D2-8C62-6768-36B7E90F8D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3851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95890333-6DB1-94DA-7F18-0CA18CE60C21}"/>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2ECD2205-C92E-3304-3AA6-ED3B3D873B8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07A78A5C-D26D-04FE-5FF9-58851F2A20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57770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38B7DD7-089F-D5FC-C75D-CF74183C4A45}"/>
            </a:ext>
          </a:extLst>
        </p:cNvPr>
        <p:cNvGrpSpPr/>
        <p:nvPr/>
      </p:nvGrpSpPr>
      <p:grpSpPr>
        <a:xfrm>
          <a:off x="0" y="0"/>
          <a:ext cx="0" cy="0"/>
          <a:chOff x="0" y="0"/>
          <a:chExt cx="0" cy="0"/>
        </a:xfrm>
      </p:grpSpPr>
      <p:sp>
        <p:nvSpPr>
          <p:cNvPr id="234" name="Google Shape;234;p13:notes">
            <a:extLst>
              <a:ext uri="{FF2B5EF4-FFF2-40B4-BE49-F238E27FC236}">
                <a16:creationId xmlns:a16="http://schemas.microsoft.com/office/drawing/2014/main" id="{40E25BAB-6FC7-A293-BDCD-9EDE62E2D5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p13:notes">
            <a:extLst>
              <a:ext uri="{FF2B5EF4-FFF2-40B4-BE49-F238E27FC236}">
                <a16:creationId xmlns:a16="http://schemas.microsoft.com/office/drawing/2014/main" id="{E0B12F6F-EEB1-88BF-07A9-D3778F3B26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8405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5.jp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A building with columns and a fence&#10;&#10;AI-generated content may be incorrect.">
            <a:extLst>
              <a:ext uri="{FF2B5EF4-FFF2-40B4-BE49-F238E27FC236}">
                <a16:creationId xmlns:a16="http://schemas.microsoft.com/office/drawing/2014/main" id="{9CCA15B1-E589-81BB-4CA9-685BDE2C83A3}"/>
              </a:ext>
            </a:extLst>
          </p:cNvPr>
          <p:cNvPicPr>
            <a:picLocks noChangeAspect="1"/>
          </p:cNvPicPr>
          <p:nvPr userDrawn="1"/>
        </p:nvPicPr>
        <p:blipFill>
          <a:blip r:embed="rId2">
            <a:extLst>
              <a:ext uri="{28A0092B-C50C-407E-A947-70E740481C1C}">
                <a14:useLocalDpi xmlns:a14="http://schemas.microsoft.com/office/drawing/2010/main" val="0"/>
              </a:ext>
            </a:extLst>
          </a:blip>
          <a:srcRect b="12736"/>
          <a:stretch>
            <a:fillRect/>
          </a:stretch>
        </p:blipFill>
        <p:spPr>
          <a:xfrm>
            <a:off x="4230" y="0"/>
            <a:ext cx="12187770" cy="5986647"/>
          </a:xfrm>
          <a:prstGeom prst="rect">
            <a:avLst/>
          </a:prstGeom>
        </p:spPr>
      </p:pic>
      <p:sp>
        <p:nvSpPr>
          <p:cNvPr id="12" name="Rectangle 11">
            <a:extLst>
              <a:ext uri="{FF2B5EF4-FFF2-40B4-BE49-F238E27FC236}">
                <a16:creationId xmlns:a16="http://schemas.microsoft.com/office/drawing/2014/main" id="{5CD55B5B-2F69-6712-6D80-2D6AB843D371}"/>
              </a:ext>
            </a:extLst>
          </p:cNvPr>
          <p:cNvSpPr/>
          <p:nvPr userDrawn="1"/>
        </p:nvSpPr>
        <p:spPr>
          <a:xfrm>
            <a:off x="0" y="5935579"/>
            <a:ext cx="12192000" cy="9224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2">
            <a:extLst>
              <a:ext uri="{FF2B5EF4-FFF2-40B4-BE49-F238E27FC236}">
                <a16:creationId xmlns:a16="http://schemas.microsoft.com/office/drawing/2014/main" id="{888C6E0F-E5B0-A747-168B-63CF7748A35C}"/>
              </a:ext>
            </a:extLst>
          </p:cNvPr>
          <p:cNvSpPr txBox="1">
            <a:spLocks noChangeArrowheads="1"/>
          </p:cNvSpPr>
          <p:nvPr userDrawn="1"/>
        </p:nvSpPr>
        <p:spPr bwMode="auto">
          <a:xfrm>
            <a:off x="938834" y="5184608"/>
            <a:ext cx="10178747" cy="750971"/>
          </a:xfrm>
          <a:prstGeom prst="rect">
            <a:avLst/>
          </a:prstGeom>
          <a:solidFill>
            <a:schemeClr val="bg1">
              <a:lumMod val="95000"/>
              <a:alpha val="90000"/>
            </a:schemeClr>
          </a:solidFill>
          <a:ln w="9525">
            <a:noFill/>
            <a:miter lim="800000"/>
            <a:headEnd/>
            <a:tailEnd/>
          </a:ln>
        </p:spPr>
        <p:txBody>
          <a:bodyPr rot="0" vert="horz" wrap="square" lIns="68571" tIns="34286" rIns="68571" bIns="34286" anchor="t" anchorCtr="0">
            <a:noAutofit/>
          </a:bodyPr>
          <a:lstStyle/>
          <a:p>
            <a:pPr algn="ctr" defTabSz="685732">
              <a:lnSpc>
                <a:spcPct val="107000"/>
              </a:lnSpc>
            </a:pPr>
            <a:r>
              <a:rPr lang="en-US" sz="2000" dirty="0">
                <a:solidFill>
                  <a:srgbClr val="2F5496"/>
                </a:solidFill>
                <a:latin typeface="Arial" panose="020B0604020202020204" pitchFamily="34" charset="0"/>
                <a:ea typeface="Calibri" panose="020F0502020204030204" pitchFamily="34" charset="0"/>
                <a:cs typeface="Arial" panose="020B0604020202020204" pitchFamily="34" charset="0"/>
              </a:rPr>
              <a:t>The 12</a:t>
            </a:r>
            <a:r>
              <a:rPr lang="en-US" sz="2000" baseline="30000" dirty="0">
                <a:solidFill>
                  <a:srgbClr val="2F5496"/>
                </a:solidFill>
                <a:latin typeface="Arial" panose="020B0604020202020204" pitchFamily="34" charset="0"/>
                <a:ea typeface="Calibri" panose="020F0502020204030204" pitchFamily="34" charset="0"/>
                <a:cs typeface="Arial" panose="020B0604020202020204" pitchFamily="34" charset="0"/>
              </a:rPr>
              <a:t>th</a:t>
            </a:r>
            <a:r>
              <a:rPr lang="en-US" sz="2000" dirty="0">
                <a:solidFill>
                  <a:srgbClr val="2F5496"/>
                </a:solidFill>
                <a:latin typeface="Arial" panose="020B0604020202020204" pitchFamily="34" charset="0"/>
                <a:ea typeface="Calibri" panose="020F0502020204030204" pitchFamily="34" charset="0"/>
                <a:cs typeface="Arial" panose="020B0604020202020204" pitchFamily="34" charset="0"/>
              </a:rPr>
              <a:t> International Conference on Life Cycle Management</a:t>
            </a:r>
            <a:endParaRPr lang="en-DE" sz="2000" dirty="0">
              <a:latin typeface="Arial" panose="020B0604020202020204" pitchFamily="34" charset="0"/>
              <a:ea typeface="Calibri" panose="020F0502020204030204" pitchFamily="34" charset="0"/>
              <a:cs typeface="Arial" panose="020B0604020202020204" pitchFamily="34" charset="0"/>
            </a:endParaRPr>
          </a:p>
          <a:p>
            <a:pPr algn="ctr" defTabSz="685732">
              <a:lnSpc>
                <a:spcPct val="107000"/>
              </a:lnSpc>
            </a:pPr>
            <a:r>
              <a:rPr lang="en-US" sz="2000" b="1" dirty="0">
                <a:solidFill>
                  <a:srgbClr val="1F3864"/>
                </a:solidFill>
                <a:latin typeface="Arial" panose="020B0604020202020204" pitchFamily="34" charset="0"/>
                <a:ea typeface="Calibri" panose="020F0502020204030204" pitchFamily="34" charset="0"/>
                <a:cs typeface="Arial" panose="020B0604020202020204" pitchFamily="34" charset="0"/>
              </a:rPr>
              <a:t>9 -12 September 2025, Palermo, Italy</a:t>
            </a:r>
            <a:endParaRPr lang="en-DE" sz="2000" b="1" dirty="0">
              <a:latin typeface="Arial" panose="020B0604020202020204" pitchFamily="34" charset="0"/>
              <a:ea typeface="Calibri" panose="020F0502020204030204" pitchFamily="34" charset="0"/>
              <a:cs typeface="Arial" panose="020B0604020202020204" pitchFamily="34" charset="0"/>
            </a:endParaRPr>
          </a:p>
        </p:txBody>
      </p:sp>
      <p:pic>
        <p:nvPicPr>
          <p:cNvPr id="19" name="Picture 18" descr="A circle of colorful circles&#10;&#10;AI-generated content may be incorrect.">
            <a:extLst>
              <a:ext uri="{FF2B5EF4-FFF2-40B4-BE49-F238E27FC236}">
                <a16:creationId xmlns:a16="http://schemas.microsoft.com/office/drawing/2014/main" id="{37F6DA41-55FB-4A74-6331-CA0E97D42FF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29692" y="4320433"/>
            <a:ext cx="647019" cy="645463"/>
          </a:xfrm>
          <a:prstGeom prst="rect">
            <a:avLst/>
          </a:prstGeom>
        </p:spPr>
      </p:pic>
      <p:pic>
        <p:nvPicPr>
          <p:cNvPr id="2" name="Picture 1">
            <a:extLst>
              <a:ext uri="{FF2B5EF4-FFF2-40B4-BE49-F238E27FC236}">
                <a16:creationId xmlns:a16="http://schemas.microsoft.com/office/drawing/2014/main" id="{CC3C6F6C-264B-6A45-D221-CAE0170F6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43011" y="6171136"/>
            <a:ext cx="4547937" cy="399854"/>
          </a:xfrm>
          <a:prstGeom prst="rect">
            <a:avLst/>
          </a:prstGeom>
        </p:spPr>
      </p:pic>
    </p:spTree>
    <p:extLst>
      <p:ext uri="{BB962C8B-B14F-4D97-AF65-F5344CB8AC3E}">
        <p14:creationId xmlns:p14="http://schemas.microsoft.com/office/powerpoint/2010/main" val="4202822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F712C42-4B9C-9273-12FF-CF46D9F5A630}"/>
              </a:ext>
            </a:extLst>
          </p:cNvPr>
          <p:cNvCxnSpPr/>
          <p:nvPr userDrawn="1"/>
        </p:nvCxnSpPr>
        <p:spPr>
          <a:xfrm>
            <a:off x="164892" y="5752759"/>
            <a:ext cx="11757284" cy="0"/>
          </a:xfrm>
          <a:prstGeom prst="line">
            <a:avLst/>
          </a:prstGeom>
          <a:ln>
            <a:solidFill>
              <a:srgbClr val="0556A2"/>
            </a:solidFill>
          </a:ln>
        </p:spPr>
        <p:style>
          <a:lnRef idx="2">
            <a:schemeClr val="accent1"/>
          </a:lnRef>
          <a:fillRef idx="0">
            <a:schemeClr val="accent1"/>
          </a:fillRef>
          <a:effectRef idx="1">
            <a:schemeClr val="accent1"/>
          </a:effectRef>
          <a:fontRef idx="minor">
            <a:schemeClr val="tx1"/>
          </a:fontRef>
        </p:style>
      </p:cxnSp>
      <p:pic>
        <p:nvPicPr>
          <p:cNvPr id="3" name="Picture 2" descr="A blue text on a black background&#10;&#10;AI-generated content may be incorrect.">
            <a:extLst>
              <a:ext uri="{FF2B5EF4-FFF2-40B4-BE49-F238E27FC236}">
                <a16:creationId xmlns:a16="http://schemas.microsoft.com/office/drawing/2014/main" id="{AAE4D448-D7AB-0386-1294-F53B434518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95165" y="5829521"/>
            <a:ext cx="1780031" cy="595796"/>
          </a:xfrm>
          <a:prstGeom prst="rect">
            <a:avLst/>
          </a:prstGeom>
        </p:spPr>
      </p:pic>
      <p:pic>
        <p:nvPicPr>
          <p:cNvPr id="5" name="Picture 4" descr="A blue logo with a leaf&#10;&#10;AI-generated content may be incorrect.">
            <a:extLst>
              <a:ext uri="{FF2B5EF4-FFF2-40B4-BE49-F238E27FC236}">
                <a16:creationId xmlns:a16="http://schemas.microsoft.com/office/drawing/2014/main" id="{D53685A7-BE80-1689-8019-4D5C1B8C1B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723254" y="5799887"/>
            <a:ext cx="885813" cy="625433"/>
          </a:xfrm>
          <a:prstGeom prst="rect">
            <a:avLst/>
          </a:prstGeom>
        </p:spPr>
      </p:pic>
      <p:pic>
        <p:nvPicPr>
          <p:cNvPr id="14" name="Picture 13" descr="A black background with a black square&#10;&#10;AI-generated content may be incorrect.">
            <a:extLst>
              <a:ext uri="{FF2B5EF4-FFF2-40B4-BE49-F238E27FC236}">
                <a16:creationId xmlns:a16="http://schemas.microsoft.com/office/drawing/2014/main" id="{E751B7AE-A573-B5A8-4C5D-DF5D62B4ADB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78962" y="6528836"/>
            <a:ext cx="979292" cy="160665"/>
          </a:xfrm>
          <a:prstGeom prst="rect">
            <a:avLst/>
          </a:prstGeom>
        </p:spPr>
      </p:pic>
      <p:pic>
        <p:nvPicPr>
          <p:cNvPr id="16" name="Picture 15" descr="A blue letter on a black background&#10;&#10;AI-generated content may be incorrect.">
            <a:extLst>
              <a:ext uri="{FF2B5EF4-FFF2-40B4-BE49-F238E27FC236}">
                <a16:creationId xmlns:a16="http://schemas.microsoft.com/office/drawing/2014/main" id="{ADD76599-5E78-AAF0-CBBA-846ED2DF6D8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151450" y="6474073"/>
            <a:ext cx="896165" cy="219374"/>
          </a:xfrm>
          <a:prstGeom prst="rect">
            <a:avLst/>
          </a:prstGeom>
        </p:spPr>
      </p:pic>
      <p:pic>
        <p:nvPicPr>
          <p:cNvPr id="6" name="Picture 5">
            <a:extLst>
              <a:ext uri="{FF2B5EF4-FFF2-40B4-BE49-F238E27FC236}">
                <a16:creationId xmlns:a16="http://schemas.microsoft.com/office/drawing/2014/main" id="{A17B3280-D881-2D10-1174-AC70BD61F59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06392" y="5902718"/>
            <a:ext cx="5744283" cy="505037"/>
          </a:xfrm>
          <a:prstGeom prst="rect">
            <a:avLst/>
          </a:prstGeom>
        </p:spPr>
      </p:pic>
      <p:pic>
        <p:nvPicPr>
          <p:cNvPr id="1026" name="Picture 2" descr="LCM2025_vert.png">
            <a:extLst>
              <a:ext uri="{FF2B5EF4-FFF2-40B4-BE49-F238E27FC236}">
                <a16:creationId xmlns:a16="http://schemas.microsoft.com/office/drawing/2014/main" id="{589578C8-2AD0-46E9-8359-57C3AC1F0F68}"/>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2703" y="-1"/>
            <a:ext cx="1124330" cy="15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6396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BF93AEB-E336-A84D-0C85-5E4E3BC58E60}"/>
              </a:ext>
            </a:extLst>
          </p:cNvPr>
          <p:cNvCxnSpPr/>
          <p:nvPr userDrawn="1"/>
        </p:nvCxnSpPr>
        <p:spPr>
          <a:xfrm>
            <a:off x="164892" y="6099131"/>
            <a:ext cx="11757284" cy="0"/>
          </a:xfrm>
          <a:prstGeom prst="line">
            <a:avLst/>
          </a:prstGeom>
          <a:ln>
            <a:solidFill>
              <a:srgbClr val="0556A2"/>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09FD241-6EE9-9412-F209-53A3BF932256}"/>
              </a:ext>
            </a:extLst>
          </p:cNvPr>
          <p:cNvCxnSpPr/>
          <p:nvPr userDrawn="1"/>
        </p:nvCxnSpPr>
        <p:spPr>
          <a:xfrm flipH="1">
            <a:off x="1149927" y="1288473"/>
            <a:ext cx="9088582" cy="0"/>
          </a:xfrm>
          <a:prstGeom prst="line">
            <a:avLst/>
          </a:prstGeom>
          <a:ln>
            <a:solidFill>
              <a:srgbClr val="105CA0"/>
            </a:solidFill>
          </a:ln>
        </p:spPr>
        <p:style>
          <a:lnRef idx="2">
            <a:schemeClr val="accent1"/>
          </a:lnRef>
          <a:fillRef idx="0">
            <a:schemeClr val="accent1"/>
          </a:fillRef>
          <a:effectRef idx="1">
            <a:schemeClr val="accent1"/>
          </a:effectRef>
          <a:fontRef idx="minor">
            <a:schemeClr val="tx1"/>
          </a:fontRef>
        </p:style>
      </p:cxnSp>
      <p:sp>
        <p:nvSpPr>
          <p:cNvPr id="19" name="Title 1">
            <a:extLst>
              <a:ext uri="{FF2B5EF4-FFF2-40B4-BE49-F238E27FC236}">
                <a16:creationId xmlns:a16="http://schemas.microsoft.com/office/drawing/2014/main" id="{ECA610B5-56DA-AC6F-5307-E6CB35049689}"/>
              </a:ext>
            </a:extLst>
          </p:cNvPr>
          <p:cNvSpPr>
            <a:spLocks noGrp="1"/>
          </p:cNvSpPr>
          <p:nvPr>
            <p:ph type="title"/>
          </p:nvPr>
        </p:nvSpPr>
        <p:spPr>
          <a:xfrm>
            <a:off x="1814923" y="709436"/>
            <a:ext cx="8312750" cy="257198"/>
          </a:xfrm>
        </p:spPr>
        <p:txBody>
          <a:bodyPr>
            <a:noAutofit/>
          </a:bodyPr>
          <a:lstStyle/>
          <a:p>
            <a:endParaRPr lang="en-US" sz="3200" dirty="0"/>
          </a:p>
        </p:txBody>
      </p:sp>
      <p:sp>
        <p:nvSpPr>
          <p:cNvPr id="20" name="Content Placeholder 2">
            <a:extLst>
              <a:ext uri="{FF2B5EF4-FFF2-40B4-BE49-F238E27FC236}">
                <a16:creationId xmlns:a16="http://schemas.microsoft.com/office/drawing/2014/main" id="{8358452C-447A-064D-799D-6F93C6B8DDB5}"/>
              </a:ext>
            </a:extLst>
          </p:cNvPr>
          <p:cNvSpPr>
            <a:spLocks noGrp="1"/>
          </p:cNvSpPr>
          <p:nvPr>
            <p:ph idx="1"/>
          </p:nvPr>
        </p:nvSpPr>
        <p:spPr>
          <a:xfrm>
            <a:off x="1206632" y="1639701"/>
            <a:ext cx="9858366" cy="3786363"/>
          </a:xfrm>
        </p:spPr>
        <p:txBody>
          <a:bodyPr>
            <a:normAutofit/>
          </a:bodyPr>
          <a:lstStyle/>
          <a:p>
            <a:endParaRPr lang="en-US" sz="1800" dirty="0"/>
          </a:p>
        </p:txBody>
      </p:sp>
      <p:sp>
        <p:nvSpPr>
          <p:cNvPr id="36" name="Footer Placeholder 35">
            <a:extLst>
              <a:ext uri="{FF2B5EF4-FFF2-40B4-BE49-F238E27FC236}">
                <a16:creationId xmlns:a16="http://schemas.microsoft.com/office/drawing/2014/main" id="{72DF5CB7-3B9E-92E0-623A-6FAD1577C7C7}"/>
              </a:ext>
            </a:extLst>
          </p:cNvPr>
          <p:cNvSpPr>
            <a:spLocks noGrp="1"/>
          </p:cNvSpPr>
          <p:nvPr>
            <p:ph type="ftr" sz="quarter" idx="11"/>
          </p:nvPr>
        </p:nvSpPr>
        <p:spPr/>
        <p:txBody>
          <a:bodyPr/>
          <a:lstStyle/>
          <a:p>
            <a:endParaRPr lang="en-US"/>
          </a:p>
        </p:txBody>
      </p:sp>
      <p:sp>
        <p:nvSpPr>
          <p:cNvPr id="37" name="Slide Number Placeholder 36">
            <a:extLst>
              <a:ext uri="{FF2B5EF4-FFF2-40B4-BE49-F238E27FC236}">
                <a16:creationId xmlns:a16="http://schemas.microsoft.com/office/drawing/2014/main" id="{E05C280C-C002-28AA-FEBE-06CB4F2A489A}"/>
              </a:ext>
            </a:extLst>
          </p:cNvPr>
          <p:cNvSpPr>
            <a:spLocks noGrp="1"/>
          </p:cNvSpPr>
          <p:nvPr>
            <p:ph type="sldNum" sz="quarter" idx="12"/>
          </p:nvPr>
        </p:nvSpPr>
        <p:spPr>
          <a:xfrm>
            <a:off x="658091" y="6356349"/>
            <a:ext cx="2743200" cy="365125"/>
          </a:xfrm>
        </p:spPr>
        <p:txBody>
          <a:bodyPr/>
          <a:lstStyle>
            <a:lvl1pPr algn="l">
              <a:defRPr/>
            </a:lvl1pPr>
          </a:lstStyle>
          <a:p>
            <a:fld id="{B66DABA7-C5CC-4612-889C-A09D3482BA66}" type="slidenum">
              <a:rPr lang="en-US" smtClean="0"/>
              <a:pPr/>
              <a:t>‹N°›</a:t>
            </a:fld>
            <a:endParaRPr lang="en-US"/>
          </a:p>
        </p:txBody>
      </p:sp>
      <p:pic>
        <p:nvPicPr>
          <p:cNvPr id="5" name="Picture 4">
            <a:extLst>
              <a:ext uri="{FF2B5EF4-FFF2-40B4-BE49-F238E27FC236}">
                <a16:creationId xmlns:a16="http://schemas.microsoft.com/office/drawing/2014/main" id="{351491E9-2BC0-3EFF-78F6-B7475088BAC6}"/>
              </a:ext>
            </a:extLst>
          </p:cNvPr>
          <p:cNvPicPr>
            <a:picLocks noChangeAspect="1"/>
          </p:cNvPicPr>
          <p:nvPr userDrawn="1"/>
        </p:nvPicPr>
        <p:blipFill>
          <a:blip r:embed="rId2">
            <a:extLst>
              <a:ext uri="{28A0092B-C50C-407E-A947-70E740481C1C}">
                <a14:useLocalDpi xmlns:a14="http://schemas.microsoft.com/office/drawing/2010/main" val="0"/>
              </a:ext>
            </a:extLst>
          </a:blip>
          <a:srcRect r="17152" b="-6151"/>
          <a:stretch>
            <a:fillRect/>
          </a:stretch>
        </p:blipFill>
        <p:spPr>
          <a:xfrm>
            <a:off x="8381996" y="6305996"/>
            <a:ext cx="3546765" cy="399543"/>
          </a:xfrm>
          <a:prstGeom prst="rect">
            <a:avLst/>
          </a:prstGeom>
        </p:spPr>
      </p:pic>
      <p:pic>
        <p:nvPicPr>
          <p:cNvPr id="11" name="Picture 2" descr="LCM2025_vert.png">
            <a:extLst>
              <a:ext uri="{FF2B5EF4-FFF2-40B4-BE49-F238E27FC236}">
                <a16:creationId xmlns:a16="http://schemas.microsoft.com/office/drawing/2014/main" id="{4F7E099A-E43E-4FFD-8575-633C760922B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067670" y="7287"/>
            <a:ext cx="1124330" cy="15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9506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4" name="Picture 2" descr="LCM2025_vert.png">
            <a:extLst>
              <a:ext uri="{FF2B5EF4-FFF2-40B4-BE49-F238E27FC236}">
                <a16:creationId xmlns:a16="http://schemas.microsoft.com/office/drawing/2014/main" id="{59E13BAE-2F04-420E-B3E1-00464A5B953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7670" y="5267151"/>
            <a:ext cx="1124330" cy="15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322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1DEE65C-69DB-4397-B801-3FC33FEB41E1}"/>
              </a:ext>
            </a:extLst>
          </p:cNvPr>
          <p:cNvSpPr txBox="1"/>
          <p:nvPr userDrawn="1"/>
        </p:nvSpPr>
        <p:spPr>
          <a:xfrm>
            <a:off x="973551" y="2721114"/>
            <a:ext cx="10020300" cy="707886"/>
          </a:xfrm>
          <a:prstGeom prst="rect">
            <a:avLst/>
          </a:prstGeom>
          <a:noFill/>
        </p:spPr>
        <p:txBody>
          <a:bodyPr wrap="square" rtlCol="0">
            <a:spAutoFit/>
          </a:bodyPr>
          <a:lstStyle/>
          <a:p>
            <a:pPr algn="ctr"/>
            <a:r>
              <a:rPr lang="en-US" sz="4000" b="1" dirty="0">
                <a:solidFill>
                  <a:srgbClr val="0556A2"/>
                </a:solidFill>
                <a:latin typeface="Arial" panose="020B0604020202020204" pitchFamily="34" charset="0"/>
                <a:cs typeface="Arial" panose="020B0604020202020204" pitchFamily="34" charset="0"/>
              </a:rPr>
              <a:t>Thanks for your kind attention</a:t>
            </a:r>
          </a:p>
        </p:txBody>
      </p:sp>
      <p:pic>
        <p:nvPicPr>
          <p:cNvPr id="7" name="Picture 6" descr="A blue text on a black background&#10;&#10;AI-generated content may be incorrect.">
            <a:extLst>
              <a:ext uri="{FF2B5EF4-FFF2-40B4-BE49-F238E27FC236}">
                <a16:creationId xmlns:a16="http://schemas.microsoft.com/office/drawing/2014/main" id="{81CD10D9-80CD-5F50-C41B-B7F0BE1261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89789" y="4424690"/>
            <a:ext cx="3190713" cy="1067967"/>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93DD5E14-5BCA-9723-E349-1B3DFAD0184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07961" y="4932168"/>
            <a:ext cx="1427467" cy="234194"/>
          </a:xfrm>
          <a:prstGeom prst="rect">
            <a:avLst/>
          </a:prstGeom>
        </p:spPr>
      </p:pic>
      <p:pic>
        <p:nvPicPr>
          <p:cNvPr id="13" name="Picture 12" descr="A blue letter on a black background&#10;&#10;AI-generated content may be incorrect.">
            <a:extLst>
              <a:ext uri="{FF2B5EF4-FFF2-40B4-BE49-F238E27FC236}">
                <a16:creationId xmlns:a16="http://schemas.microsoft.com/office/drawing/2014/main" id="{4BC888A7-DFC6-593F-71F6-20BE9D7DFBA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543241" y="4925189"/>
            <a:ext cx="1261922" cy="308908"/>
          </a:xfrm>
          <a:prstGeom prst="rect">
            <a:avLst/>
          </a:prstGeom>
        </p:spPr>
      </p:pic>
      <p:grpSp>
        <p:nvGrpSpPr>
          <p:cNvPr id="5" name="Group 4">
            <a:extLst>
              <a:ext uri="{FF2B5EF4-FFF2-40B4-BE49-F238E27FC236}">
                <a16:creationId xmlns:a16="http://schemas.microsoft.com/office/drawing/2014/main" id="{0989017C-AB57-45BF-BF9A-BA1EFBD928D7}"/>
              </a:ext>
            </a:extLst>
          </p:cNvPr>
          <p:cNvGrpSpPr/>
          <p:nvPr userDrawn="1"/>
        </p:nvGrpSpPr>
        <p:grpSpPr>
          <a:xfrm>
            <a:off x="1681943" y="3697949"/>
            <a:ext cx="8739447" cy="1870364"/>
            <a:chOff x="1729047" y="3823854"/>
            <a:chExt cx="8739447" cy="1870364"/>
          </a:xfrm>
        </p:grpSpPr>
        <p:pic>
          <p:nvPicPr>
            <p:cNvPr id="8" name="Picture 7" descr="A blue logo with a leaf&#10;&#10;AI-generated content may be incorrect.">
              <a:extLst>
                <a:ext uri="{FF2B5EF4-FFF2-40B4-BE49-F238E27FC236}">
                  <a16:creationId xmlns:a16="http://schemas.microsoft.com/office/drawing/2014/main" id="{4491707B-13E6-8EC5-BEE5-980B4183E59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32001" y="4523102"/>
              <a:ext cx="1427467" cy="1007870"/>
            </a:xfrm>
            <a:prstGeom prst="rect">
              <a:avLst/>
            </a:prstGeom>
          </p:spPr>
        </p:pic>
        <p:sp>
          <p:nvSpPr>
            <p:cNvPr id="3" name="TextBox 2">
              <a:extLst>
                <a:ext uri="{FF2B5EF4-FFF2-40B4-BE49-F238E27FC236}">
                  <a16:creationId xmlns:a16="http://schemas.microsoft.com/office/drawing/2014/main" id="{4D8EBB6B-457F-41CC-A32C-2C7058AEF91A}"/>
                </a:ext>
              </a:extLst>
            </p:cNvPr>
            <p:cNvSpPr txBox="1"/>
            <p:nvPr userDrawn="1"/>
          </p:nvSpPr>
          <p:spPr>
            <a:xfrm>
              <a:off x="3433156" y="3996758"/>
              <a:ext cx="2942706" cy="369332"/>
            </a:xfrm>
            <a:prstGeom prst="rect">
              <a:avLst/>
            </a:prstGeom>
            <a:noFill/>
          </p:spPr>
          <p:txBody>
            <a:bodyPr wrap="square" rtlCol="0">
              <a:spAutoFit/>
            </a:bodyPr>
            <a:lstStyle/>
            <a:p>
              <a:r>
                <a:rPr lang="en-US" dirty="0">
                  <a:solidFill>
                    <a:srgbClr val="105CA0"/>
                  </a:solidFill>
                </a:rPr>
                <a:t>Platinum Sponsors</a:t>
              </a:r>
            </a:p>
          </p:txBody>
        </p:sp>
        <p:sp>
          <p:nvSpPr>
            <p:cNvPr id="4" name="Rectangle 3">
              <a:extLst>
                <a:ext uri="{FF2B5EF4-FFF2-40B4-BE49-F238E27FC236}">
                  <a16:creationId xmlns:a16="http://schemas.microsoft.com/office/drawing/2014/main" id="{9B15BE7C-B7C3-47A7-956F-3101F0C3001B}"/>
                </a:ext>
              </a:extLst>
            </p:cNvPr>
            <p:cNvSpPr/>
            <p:nvPr userDrawn="1"/>
          </p:nvSpPr>
          <p:spPr>
            <a:xfrm>
              <a:off x="1729047" y="3823855"/>
              <a:ext cx="4971101" cy="18703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791036A-BEA7-403A-A7FF-1357AB769586}"/>
                </a:ext>
              </a:extLst>
            </p:cNvPr>
            <p:cNvSpPr txBox="1"/>
            <p:nvPr userDrawn="1"/>
          </p:nvSpPr>
          <p:spPr>
            <a:xfrm>
              <a:off x="7525788" y="3996758"/>
              <a:ext cx="2942706" cy="369332"/>
            </a:xfrm>
            <a:prstGeom prst="rect">
              <a:avLst/>
            </a:prstGeom>
            <a:noFill/>
          </p:spPr>
          <p:txBody>
            <a:bodyPr wrap="square" rtlCol="0">
              <a:spAutoFit/>
            </a:bodyPr>
            <a:lstStyle/>
            <a:p>
              <a:r>
                <a:rPr lang="en-US" dirty="0">
                  <a:solidFill>
                    <a:srgbClr val="105CA0"/>
                  </a:solidFill>
                </a:rPr>
                <a:t>Gold Sponsors</a:t>
              </a:r>
            </a:p>
          </p:txBody>
        </p:sp>
        <p:sp>
          <p:nvSpPr>
            <p:cNvPr id="15" name="Rectangle 14">
              <a:extLst>
                <a:ext uri="{FF2B5EF4-FFF2-40B4-BE49-F238E27FC236}">
                  <a16:creationId xmlns:a16="http://schemas.microsoft.com/office/drawing/2014/main" id="{EF2BA085-690B-41FF-A603-7A433D02957D}"/>
                </a:ext>
              </a:extLst>
            </p:cNvPr>
            <p:cNvSpPr/>
            <p:nvPr userDrawn="1"/>
          </p:nvSpPr>
          <p:spPr>
            <a:xfrm>
              <a:off x="6827607" y="3823854"/>
              <a:ext cx="3190714" cy="18703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a:extLst>
              <a:ext uri="{FF2B5EF4-FFF2-40B4-BE49-F238E27FC236}">
                <a16:creationId xmlns:a16="http://schemas.microsoft.com/office/drawing/2014/main" id="{FC7BBE6A-AADF-4045-93C1-5D780FCCC28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09468" y="6200830"/>
            <a:ext cx="4547937" cy="399854"/>
          </a:xfrm>
          <a:prstGeom prst="rect">
            <a:avLst/>
          </a:prstGeom>
        </p:spPr>
      </p:pic>
      <p:pic>
        <p:nvPicPr>
          <p:cNvPr id="17" name="Picture 2" descr="LCM2025_vert.png">
            <a:extLst>
              <a:ext uri="{FF2B5EF4-FFF2-40B4-BE49-F238E27FC236}">
                <a16:creationId xmlns:a16="http://schemas.microsoft.com/office/drawing/2014/main" id="{52F65E42-EBE7-407D-ABE2-1A57530DE718}"/>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1738" y="0"/>
            <a:ext cx="1124330" cy="15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6544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5F491-53D0-96AD-9984-A0D73646BC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3E2006-4988-1DAE-194E-8FC56DDA1AF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BD6E751-F44E-49F5-662F-24F17128D9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82F20A-EF98-BCD2-37CB-D2AD97AA80D9}"/>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2298795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F18C1D-A692-662D-4947-D6CE31245A5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E92B4BA-18AC-45F1-88A6-FDEA7496CF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26DC97-7A61-0EE3-1BA1-CC6D3FB28505}"/>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3797897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CF19-FE05-B049-DD68-15F347479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E6AA95-FD50-92D9-07E3-7EDB94E0C9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A9A9BA-3882-9507-DE93-AEC601964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92B77B-786B-FD27-1A5A-FE74F37A147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FA2B77B-774F-7EFF-B5B5-18289B99A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D941DA-9111-5C47-6C29-C85A1F707B47}"/>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1440641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9E65D-0828-831E-0DCC-D0462CC32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03FD5F-800F-B885-2277-C7E8C4FBB0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2F57A5-12DF-8BF3-D218-E06E9A5A7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2CAF79-D1AD-D930-B93B-91474F802A5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2D1E11-AB65-10CA-A37E-78BB1EDD54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167DD5-E58F-F0A1-C439-36E3C215ADC5}"/>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3533152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D1EAD-57C4-FD6C-F006-4B4167340D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3C5260-D7D2-7FC1-98AE-A3210C83D5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FAAB1C-3BD1-C498-7B6C-CB52023FFF9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D195DED-8FB0-41E5-F232-CEE97C1BD0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E6097-3C53-0B86-E6F5-82615727CBB1}"/>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347605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F1DAB-9C10-B7F9-876C-6E3CC8F388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9E623D-AF53-88E4-5412-E44F9755F9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A2804D-8876-A62F-4CAB-717E1D99C4D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9287A7-2E9A-AD5B-46B5-3C6A5E711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7F6DA1-661D-728F-B8AF-71E6AF748809}"/>
              </a:ext>
            </a:extLst>
          </p:cNvPr>
          <p:cNvSpPr>
            <a:spLocks noGrp="1"/>
          </p:cNvSpPr>
          <p:nvPr>
            <p:ph type="sldNum" sz="quarter" idx="12"/>
          </p:nvPr>
        </p:nvSpPr>
        <p:spPr/>
        <p:txBody>
          <a:bodyPr/>
          <a:lstStyle/>
          <a:p>
            <a:fld id="{B66DABA7-C5CC-4612-889C-A09D3482BA66}" type="slidenum">
              <a:rPr lang="en-US" smtClean="0"/>
              <a:t>‹N°›</a:t>
            </a:fld>
            <a:endParaRPr lang="en-US"/>
          </a:p>
        </p:txBody>
      </p:sp>
    </p:spTree>
    <p:extLst>
      <p:ext uri="{BB962C8B-B14F-4D97-AF65-F5344CB8AC3E}">
        <p14:creationId xmlns:p14="http://schemas.microsoft.com/office/powerpoint/2010/main" val="2835469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xte seul 16pt">
  <p:cSld name="Texte seul 16pt">
    <p:spTree>
      <p:nvGrpSpPr>
        <p:cNvPr id="1" name="Shape 15"/>
        <p:cNvGrpSpPr/>
        <p:nvPr/>
      </p:nvGrpSpPr>
      <p:grpSpPr>
        <a:xfrm>
          <a:off x="0" y="0"/>
          <a:ext cx="0" cy="0"/>
          <a:chOff x="0" y="0"/>
          <a:chExt cx="0" cy="0"/>
        </a:xfrm>
      </p:grpSpPr>
      <p:sp>
        <p:nvSpPr>
          <p:cNvPr id="16" name="Google Shape;16;p28"/>
          <p:cNvSpPr txBox="1">
            <a:spLocks noGrp="1"/>
          </p:cNvSpPr>
          <p:nvPr>
            <p:ph type="body" idx="1"/>
          </p:nvPr>
        </p:nvSpPr>
        <p:spPr>
          <a:xfrm>
            <a:off x="524328" y="1447592"/>
            <a:ext cx="10963874" cy="432138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7" name="Google Shape;17;p28"/>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lvl1pPr marR="0" lvl="0" algn="l" rtl="0">
              <a:lnSpc>
                <a:spcPct val="107692"/>
              </a:lnSpc>
              <a:spcBef>
                <a:spcPts val="0"/>
              </a:spcBef>
              <a:spcAft>
                <a:spcPts val="0"/>
              </a:spcAft>
              <a:buClr>
                <a:schemeClr val="dk1"/>
              </a:buClr>
              <a:buSzPts val="2600"/>
              <a:buFont typeface="Calibri"/>
              <a:buNone/>
              <a:defRPr sz="2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8" name="Google Shape;18;p28"/>
          <p:cNvPicPr preferRelativeResize="0"/>
          <p:nvPr/>
        </p:nvPicPr>
        <p:blipFill rotWithShape="1">
          <a:blip r:embed="rId2">
            <a:alphaModFix/>
          </a:blip>
          <a:srcRect/>
          <a:stretch/>
        </p:blipFill>
        <p:spPr>
          <a:xfrm>
            <a:off x="524328" y="1108109"/>
            <a:ext cx="946416" cy="143197"/>
          </a:xfrm>
          <a:prstGeom prst="rect">
            <a:avLst/>
          </a:prstGeom>
          <a:noFill/>
          <a:ln>
            <a:noFill/>
          </a:ln>
        </p:spPr>
      </p:pic>
      <p:pic>
        <p:nvPicPr>
          <p:cNvPr id="19" name="Google Shape;19;p28"/>
          <p:cNvPicPr preferRelativeResize="0"/>
          <p:nvPr/>
        </p:nvPicPr>
        <p:blipFill rotWithShape="1">
          <a:blip r:embed="rId3">
            <a:alphaModFix/>
          </a:blip>
          <a:srcRect/>
          <a:stretch/>
        </p:blipFill>
        <p:spPr>
          <a:xfrm rot="10800000">
            <a:off x="11130888" y="302250"/>
            <a:ext cx="720000" cy="720000"/>
          </a:xfrm>
          <a:prstGeom prst="rect">
            <a:avLst/>
          </a:prstGeom>
          <a:noFill/>
          <a:ln>
            <a:noFill/>
          </a:ln>
        </p:spPr>
      </p:pic>
      <p:sp>
        <p:nvSpPr>
          <p:cNvPr id="20" name="Google Shape;20;p28"/>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900" b="0" i="0" u="none" strike="noStrike" cap="none">
                <a:solidFill>
                  <a:schemeClr val="accent1"/>
                </a:solidFill>
                <a:latin typeface="Calibri"/>
                <a:ea typeface="Calibri"/>
                <a:cs typeface="Calibri"/>
                <a:sym typeface="Calibri"/>
              </a:defRPr>
            </a:lvl1pPr>
            <a:lvl2pPr marL="0" marR="0" lvl="1" indent="0" algn="ctr" rtl="0">
              <a:spcBef>
                <a:spcPts val="0"/>
              </a:spcBef>
              <a:buNone/>
              <a:defRPr sz="900" b="0" i="0" u="none" strike="noStrike" cap="none">
                <a:solidFill>
                  <a:schemeClr val="accent1"/>
                </a:solidFill>
                <a:latin typeface="Calibri"/>
                <a:ea typeface="Calibri"/>
                <a:cs typeface="Calibri"/>
                <a:sym typeface="Calibri"/>
              </a:defRPr>
            </a:lvl2pPr>
            <a:lvl3pPr marL="0" marR="0" lvl="2" indent="0" algn="ctr" rtl="0">
              <a:spcBef>
                <a:spcPts val="0"/>
              </a:spcBef>
              <a:buNone/>
              <a:defRPr sz="900" b="0" i="0" u="none" strike="noStrike" cap="none">
                <a:solidFill>
                  <a:schemeClr val="accent1"/>
                </a:solidFill>
                <a:latin typeface="Calibri"/>
                <a:ea typeface="Calibri"/>
                <a:cs typeface="Calibri"/>
                <a:sym typeface="Calibri"/>
              </a:defRPr>
            </a:lvl3pPr>
            <a:lvl4pPr marL="0" marR="0" lvl="3" indent="0" algn="ctr" rtl="0">
              <a:spcBef>
                <a:spcPts val="0"/>
              </a:spcBef>
              <a:buNone/>
              <a:defRPr sz="900" b="0" i="0" u="none" strike="noStrike" cap="none">
                <a:solidFill>
                  <a:schemeClr val="accent1"/>
                </a:solidFill>
                <a:latin typeface="Calibri"/>
                <a:ea typeface="Calibri"/>
                <a:cs typeface="Calibri"/>
                <a:sym typeface="Calibri"/>
              </a:defRPr>
            </a:lvl4pPr>
            <a:lvl5pPr marL="0" marR="0" lvl="4" indent="0" algn="ctr" rtl="0">
              <a:spcBef>
                <a:spcPts val="0"/>
              </a:spcBef>
              <a:buNone/>
              <a:defRPr sz="900" b="0" i="0" u="none" strike="noStrike" cap="none">
                <a:solidFill>
                  <a:schemeClr val="accent1"/>
                </a:solidFill>
                <a:latin typeface="Calibri"/>
                <a:ea typeface="Calibri"/>
                <a:cs typeface="Calibri"/>
                <a:sym typeface="Calibri"/>
              </a:defRPr>
            </a:lvl5pPr>
            <a:lvl6pPr marL="0" marR="0" lvl="5" indent="0" algn="ctr" rtl="0">
              <a:spcBef>
                <a:spcPts val="0"/>
              </a:spcBef>
              <a:buNone/>
              <a:defRPr sz="900" b="0" i="0" u="none" strike="noStrike" cap="none">
                <a:solidFill>
                  <a:schemeClr val="accent1"/>
                </a:solidFill>
                <a:latin typeface="Calibri"/>
                <a:ea typeface="Calibri"/>
                <a:cs typeface="Calibri"/>
                <a:sym typeface="Calibri"/>
              </a:defRPr>
            </a:lvl6pPr>
            <a:lvl7pPr marL="0" marR="0" lvl="6" indent="0" algn="ctr" rtl="0">
              <a:spcBef>
                <a:spcPts val="0"/>
              </a:spcBef>
              <a:buNone/>
              <a:defRPr sz="900" b="0" i="0" u="none" strike="noStrike" cap="none">
                <a:solidFill>
                  <a:schemeClr val="accent1"/>
                </a:solidFill>
                <a:latin typeface="Calibri"/>
                <a:ea typeface="Calibri"/>
                <a:cs typeface="Calibri"/>
                <a:sym typeface="Calibri"/>
              </a:defRPr>
            </a:lvl7pPr>
            <a:lvl8pPr marL="0" marR="0" lvl="7" indent="0" algn="ctr" rtl="0">
              <a:spcBef>
                <a:spcPts val="0"/>
              </a:spcBef>
              <a:buNone/>
              <a:defRPr sz="900" b="0" i="0" u="none" strike="noStrike" cap="none">
                <a:solidFill>
                  <a:schemeClr val="accent1"/>
                </a:solidFill>
                <a:latin typeface="Calibri"/>
                <a:ea typeface="Calibri"/>
                <a:cs typeface="Calibri"/>
                <a:sym typeface="Calibri"/>
              </a:defRPr>
            </a:lvl8pPr>
            <a:lvl9pPr marL="0" marR="0" lvl="8" indent="0" algn="ctr" rtl="0">
              <a:spcBef>
                <a:spcPts val="0"/>
              </a:spcBef>
              <a:buNone/>
              <a:defRPr sz="900" b="0" i="0" u="none" strike="noStrike" cap="none">
                <a:solidFill>
                  <a:schemeClr val="accen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fr-FR"/>
              <a:t>‹N°›</a:t>
            </a:fld>
            <a:endParaRPr/>
          </a:p>
        </p:txBody>
      </p:sp>
      <p:pic>
        <p:nvPicPr>
          <p:cNvPr id="21" name="Google Shape;21;p28"/>
          <p:cNvPicPr preferRelativeResize="0"/>
          <p:nvPr/>
        </p:nvPicPr>
        <p:blipFill rotWithShape="1">
          <a:blip r:embed="rId4">
            <a:alphaModFix/>
          </a:blip>
          <a:srcRect/>
          <a:stretch/>
        </p:blipFill>
        <p:spPr>
          <a:xfrm>
            <a:off x="344588" y="5846581"/>
            <a:ext cx="720000" cy="720000"/>
          </a:xfrm>
          <a:prstGeom prst="rect">
            <a:avLst/>
          </a:prstGeom>
          <a:noFill/>
          <a:ln>
            <a:noFill/>
          </a:ln>
        </p:spPr>
      </p:pic>
    </p:spTree>
    <p:extLst>
      <p:ext uri="{BB962C8B-B14F-4D97-AF65-F5344CB8AC3E}">
        <p14:creationId xmlns:p14="http://schemas.microsoft.com/office/powerpoint/2010/main" val="4190573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p:cSld name="Titre">
    <p:spTree>
      <p:nvGrpSpPr>
        <p:cNvPr id="1" name="Shape 11"/>
        <p:cNvGrpSpPr/>
        <p:nvPr/>
      </p:nvGrpSpPr>
      <p:grpSpPr>
        <a:xfrm>
          <a:off x="0" y="0"/>
          <a:ext cx="0" cy="0"/>
          <a:chOff x="0" y="0"/>
          <a:chExt cx="0" cy="0"/>
        </a:xfrm>
      </p:grpSpPr>
      <p:sp>
        <p:nvSpPr>
          <p:cNvPr id="12" name="Google Shape;12;p17"/>
          <p:cNvSpPr>
            <a:spLocks noGrp="1"/>
          </p:cNvSpPr>
          <p:nvPr>
            <p:ph type="pic" idx="2"/>
          </p:nvPr>
        </p:nvSpPr>
        <p:spPr>
          <a:xfrm>
            <a:off x="0" y="0"/>
            <a:ext cx="12192000" cy="6857999"/>
          </a:xfrm>
          <a:prstGeom prst="rect">
            <a:avLst/>
          </a:prstGeom>
          <a:noFill/>
          <a:ln>
            <a:noFill/>
          </a:ln>
        </p:spPr>
        <p:txBody>
          <a:bodyPr/>
          <a:lstStyle/>
          <a:p>
            <a:endParaRPr lang="fr-FR"/>
          </a:p>
        </p:txBody>
      </p:sp>
      <p:sp>
        <p:nvSpPr>
          <p:cNvPr id="13" name="Google Shape;13;p17"/>
          <p:cNvSpPr txBox="1">
            <a:spLocks noGrp="1"/>
          </p:cNvSpPr>
          <p:nvPr>
            <p:ph type="body" idx="1"/>
          </p:nvPr>
        </p:nvSpPr>
        <p:spPr>
          <a:xfrm>
            <a:off x="1861200" y="3871913"/>
            <a:ext cx="5530850" cy="3810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body" idx="3"/>
          </p:nvPr>
        </p:nvSpPr>
        <p:spPr>
          <a:xfrm>
            <a:off x="1860550" y="1955804"/>
            <a:ext cx="5529263" cy="1519501"/>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1000"/>
              </a:spcBef>
              <a:spcAft>
                <a:spcPts val="0"/>
              </a:spcAft>
              <a:buClr>
                <a:schemeClr val="dk1"/>
              </a:buClr>
              <a:buSzPts val="4000"/>
              <a:buFont typeface="Arial"/>
              <a:buNone/>
              <a:defRPr sz="4000" b="1" i="0" u="none" strike="noStrike" cap="none">
                <a:solidFill>
                  <a:schemeClr val="dk1"/>
                </a:solidFill>
                <a:latin typeface="Calibri"/>
                <a:ea typeface="Calibri"/>
                <a:cs typeface="Calibri"/>
                <a:sym typeface="Calibri"/>
              </a:defRPr>
            </a:lvl1pPr>
            <a:lvl2pPr marL="914400" marR="0" lvl="1" indent="-228600" algn="l" rtl="0">
              <a:lnSpc>
                <a:spcPct val="14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228600" algn="l" rtl="0">
              <a:lnSpc>
                <a:spcPct val="168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228600" algn="l" rtl="0">
              <a:lnSpc>
                <a:spcPct val="186666"/>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228600" algn="l" rtl="0">
              <a:lnSpc>
                <a:spcPct val="186666"/>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769912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_">
  <p:cSld name="_">
    <p:spTree>
      <p:nvGrpSpPr>
        <p:cNvPr id="1" name="Shape 27"/>
        <p:cNvGrpSpPr/>
        <p:nvPr/>
      </p:nvGrpSpPr>
      <p:grpSpPr>
        <a:xfrm>
          <a:off x="0" y="0"/>
          <a:ext cx="0" cy="0"/>
          <a:chOff x="0" y="0"/>
          <a:chExt cx="0" cy="0"/>
        </a:xfrm>
      </p:grpSpPr>
      <p:sp>
        <p:nvSpPr>
          <p:cNvPr id="28" name="Google Shape;28;p30"/>
          <p:cNvSpPr txBox="1">
            <a:spLocks noGrp="1"/>
          </p:cNvSpPr>
          <p:nvPr>
            <p:ph type="title"/>
          </p:nvPr>
        </p:nvSpPr>
        <p:spPr>
          <a:xfrm>
            <a:off x="515937" y="519454"/>
            <a:ext cx="10980737" cy="425109"/>
          </a:xfrm>
          <a:prstGeom prst="rect">
            <a:avLst/>
          </a:prstGeom>
          <a:noFill/>
          <a:ln>
            <a:noFill/>
          </a:ln>
        </p:spPr>
        <p:txBody>
          <a:bodyPr spcFirstLastPara="1" wrap="square" lIns="0" tIns="45700" rIns="91425" bIns="45700" anchor="b" anchorCtr="0">
            <a:noAutofit/>
          </a:bodyPr>
          <a:lstStyle>
            <a:lvl1pPr marR="0" lvl="0" algn="l" rtl="0">
              <a:lnSpc>
                <a:spcPct val="107692"/>
              </a:lnSpc>
              <a:spcBef>
                <a:spcPts val="0"/>
              </a:spcBef>
              <a:spcAft>
                <a:spcPts val="0"/>
              </a:spcAft>
              <a:buClr>
                <a:schemeClr val="dk1"/>
              </a:buClr>
              <a:buSzPts val="2600"/>
              <a:buFont typeface="Calibri"/>
              <a:buNone/>
              <a:defRPr sz="2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30"/>
          <p:cNvSpPr txBox="1"/>
          <p:nvPr/>
        </p:nvSpPr>
        <p:spPr>
          <a:xfrm>
            <a:off x="144388" y="6427446"/>
            <a:ext cx="412750" cy="7667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fr-FR" sz="900" b="0" i="0" u="none" strike="noStrike" cap="none">
                <a:solidFill>
                  <a:schemeClr val="accent1"/>
                </a:solidFill>
                <a:latin typeface="Calibri"/>
                <a:ea typeface="Calibri"/>
                <a:cs typeface="Calibri"/>
                <a:sym typeface="Calibri"/>
              </a:rPr>
              <a:t>‹N°›</a:t>
            </a:fld>
            <a:endParaRPr sz="900" b="0" i="0" u="none" strike="noStrike" cap="none">
              <a:solidFill>
                <a:schemeClr val="accent1"/>
              </a:solidFill>
              <a:latin typeface="Calibri"/>
              <a:ea typeface="Calibri"/>
              <a:cs typeface="Calibri"/>
              <a:sym typeface="Calibri"/>
            </a:endParaRPr>
          </a:p>
        </p:txBody>
      </p:sp>
      <p:pic>
        <p:nvPicPr>
          <p:cNvPr id="30" name="Google Shape;30;p30"/>
          <p:cNvPicPr preferRelativeResize="0"/>
          <p:nvPr/>
        </p:nvPicPr>
        <p:blipFill rotWithShape="1">
          <a:blip r:embed="rId2">
            <a:alphaModFix/>
          </a:blip>
          <a:srcRect/>
          <a:stretch/>
        </p:blipFill>
        <p:spPr>
          <a:xfrm>
            <a:off x="300038" y="5840300"/>
            <a:ext cx="669925" cy="669925"/>
          </a:xfrm>
          <a:prstGeom prst="rect">
            <a:avLst/>
          </a:prstGeom>
          <a:noFill/>
          <a:ln>
            <a:noFill/>
          </a:ln>
        </p:spPr>
      </p:pic>
      <p:pic>
        <p:nvPicPr>
          <p:cNvPr id="31" name="Google Shape;31;p30"/>
          <p:cNvPicPr preferRelativeResize="0"/>
          <p:nvPr/>
        </p:nvPicPr>
        <p:blipFill rotWithShape="1">
          <a:blip r:embed="rId3">
            <a:alphaModFix/>
          </a:blip>
          <a:srcRect/>
          <a:stretch/>
        </p:blipFill>
        <p:spPr>
          <a:xfrm rot="10800000">
            <a:off x="11191038" y="296238"/>
            <a:ext cx="666000" cy="666000"/>
          </a:xfrm>
          <a:prstGeom prst="rect">
            <a:avLst/>
          </a:prstGeom>
          <a:noFill/>
          <a:ln>
            <a:noFill/>
          </a:ln>
        </p:spPr>
      </p:pic>
      <p:pic>
        <p:nvPicPr>
          <p:cNvPr id="32" name="Google Shape;32;p30"/>
          <p:cNvPicPr preferRelativeResize="0"/>
          <p:nvPr/>
        </p:nvPicPr>
        <p:blipFill rotWithShape="1">
          <a:blip r:embed="rId4">
            <a:alphaModFix/>
          </a:blip>
          <a:srcRect/>
          <a:stretch/>
        </p:blipFill>
        <p:spPr>
          <a:xfrm>
            <a:off x="524328" y="1108109"/>
            <a:ext cx="946416" cy="143197"/>
          </a:xfrm>
          <a:prstGeom prst="rect">
            <a:avLst/>
          </a:prstGeom>
          <a:noFill/>
          <a:ln>
            <a:noFill/>
          </a:ln>
        </p:spPr>
      </p:pic>
    </p:spTree>
    <p:extLst>
      <p:ext uri="{BB962C8B-B14F-4D97-AF65-F5344CB8AC3E}">
        <p14:creationId xmlns:p14="http://schemas.microsoft.com/office/powerpoint/2010/main" val="4292318342"/>
      </p:ext>
    </p:extLst>
  </p:cSld>
  <p:clrMapOvr>
    <a:masterClrMapping/>
  </p:clrMapOvr>
  <p:extLst>
    <p:ext uri="{DCECCB84-F9BA-43D5-87BE-67443E8EF086}">
      <p15:sldGuideLst xmlns:p15="http://schemas.microsoft.com/office/powerpoint/2012/main">
        <p15:guide id="1" orient="horz" pos="2160">
          <p15:clr>
            <a:srgbClr val="FBAE40"/>
          </p15:clr>
        </p15:guide>
        <p15:guide id="2" pos="726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Section Bleu + image">
  <p:cSld name="3_Section Bleu + image">
    <p:spTree>
      <p:nvGrpSpPr>
        <p:cNvPr id="1" name="Shape 59"/>
        <p:cNvGrpSpPr/>
        <p:nvPr/>
      </p:nvGrpSpPr>
      <p:grpSpPr>
        <a:xfrm>
          <a:off x="0" y="0"/>
          <a:ext cx="0" cy="0"/>
          <a:chOff x="0" y="0"/>
          <a:chExt cx="0" cy="0"/>
        </a:xfrm>
      </p:grpSpPr>
      <p:sp>
        <p:nvSpPr>
          <p:cNvPr id="60" name="Google Shape;60;p21"/>
          <p:cNvSpPr/>
          <p:nvPr/>
        </p:nvSpPr>
        <p:spPr>
          <a:xfrm>
            <a:off x="6858000" y="-1"/>
            <a:ext cx="5334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Calibri"/>
              <a:ea typeface="Calibri"/>
              <a:cs typeface="Calibri"/>
              <a:sym typeface="Calibri"/>
            </a:endParaRPr>
          </a:p>
        </p:txBody>
      </p:sp>
      <p:sp>
        <p:nvSpPr>
          <p:cNvPr id="61" name="Google Shape;61;p21"/>
          <p:cNvSpPr txBox="1">
            <a:spLocks noGrp="1"/>
          </p:cNvSpPr>
          <p:nvPr>
            <p:ph type="ctrTitle"/>
          </p:nvPr>
        </p:nvSpPr>
        <p:spPr>
          <a:xfrm>
            <a:off x="1404000" y="2051999"/>
            <a:ext cx="4680000" cy="1544400"/>
          </a:xfrm>
          <a:prstGeom prst="rect">
            <a:avLst/>
          </a:prstGeom>
          <a:noFill/>
          <a:ln>
            <a:noFill/>
          </a:ln>
        </p:spPr>
        <p:txBody>
          <a:bodyPr spcFirstLastPara="1" wrap="square" lIns="0" tIns="0" rIns="0" bIns="0" anchor="b" anchorCtr="0">
            <a:noAutofit/>
          </a:bodyPr>
          <a:lstStyle>
            <a:lvl1pPr marR="0" lvl="0" algn="l" rtl="0">
              <a:lnSpc>
                <a:spcPct val="111111"/>
              </a:lnSpc>
              <a:spcBef>
                <a:spcPts val="0"/>
              </a:spcBef>
              <a:spcAft>
                <a:spcPts val="0"/>
              </a:spcAft>
              <a:buClr>
                <a:schemeClr val="accent1"/>
              </a:buClr>
              <a:buSzPts val="3600"/>
              <a:buFont typeface="Calibri"/>
              <a:buNone/>
              <a:defRPr sz="3600" b="1" i="0" u="none" strike="noStrike" cap="none">
                <a:solidFill>
                  <a:schemeClr val="accen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 name="Google Shape;62;p21"/>
          <p:cNvSpPr txBox="1">
            <a:spLocks noGrp="1"/>
          </p:cNvSpPr>
          <p:nvPr>
            <p:ph type="subTitle" idx="1"/>
          </p:nvPr>
        </p:nvSpPr>
        <p:spPr>
          <a:xfrm>
            <a:off x="1404000" y="4090023"/>
            <a:ext cx="4680000" cy="249299"/>
          </a:xfrm>
          <a:prstGeom prst="rect">
            <a:avLst/>
          </a:prstGeom>
          <a:noFill/>
          <a:ln>
            <a:noFill/>
          </a:ln>
        </p:spPr>
        <p:txBody>
          <a:bodyPr spcFirstLastPara="1" wrap="square" lIns="0" tIns="0" rIns="0" bIns="0" anchor="t" anchorCtr="0">
            <a:spAutoFit/>
          </a:bodyPr>
          <a:lstStyle>
            <a:lvl1pPr marR="0" lvl="0" algn="l" rtl="0">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pic>
        <p:nvPicPr>
          <p:cNvPr id="63" name="Google Shape;63;p21"/>
          <p:cNvPicPr preferRelativeResize="0"/>
          <p:nvPr/>
        </p:nvPicPr>
        <p:blipFill rotWithShape="1">
          <a:blip r:embed="rId2">
            <a:alphaModFix/>
          </a:blip>
          <a:srcRect/>
          <a:stretch/>
        </p:blipFill>
        <p:spPr>
          <a:xfrm rot="5400000">
            <a:off x="709839" y="743177"/>
            <a:ext cx="1260689" cy="1260689"/>
          </a:xfrm>
          <a:prstGeom prst="rect">
            <a:avLst/>
          </a:prstGeom>
          <a:noFill/>
          <a:ln>
            <a:noFill/>
          </a:ln>
        </p:spPr>
      </p:pic>
      <p:pic>
        <p:nvPicPr>
          <p:cNvPr id="64" name="Google Shape;64;p21"/>
          <p:cNvPicPr preferRelativeResize="0"/>
          <p:nvPr/>
        </p:nvPicPr>
        <p:blipFill rotWithShape="1">
          <a:blip r:embed="rId3">
            <a:alphaModFix/>
          </a:blip>
          <a:srcRect/>
          <a:stretch/>
        </p:blipFill>
        <p:spPr>
          <a:xfrm>
            <a:off x="695325" y="6076878"/>
            <a:ext cx="900000" cy="371801"/>
          </a:xfrm>
          <a:prstGeom prst="rect">
            <a:avLst/>
          </a:prstGeom>
          <a:noFill/>
          <a:ln>
            <a:noFill/>
          </a:ln>
        </p:spPr>
      </p:pic>
      <p:pic>
        <p:nvPicPr>
          <p:cNvPr id="65" name="Google Shape;65;p21"/>
          <p:cNvPicPr preferRelativeResize="0"/>
          <p:nvPr/>
        </p:nvPicPr>
        <p:blipFill rotWithShape="1">
          <a:blip r:embed="rId4">
            <a:alphaModFix/>
          </a:blip>
          <a:srcRect/>
          <a:stretch/>
        </p:blipFill>
        <p:spPr>
          <a:xfrm rot="-5400000">
            <a:off x="10595175" y="5187990"/>
            <a:ext cx="1260689" cy="1260689"/>
          </a:xfrm>
          <a:prstGeom prst="rect">
            <a:avLst/>
          </a:prstGeom>
          <a:noFill/>
          <a:ln>
            <a:noFill/>
          </a:ln>
        </p:spPr>
      </p:pic>
    </p:spTree>
    <p:extLst>
      <p:ext uri="{BB962C8B-B14F-4D97-AF65-F5344CB8AC3E}">
        <p14:creationId xmlns:p14="http://schemas.microsoft.com/office/powerpoint/2010/main" val="972061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634F3-928F-C80B-DB68-BA45E39127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BC8AA8-67DB-0D94-8D2A-793D0601BA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AD7002-C599-9EB1-294B-5E58E30646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22C628D-BCE4-3B9B-F302-3A6C91AB06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BDABB-F506-D8C3-4621-2BACC2B4354A}"/>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791771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537EC-62EB-D43A-FFDA-2B578A0728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3CD58E-8A96-397B-2912-C06EE55EFA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6337C-552A-7B3B-BD06-D4C718DD5AC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0EEF757-D29D-D2E4-BED9-DE472A7BBC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C074A-CDF4-7917-05E4-B72BC142E9C3}"/>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34121882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AECB-D6EF-DA5E-B926-9DC76C99EF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BFF6D0-A892-F89D-20EF-D064E25E1A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48F9E7-CD1A-77E0-34AA-6B1EB80269E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9EA9625-94E6-EE37-EF54-09B991A8E5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3593E-F075-F463-22F7-9CC1B90983F8}"/>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1875653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CF6CD-D005-AEEC-2DC7-E7C81A7AB3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143CC3-E0BC-E6A6-C34E-9E2D18A3F4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7767E-E34A-A338-E607-11CEFA73A6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DCF837-4932-C9AD-D004-72C503E7876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C39EF34-FEB4-316E-858F-DC32323A3F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99B985-4901-9D33-ED04-20CF94DF6507}"/>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31205755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AD28F-AE62-7F1A-92C8-F19B523F53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19E755-3CB4-4382-DB3E-E7FDBD2147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8B96A7-2418-6CDC-0790-523AB26DB1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68A374-DDDF-1270-0D04-CDE98B6E8A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C21E1F-569D-6C4A-8B0D-D8F0AD6E79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44691A-EFFE-31FB-1172-915A5844E26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0724E391-3E56-AB52-B25E-A5E1B5F265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B77E42-3405-84D2-DA86-481C9E6A1305}"/>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939637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0ED78-651B-4C30-453F-0CAA8A7CC4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677024-30EC-ACC7-19CF-D500F060A5C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275A8B51-E7F3-D9EF-BC60-83A6A0A489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17A82C-B329-EF5A-AA0E-475CBB891F14}"/>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3597896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FE30D3-99C3-3D80-86EC-F4E8094FE0B7}"/>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B3C0B06C-2A1B-C3D7-5FAB-234E4BAA69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7FBCF0-C402-BC66-2460-4B3A56E9DD87}"/>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4329478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FD167-3685-38CB-934D-B4938E1DCF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0303E6-21B1-1074-89B4-0788A9E595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42B24B-8FFA-86B5-E687-D8506B8161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949C32-8A08-C261-EA53-A1D6A36ABB99}"/>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866C412-BD5A-2FA0-4907-63D7C24E66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44E60-4941-247B-A691-2ADCC9242B5A}"/>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919067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920F-25ED-4EDB-0B9E-7CE677966A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BF7BED-E3A0-9973-B23C-42916BB4A3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6EA2B6-E663-1179-1ACC-55F393458A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99C4B2-710D-F488-026A-D1F2BC331C4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2966AD5-D625-0CBA-BA41-EBA0E849A6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574463-1EC3-1388-C506-5F3CD9F6AE89}"/>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6428497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C5EB-87E3-5B40-4F50-387E149FC6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F53989-1201-E1D4-FB29-EF0CAC29AA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D76EC6-4193-CD1F-894D-0B5E6659CD5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26F5BF9-2011-E2BB-8573-494192932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AF4736-D663-2CFB-CD8E-AB44216CB7F3}"/>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9812109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A3828D-78D6-1C18-00FD-3B584C7F03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EE1AFF-BBBF-5072-6A79-3212E34840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9A811-349A-D986-738B-9FD6BCDD2F0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CC5B8EC-195F-F0CC-96EA-804DF558F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AFC90-DB3D-6D6C-2B9B-5F33F76C462F}"/>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4244709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6B2F-273C-B94A-A915-E9A49552FD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F59698-9FB0-EAB1-E503-D59BDBE79149}"/>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1F19C09B-0810-2309-7286-F162226EB6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583457-E737-1213-8C21-0EE0273C4AD3}"/>
              </a:ext>
            </a:extLst>
          </p:cNvPr>
          <p:cNvSpPr>
            <a:spLocks noGrp="1"/>
          </p:cNvSpPr>
          <p:nvPr>
            <p:ph type="sldNum" sz="quarter" idx="12"/>
          </p:nvPr>
        </p:nvSpPr>
        <p:spPr/>
        <p:txBody>
          <a:bodyPr/>
          <a:lstStyle/>
          <a:p>
            <a:fld id="{0712DED8-5F82-40B3-8AC3-A7A8E901F97E}" type="slidenum">
              <a:rPr lang="en-US" smtClean="0"/>
              <a:t>‹N°›</a:t>
            </a:fld>
            <a:endParaRPr lang="en-US"/>
          </a:p>
        </p:txBody>
      </p:sp>
    </p:spTree>
    <p:extLst>
      <p:ext uri="{BB962C8B-B14F-4D97-AF65-F5344CB8AC3E}">
        <p14:creationId xmlns:p14="http://schemas.microsoft.com/office/powerpoint/2010/main" val="1745359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F24EF7-B8D9-DB46-00F7-5A339333F8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4F61CB-69A1-C606-61C0-004F978A66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69F2E9-8A0A-4FC7-307E-80098D2A55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32B81356-6FFE-9802-3AE5-F53CFBD54F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166CF3-4ECC-8EA0-6299-98C0CFCA56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6DABA7-C5CC-4612-889C-A09D3482BA66}" type="slidenum">
              <a:rPr lang="en-US" smtClean="0"/>
              <a:t>‹N°›</a:t>
            </a:fld>
            <a:endParaRPr lang="en-US"/>
          </a:p>
        </p:txBody>
      </p:sp>
    </p:spTree>
    <p:extLst>
      <p:ext uri="{BB962C8B-B14F-4D97-AF65-F5344CB8AC3E}">
        <p14:creationId xmlns:p14="http://schemas.microsoft.com/office/powerpoint/2010/main" val="974606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88" r:id="rId13"/>
    <p:sldLayoutId id="2147483689" r:id="rId14"/>
    <p:sldLayoutId id="2147483690"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383595-76A9-2B3A-C9D6-191796AA1A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709291-D6E0-DF33-89FC-534180EF02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656F6B-F672-57D1-A08F-71A1470B21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948BFAE4-02FC-96F0-5049-1B98B18238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9FD933-1726-7B14-26DC-88A1CC7374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12DED8-5F82-40B3-8AC3-A7A8E901F97E}" type="slidenum">
              <a:rPr lang="en-US" smtClean="0"/>
              <a:t>‹N°›</a:t>
            </a:fld>
            <a:endParaRPr lang="en-US"/>
          </a:p>
        </p:txBody>
      </p:sp>
    </p:spTree>
    <p:extLst>
      <p:ext uri="{BB962C8B-B14F-4D97-AF65-F5344CB8AC3E}">
        <p14:creationId xmlns:p14="http://schemas.microsoft.com/office/powerpoint/2010/main" val="8594216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jp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png"/></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26.jp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8.sv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0.sv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2.sv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4.sv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6.sv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42.sv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44.sv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47.png"/><Relationship Id="rId4" Type="http://schemas.openxmlformats.org/officeDocument/2006/relationships/image" Target="../media/image46.sv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49.svg"/></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1"/>
          <p:cNvPicPr preferRelativeResize="0">
            <a:picLocks noGrp="1"/>
          </p:cNvPicPr>
          <p:nvPr>
            <p:ph type="pic" idx="2"/>
          </p:nvPr>
        </p:nvPicPr>
        <p:blipFill rotWithShape="1">
          <a:blip r:embed="rId3">
            <a:alphaModFix/>
          </a:blip>
          <a:srcRect/>
          <a:stretch/>
        </p:blipFill>
        <p:spPr>
          <a:xfrm>
            <a:off x="0" y="0"/>
            <a:ext cx="12192000" cy="6857999"/>
          </a:xfrm>
          <a:prstGeom prst="rect">
            <a:avLst/>
          </a:prstGeom>
          <a:noFill/>
          <a:ln>
            <a:noFill/>
          </a:ln>
        </p:spPr>
      </p:pic>
      <p:sp>
        <p:nvSpPr>
          <p:cNvPr id="123" name="Google Shape;123;p1"/>
          <p:cNvSpPr txBox="1">
            <a:spLocks noGrp="1"/>
          </p:cNvSpPr>
          <p:nvPr>
            <p:ph type="body" idx="1"/>
          </p:nvPr>
        </p:nvSpPr>
        <p:spPr>
          <a:xfrm>
            <a:off x="1861200" y="3871913"/>
            <a:ext cx="5530850" cy="381000"/>
          </a:xfrm>
          <a:prstGeom prst="rect">
            <a:avLst/>
          </a:prstGeom>
          <a:noFill/>
          <a:ln>
            <a:noFill/>
          </a:ln>
        </p:spPr>
        <p:txBody>
          <a:bodyPr spcFirstLastPara="1" wrap="square" lIns="0" tIns="0" rIns="0" bIns="0" anchor="t" anchorCtr="0">
            <a:noAutofit/>
          </a:bodyPr>
          <a:lstStyle/>
          <a:p>
            <a:pPr marL="228600" lvl="0" indent="-228600" algn="l" rtl="0">
              <a:lnSpc>
                <a:spcPct val="90000"/>
              </a:lnSpc>
              <a:spcBef>
                <a:spcPts val="0"/>
              </a:spcBef>
              <a:spcAft>
                <a:spcPts val="0"/>
              </a:spcAft>
              <a:buClr>
                <a:schemeClr val="accent2"/>
              </a:buClr>
              <a:buSzPts val="1600"/>
              <a:buNone/>
            </a:pPr>
            <a:r>
              <a:rPr lang="fr-FR">
                <a:solidFill>
                  <a:schemeClr val="accent2"/>
                </a:solidFill>
              </a:rPr>
              <a:t>Sous-titre ou nom de la personne</a:t>
            </a:r>
            <a:endParaRPr/>
          </a:p>
        </p:txBody>
      </p:sp>
      <p:sp>
        <p:nvSpPr>
          <p:cNvPr id="124" name="Google Shape;124;p1"/>
          <p:cNvSpPr txBox="1">
            <a:spLocks noGrp="1"/>
          </p:cNvSpPr>
          <p:nvPr>
            <p:ph type="body" idx="3"/>
          </p:nvPr>
        </p:nvSpPr>
        <p:spPr>
          <a:xfrm>
            <a:off x="1860550" y="1955804"/>
            <a:ext cx="5529263" cy="1519501"/>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dk1"/>
              </a:buClr>
              <a:buSzPts val="2800"/>
              <a:buNone/>
            </a:pPr>
            <a:r>
              <a:rPr lang="fr-FR" sz="2800"/>
              <a:t>Titre de la présentation sur </a:t>
            </a:r>
            <a:br>
              <a:rPr lang="fr-FR" sz="2800"/>
            </a:br>
            <a:r>
              <a:rPr lang="fr-FR" sz="2800"/>
              <a:t>2 lignes de texte maximum</a:t>
            </a:r>
            <a:endParaRPr/>
          </a:p>
        </p:txBody>
      </p:sp>
      <p:grpSp>
        <p:nvGrpSpPr>
          <p:cNvPr id="125" name="Google Shape;125;p1"/>
          <p:cNvGrpSpPr/>
          <p:nvPr/>
        </p:nvGrpSpPr>
        <p:grpSpPr>
          <a:xfrm>
            <a:off x="698500" y="728662"/>
            <a:ext cx="9985792" cy="5400675"/>
            <a:chOff x="698500" y="728662"/>
            <a:chExt cx="9985792" cy="5400675"/>
          </a:xfrm>
        </p:grpSpPr>
        <p:pic>
          <p:nvPicPr>
            <p:cNvPr id="126" name="Google Shape;126;p1"/>
            <p:cNvPicPr preferRelativeResize="0"/>
            <p:nvPr/>
          </p:nvPicPr>
          <p:blipFill rotWithShape="1">
            <a:blip r:embed="rId4">
              <a:alphaModFix/>
            </a:blip>
            <a:srcRect/>
            <a:stretch/>
          </p:blipFill>
          <p:spPr>
            <a:xfrm>
              <a:off x="698500" y="728662"/>
              <a:ext cx="9985792" cy="5400675"/>
            </a:xfrm>
            <a:prstGeom prst="rect">
              <a:avLst/>
            </a:prstGeom>
            <a:noFill/>
            <a:ln>
              <a:noFill/>
            </a:ln>
          </p:spPr>
        </p:pic>
        <p:pic>
          <p:nvPicPr>
            <p:cNvPr id="127" name="Google Shape;127;p1"/>
            <p:cNvPicPr preferRelativeResize="0"/>
            <p:nvPr/>
          </p:nvPicPr>
          <p:blipFill rotWithShape="1">
            <a:blip r:embed="rId5">
              <a:alphaModFix/>
            </a:blip>
            <a:srcRect/>
            <a:stretch/>
          </p:blipFill>
          <p:spPr>
            <a:xfrm rot="5400000">
              <a:off x="1160378" y="1231861"/>
              <a:ext cx="1300018" cy="1300018"/>
            </a:xfrm>
            <a:prstGeom prst="rect">
              <a:avLst/>
            </a:prstGeom>
            <a:noFill/>
            <a:ln>
              <a:noFill/>
            </a:ln>
          </p:spPr>
        </p:pic>
      </p:grpSp>
      <p:pic>
        <p:nvPicPr>
          <p:cNvPr id="128" name="Google Shape;128;p1"/>
          <p:cNvPicPr preferRelativeResize="0"/>
          <p:nvPr/>
        </p:nvPicPr>
        <p:blipFill rotWithShape="1">
          <a:blip r:embed="rId6">
            <a:alphaModFix/>
          </a:blip>
          <a:srcRect/>
          <a:stretch/>
        </p:blipFill>
        <p:spPr>
          <a:xfrm>
            <a:off x="1860551" y="5436118"/>
            <a:ext cx="1029871" cy="235250"/>
          </a:xfrm>
          <a:prstGeom prst="rect">
            <a:avLst/>
          </a:prstGeom>
          <a:noFill/>
          <a:ln>
            <a:noFill/>
          </a:ln>
        </p:spPr>
      </p:pic>
      <p:pic>
        <p:nvPicPr>
          <p:cNvPr id="129" name="Google Shape;129;p1"/>
          <p:cNvPicPr preferRelativeResize="0"/>
          <p:nvPr/>
        </p:nvPicPr>
        <p:blipFill rotWithShape="1">
          <a:blip r:embed="rId7">
            <a:alphaModFix/>
          </a:blip>
          <a:srcRect/>
          <a:stretch/>
        </p:blipFill>
        <p:spPr>
          <a:xfrm>
            <a:off x="1860550" y="4345736"/>
            <a:ext cx="1619639" cy="669090"/>
          </a:xfrm>
          <a:prstGeom prst="rect">
            <a:avLst/>
          </a:prstGeom>
          <a:noFill/>
          <a:ln>
            <a:noFill/>
          </a:ln>
        </p:spPr>
      </p:pic>
      <p:pic>
        <p:nvPicPr>
          <p:cNvPr id="130" name="Google Shape;130;p1"/>
          <p:cNvPicPr preferRelativeResize="0"/>
          <p:nvPr/>
        </p:nvPicPr>
        <p:blipFill rotWithShape="1">
          <a:blip r:embed="rId8">
            <a:alphaModFix/>
          </a:blip>
          <a:srcRect/>
          <a:stretch/>
        </p:blipFill>
        <p:spPr>
          <a:xfrm>
            <a:off x="4108946" y="5456965"/>
            <a:ext cx="517679" cy="148452"/>
          </a:xfrm>
          <a:prstGeom prst="rect">
            <a:avLst/>
          </a:prstGeom>
          <a:noFill/>
          <a:ln>
            <a:noFill/>
          </a:ln>
        </p:spPr>
      </p:pic>
      <p:pic>
        <p:nvPicPr>
          <p:cNvPr id="131" name="Google Shape;131;p1"/>
          <p:cNvPicPr preferRelativeResize="0"/>
          <p:nvPr/>
        </p:nvPicPr>
        <p:blipFill rotWithShape="1">
          <a:blip r:embed="rId9">
            <a:alphaModFix/>
          </a:blip>
          <a:srcRect/>
          <a:stretch/>
        </p:blipFill>
        <p:spPr>
          <a:xfrm>
            <a:off x="4894607" y="5444061"/>
            <a:ext cx="709967" cy="161355"/>
          </a:xfrm>
          <a:prstGeom prst="rect">
            <a:avLst/>
          </a:prstGeom>
          <a:noFill/>
          <a:ln>
            <a:noFill/>
          </a:ln>
        </p:spPr>
      </p:pic>
      <p:pic>
        <p:nvPicPr>
          <p:cNvPr id="132" name="Google Shape;132;p1"/>
          <p:cNvPicPr preferRelativeResize="0"/>
          <p:nvPr/>
        </p:nvPicPr>
        <p:blipFill rotWithShape="1">
          <a:blip r:embed="rId10">
            <a:alphaModFix/>
          </a:blip>
          <a:srcRect/>
          <a:stretch/>
        </p:blipFill>
        <p:spPr>
          <a:xfrm>
            <a:off x="3176333" y="5440751"/>
            <a:ext cx="607711" cy="201542"/>
          </a:xfrm>
          <a:prstGeom prst="rect">
            <a:avLst/>
          </a:prstGeom>
          <a:noFill/>
          <a:ln>
            <a:noFill/>
          </a:ln>
        </p:spPr>
      </p:pic>
      <p:sp>
        <p:nvSpPr>
          <p:cNvPr id="133" name="Google Shape;133;p1"/>
          <p:cNvSpPr txBox="1"/>
          <p:nvPr/>
        </p:nvSpPr>
        <p:spPr>
          <a:xfrm>
            <a:off x="1861200" y="1920000"/>
            <a:ext cx="5530800" cy="381000"/>
          </a:xfrm>
          <a:prstGeom prst="rect">
            <a:avLst/>
          </a:prstGeom>
          <a:noFill/>
          <a:ln>
            <a:noFill/>
          </a:ln>
        </p:spPr>
        <p:txBody>
          <a:bodyPr spcFirstLastPara="1" wrap="square" lIns="0" tIns="0" rIns="0" bIns="0" anchor="t" anchorCtr="0">
            <a:noAutofit/>
          </a:bodyPr>
          <a:lstStyle/>
          <a:p>
            <a:pPr marL="228600" marR="0" lvl="0" indent="-228600" algn="l" rtl="0">
              <a:lnSpc>
                <a:spcPct val="90000"/>
              </a:lnSpc>
              <a:spcBef>
                <a:spcPts val="0"/>
              </a:spcBef>
              <a:spcAft>
                <a:spcPts val="0"/>
              </a:spcAft>
              <a:buClr>
                <a:schemeClr val="dk1"/>
              </a:buClr>
              <a:buSzPts val="1600"/>
              <a:buFont typeface="Arial"/>
              <a:buNone/>
            </a:pPr>
            <a:r>
              <a:rPr lang="fr-FR" sz="1600" dirty="0">
                <a:solidFill>
                  <a:schemeClr val="dk1"/>
                </a:solidFill>
                <a:latin typeface="Calibri"/>
                <a:ea typeface="Calibri"/>
                <a:cs typeface="Calibri"/>
                <a:sym typeface="Calibri"/>
              </a:rPr>
              <a:t>12.11</a:t>
            </a:r>
            <a:r>
              <a:rPr lang="fr-FR" sz="1600" b="0" i="0" u="none" strike="noStrike" cap="none" dirty="0">
                <a:solidFill>
                  <a:schemeClr val="dk1"/>
                </a:solidFill>
                <a:latin typeface="Calibri"/>
                <a:ea typeface="Calibri"/>
                <a:cs typeface="Calibri"/>
                <a:sym typeface="Calibri"/>
              </a:rPr>
              <a:t>.2025</a:t>
            </a:r>
            <a:endParaRPr dirty="0"/>
          </a:p>
        </p:txBody>
      </p:sp>
      <p:sp>
        <p:nvSpPr>
          <p:cNvPr id="134" name="Google Shape;134;p1"/>
          <p:cNvSpPr txBox="1"/>
          <p:nvPr/>
        </p:nvSpPr>
        <p:spPr>
          <a:xfrm>
            <a:off x="1860550" y="3810206"/>
            <a:ext cx="5530800" cy="381000"/>
          </a:xfrm>
          <a:prstGeom prst="rect">
            <a:avLst/>
          </a:prstGeom>
          <a:noFill/>
          <a:ln>
            <a:noFill/>
          </a:ln>
        </p:spPr>
        <p:txBody>
          <a:bodyPr spcFirstLastPara="1" wrap="square" lIns="0" tIns="0" rIns="0" bIns="0" anchor="t" anchorCtr="0">
            <a:noAutofit/>
          </a:bodyPr>
          <a:lstStyle/>
          <a:p>
            <a:pPr marL="228600" marR="0" lvl="0" indent="-228600" algn="l" rtl="0">
              <a:lnSpc>
                <a:spcPct val="90000"/>
              </a:lnSpc>
              <a:spcBef>
                <a:spcPts val="0"/>
              </a:spcBef>
              <a:spcAft>
                <a:spcPts val="0"/>
              </a:spcAft>
              <a:buClr>
                <a:schemeClr val="accent2"/>
              </a:buClr>
              <a:buSzPts val="1600"/>
              <a:buFont typeface="Arial"/>
              <a:buNone/>
            </a:pPr>
            <a:endParaRPr lang="fr-FR" sz="1600" b="0" i="0" u="none" strike="noStrike" cap="none" dirty="0">
              <a:latin typeface="Calibri"/>
              <a:ea typeface="Calibri"/>
              <a:cs typeface="Calibri"/>
              <a:sym typeface="Calibri"/>
            </a:endParaRPr>
          </a:p>
        </p:txBody>
      </p:sp>
      <p:sp>
        <p:nvSpPr>
          <p:cNvPr id="2" name="Google Shape;135;p1">
            <a:extLst>
              <a:ext uri="{FF2B5EF4-FFF2-40B4-BE49-F238E27FC236}">
                <a16:creationId xmlns:a16="http://schemas.microsoft.com/office/drawing/2014/main" id="{9CB439E2-45C1-778F-FA36-506140CD0231}"/>
              </a:ext>
            </a:extLst>
          </p:cNvPr>
          <p:cNvSpPr txBox="1"/>
          <p:nvPr/>
        </p:nvSpPr>
        <p:spPr>
          <a:xfrm>
            <a:off x="1860550" y="2529411"/>
            <a:ext cx="8025728" cy="94068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dk1"/>
              </a:buClr>
              <a:buSzPts val="2800"/>
              <a:buFont typeface="Arial"/>
              <a:buNone/>
            </a:pPr>
            <a:endParaRPr lang="fr-FR" sz="2800" b="1"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800"/>
              <a:buFont typeface="Arial"/>
              <a:buNone/>
            </a:pPr>
            <a:r>
              <a:rPr lang="fr-FR" sz="2800" b="1" dirty="0">
                <a:solidFill>
                  <a:schemeClr val="dk1"/>
                </a:solidFill>
                <a:latin typeface="Calibri"/>
                <a:ea typeface="Calibri"/>
                <a:cs typeface="Calibri"/>
                <a:sym typeface="Calibri"/>
              </a:rPr>
              <a:t>FASC – Avancée projet</a:t>
            </a:r>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20A90B6F-2F2D-BF17-0BD3-3D4D037C89D7}"/>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37A3C9EA-950C-AAAB-37EC-FE5332EE075A}"/>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Method – General overview</a:t>
            </a:r>
            <a:endParaRPr dirty="0"/>
          </a:p>
        </p:txBody>
      </p:sp>
      <p:sp>
        <p:nvSpPr>
          <p:cNvPr id="239" name="Google Shape;239;p13">
            <a:extLst>
              <a:ext uri="{FF2B5EF4-FFF2-40B4-BE49-F238E27FC236}">
                <a16:creationId xmlns:a16="http://schemas.microsoft.com/office/drawing/2014/main" id="{33AB336D-F614-4BF0-D408-50580652D8E4}"/>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a:t>
            </a:fld>
            <a:endParaRPr/>
          </a:p>
        </p:txBody>
      </p:sp>
      <p:pic>
        <p:nvPicPr>
          <p:cNvPr id="1026" name="Picture 2">
            <a:extLst>
              <a:ext uri="{FF2B5EF4-FFF2-40B4-BE49-F238E27FC236}">
                <a16:creationId xmlns:a16="http://schemas.microsoft.com/office/drawing/2014/main" id="{7C639269-2845-A15E-BFAF-593B8F3230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49" y="2125508"/>
            <a:ext cx="2087030" cy="6476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2B1C7D0-A483-A245-5FEC-0C3688A7A9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3776" y="2494840"/>
            <a:ext cx="2321406" cy="548696"/>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ABA70C1E-7812-9F7B-ACFA-4714F8B28A17}"/>
              </a:ext>
            </a:extLst>
          </p:cNvPr>
          <p:cNvSpPr txBox="1"/>
          <p:nvPr/>
        </p:nvSpPr>
        <p:spPr>
          <a:xfrm>
            <a:off x="739259" y="1509094"/>
            <a:ext cx="1640385" cy="369332"/>
          </a:xfrm>
          <a:prstGeom prst="rect">
            <a:avLst/>
          </a:prstGeom>
          <a:solidFill>
            <a:schemeClr val="bg2">
              <a:lumMod val="90000"/>
            </a:schemeClr>
          </a:solidFill>
        </p:spPr>
        <p:txBody>
          <a:bodyPr wrap="none" rtlCol="0">
            <a:spAutoFit/>
          </a:bodyPr>
          <a:lstStyle/>
          <a:p>
            <a:r>
              <a:rPr lang="en-US" b="1" dirty="0"/>
              <a:t>PRODUCTION</a:t>
            </a:r>
            <a:endParaRPr lang="fr-FR" b="1" dirty="0"/>
          </a:p>
        </p:txBody>
      </p:sp>
      <p:sp>
        <p:nvSpPr>
          <p:cNvPr id="5" name="ZoneTexte 4">
            <a:extLst>
              <a:ext uri="{FF2B5EF4-FFF2-40B4-BE49-F238E27FC236}">
                <a16:creationId xmlns:a16="http://schemas.microsoft.com/office/drawing/2014/main" id="{5EFC9421-70F9-8F86-8038-E79B71E9A833}"/>
              </a:ext>
            </a:extLst>
          </p:cNvPr>
          <p:cNvSpPr txBox="1"/>
          <p:nvPr/>
        </p:nvSpPr>
        <p:spPr>
          <a:xfrm>
            <a:off x="7552830" y="1522875"/>
            <a:ext cx="1143262" cy="369332"/>
          </a:xfrm>
          <a:prstGeom prst="rect">
            <a:avLst/>
          </a:prstGeom>
          <a:solidFill>
            <a:schemeClr val="bg2">
              <a:lumMod val="90000"/>
            </a:schemeClr>
          </a:solidFill>
        </p:spPr>
        <p:txBody>
          <a:bodyPr wrap="none" rtlCol="0">
            <a:spAutoFit/>
          </a:bodyPr>
          <a:lstStyle/>
          <a:p>
            <a:r>
              <a:rPr lang="en-US" b="1" dirty="0"/>
              <a:t>DEMAND</a:t>
            </a:r>
            <a:endParaRPr lang="fr-FR" b="1" dirty="0"/>
          </a:p>
        </p:txBody>
      </p:sp>
      <p:sp>
        <p:nvSpPr>
          <p:cNvPr id="6" name="Cylindre 5">
            <a:extLst>
              <a:ext uri="{FF2B5EF4-FFF2-40B4-BE49-F238E27FC236}">
                <a16:creationId xmlns:a16="http://schemas.microsoft.com/office/drawing/2014/main" id="{F9CAD591-A90B-80A8-2EC1-01D88A8837C5}"/>
              </a:ext>
            </a:extLst>
          </p:cNvPr>
          <p:cNvSpPr/>
          <p:nvPr/>
        </p:nvSpPr>
        <p:spPr>
          <a:xfrm>
            <a:off x="10455119" y="2717305"/>
            <a:ext cx="1039948" cy="1252862"/>
          </a:xfrm>
          <a:prstGeom prst="can">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Material intensity DB</a:t>
            </a:r>
            <a:endParaRPr lang="fr-FR" sz="1600" dirty="0">
              <a:solidFill>
                <a:schemeClr val="tx1"/>
              </a:solidFill>
            </a:endParaRPr>
          </a:p>
        </p:txBody>
      </p:sp>
      <p:sp>
        <p:nvSpPr>
          <p:cNvPr id="7" name="ZoneTexte 6">
            <a:extLst>
              <a:ext uri="{FF2B5EF4-FFF2-40B4-BE49-F238E27FC236}">
                <a16:creationId xmlns:a16="http://schemas.microsoft.com/office/drawing/2014/main" id="{35BF921B-6CB5-B9BB-AB96-35345314CE47}"/>
              </a:ext>
            </a:extLst>
          </p:cNvPr>
          <p:cNvSpPr txBox="1"/>
          <p:nvPr/>
        </p:nvSpPr>
        <p:spPr>
          <a:xfrm>
            <a:off x="7608924" y="2125508"/>
            <a:ext cx="852926" cy="369332"/>
          </a:xfrm>
          <a:prstGeom prst="rect">
            <a:avLst/>
          </a:prstGeom>
          <a:noFill/>
        </p:spPr>
        <p:txBody>
          <a:bodyPr wrap="none" rtlCol="0">
            <a:spAutoFit/>
          </a:bodyPr>
          <a:lstStyle/>
          <a:p>
            <a:r>
              <a:rPr lang="en-US" dirty="0"/>
              <a:t>Energy</a:t>
            </a:r>
            <a:endParaRPr lang="fr-FR" dirty="0"/>
          </a:p>
        </p:txBody>
      </p:sp>
      <p:sp>
        <p:nvSpPr>
          <p:cNvPr id="8" name="ZoneTexte 7">
            <a:extLst>
              <a:ext uri="{FF2B5EF4-FFF2-40B4-BE49-F238E27FC236}">
                <a16:creationId xmlns:a16="http://schemas.microsoft.com/office/drawing/2014/main" id="{B2A5A5D7-E6D3-11AE-313F-C81A7660BED7}"/>
              </a:ext>
            </a:extLst>
          </p:cNvPr>
          <p:cNvSpPr txBox="1"/>
          <p:nvPr/>
        </p:nvSpPr>
        <p:spPr>
          <a:xfrm>
            <a:off x="7849578" y="3428395"/>
            <a:ext cx="549766" cy="369332"/>
          </a:xfrm>
          <a:prstGeom prst="rect">
            <a:avLst/>
          </a:prstGeom>
          <a:noFill/>
        </p:spPr>
        <p:txBody>
          <a:bodyPr wrap="none" rtlCol="0">
            <a:spAutoFit/>
          </a:bodyPr>
          <a:lstStyle/>
          <a:p>
            <a:r>
              <a:rPr lang="en-US" dirty="0"/>
              <a:t>EVs</a:t>
            </a:r>
            <a:endParaRPr lang="fr-FR" dirty="0"/>
          </a:p>
        </p:txBody>
      </p:sp>
      <p:pic>
        <p:nvPicPr>
          <p:cNvPr id="10" name="Image 9">
            <a:extLst>
              <a:ext uri="{FF2B5EF4-FFF2-40B4-BE49-F238E27FC236}">
                <a16:creationId xmlns:a16="http://schemas.microsoft.com/office/drawing/2014/main" id="{EAA3315B-C343-546A-EB2B-20B5B1D13E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3776" y="3832195"/>
            <a:ext cx="2161370" cy="1252862"/>
          </a:xfrm>
          <a:prstGeom prst="rect">
            <a:avLst/>
          </a:prstGeom>
        </p:spPr>
      </p:pic>
      <p:cxnSp>
        <p:nvCxnSpPr>
          <p:cNvPr id="18" name="Connecteur droit avec flèche 17">
            <a:extLst>
              <a:ext uri="{FF2B5EF4-FFF2-40B4-BE49-F238E27FC236}">
                <a16:creationId xmlns:a16="http://schemas.microsoft.com/office/drawing/2014/main" id="{25770032-8104-D238-6093-7701EAC3C9AE}"/>
              </a:ext>
            </a:extLst>
          </p:cNvPr>
          <p:cNvCxnSpPr/>
          <p:nvPr/>
        </p:nvCxnSpPr>
        <p:spPr>
          <a:xfrm>
            <a:off x="9423699" y="2837269"/>
            <a:ext cx="892885" cy="35775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eur droit avec flèche 18">
            <a:extLst>
              <a:ext uri="{FF2B5EF4-FFF2-40B4-BE49-F238E27FC236}">
                <a16:creationId xmlns:a16="http://schemas.microsoft.com/office/drawing/2014/main" id="{EDC93A9F-4138-8A10-FB6E-A6078BD2E520}"/>
              </a:ext>
            </a:extLst>
          </p:cNvPr>
          <p:cNvCxnSpPr>
            <a:cxnSpLocks/>
          </p:cNvCxnSpPr>
          <p:nvPr/>
        </p:nvCxnSpPr>
        <p:spPr>
          <a:xfrm flipV="1">
            <a:off x="9423699" y="3463700"/>
            <a:ext cx="892885" cy="268679"/>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Flèche : double flèche horizontale 20">
            <a:extLst>
              <a:ext uri="{FF2B5EF4-FFF2-40B4-BE49-F238E27FC236}">
                <a16:creationId xmlns:a16="http://schemas.microsoft.com/office/drawing/2014/main" id="{9E61FED8-B258-A790-37CA-920902CC7A95}"/>
              </a:ext>
            </a:extLst>
          </p:cNvPr>
          <p:cNvSpPr/>
          <p:nvPr/>
        </p:nvSpPr>
        <p:spPr>
          <a:xfrm>
            <a:off x="4218907" y="2717305"/>
            <a:ext cx="1968649" cy="32623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EF398CC8-CE28-13A8-6192-FEDFC0D584DD}"/>
              </a:ext>
            </a:extLst>
          </p:cNvPr>
          <p:cNvSpPr txBox="1"/>
          <p:nvPr/>
        </p:nvSpPr>
        <p:spPr>
          <a:xfrm>
            <a:off x="585349" y="3692305"/>
            <a:ext cx="2658741" cy="923330"/>
          </a:xfrm>
          <a:prstGeom prst="rect">
            <a:avLst/>
          </a:prstGeom>
          <a:noFill/>
        </p:spPr>
        <p:txBody>
          <a:bodyPr wrap="none" rtlCol="0">
            <a:spAutoFit/>
          </a:bodyPr>
          <a:lstStyle/>
          <a:p>
            <a:r>
              <a:rPr lang="fr-FR" b="1" dirty="0"/>
              <a:t>2 production scenarios:</a:t>
            </a:r>
            <a:endParaRPr lang="fr-FR" dirty="0"/>
          </a:p>
          <a:p>
            <a:r>
              <a:rPr lang="fr-FR" dirty="0"/>
              <a:t>-</a:t>
            </a:r>
            <a:r>
              <a:rPr lang="fr-FR" dirty="0" err="1"/>
              <a:t>Existing</a:t>
            </a:r>
            <a:r>
              <a:rPr lang="fr-FR" dirty="0"/>
              <a:t> production</a:t>
            </a:r>
          </a:p>
          <a:p>
            <a:r>
              <a:rPr lang="fr-FR" dirty="0"/>
              <a:t>-</a:t>
            </a:r>
            <a:r>
              <a:rPr lang="fr-FR" dirty="0" err="1"/>
              <a:t>Potential</a:t>
            </a:r>
            <a:r>
              <a:rPr lang="fr-FR" dirty="0"/>
              <a:t> production</a:t>
            </a:r>
          </a:p>
        </p:txBody>
      </p:sp>
      <p:sp>
        <p:nvSpPr>
          <p:cNvPr id="23" name="ZoneTexte 22">
            <a:extLst>
              <a:ext uri="{FF2B5EF4-FFF2-40B4-BE49-F238E27FC236}">
                <a16:creationId xmlns:a16="http://schemas.microsoft.com/office/drawing/2014/main" id="{4C7BF98D-9E0F-3A86-294C-E4692BAAEF65}"/>
              </a:ext>
            </a:extLst>
          </p:cNvPr>
          <p:cNvSpPr txBox="1"/>
          <p:nvPr/>
        </p:nvSpPr>
        <p:spPr>
          <a:xfrm>
            <a:off x="526869" y="2717305"/>
            <a:ext cx="2224391" cy="369332"/>
          </a:xfrm>
          <a:prstGeom prst="rect">
            <a:avLst/>
          </a:prstGeom>
          <a:noFill/>
        </p:spPr>
        <p:txBody>
          <a:bodyPr wrap="none" rtlCol="0">
            <a:spAutoFit/>
          </a:bodyPr>
          <a:lstStyle/>
          <a:p>
            <a:r>
              <a:rPr lang="fr-FR" b="1" dirty="0"/>
              <a:t>Cu, Co, Li, Ni, C, Nd</a:t>
            </a:r>
            <a:endParaRPr lang="fr-FR" dirty="0"/>
          </a:p>
        </p:txBody>
      </p:sp>
      <p:sp>
        <p:nvSpPr>
          <p:cNvPr id="24" name="ZoneTexte 23">
            <a:extLst>
              <a:ext uri="{FF2B5EF4-FFF2-40B4-BE49-F238E27FC236}">
                <a16:creationId xmlns:a16="http://schemas.microsoft.com/office/drawing/2014/main" id="{9C413596-C5D3-3D19-8A85-50C3DC93CEE9}"/>
              </a:ext>
            </a:extLst>
          </p:cNvPr>
          <p:cNvSpPr txBox="1"/>
          <p:nvPr/>
        </p:nvSpPr>
        <p:spPr>
          <a:xfrm>
            <a:off x="3917660" y="1742467"/>
            <a:ext cx="2731838" cy="923330"/>
          </a:xfrm>
          <a:prstGeom prst="rect">
            <a:avLst/>
          </a:prstGeom>
          <a:noFill/>
        </p:spPr>
        <p:txBody>
          <a:bodyPr wrap="none" rtlCol="0">
            <a:spAutoFit/>
          </a:bodyPr>
          <a:lstStyle/>
          <a:p>
            <a:pPr algn="ctr"/>
            <a:r>
              <a:rPr lang="en-US" i="1" dirty="0"/>
              <a:t>Self-sufficiency?</a:t>
            </a:r>
          </a:p>
          <a:p>
            <a:pPr algn="ctr"/>
            <a:r>
              <a:rPr lang="en-US" i="1" dirty="0"/>
              <a:t>NYMBY?</a:t>
            </a:r>
          </a:p>
          <a:p>
            <a:pPr algn="ctr"/>
            <a:r>
              <a:rPr lang="en-US" i="1" dirty="0" err="1"/>
              <a:t>Relocalisation</a:t>
            </a:r>
            <a:r>
              <a:rPr lang="en-US" i="1" dirty="0"/>
              <a:t> scenarios?</a:t>
            </a:r>
            <a:endParaRPr lang="fr-FR" i="1" dirty="0"/>
          </a:p>
        </p:txBody>
      </p:sp>
    </p:spTree>
    <p:extLst>
      <p:ext uri="{BB962C8B-B14F-4D97-AF65-F5344CB8AC3E}">
        <p14:creationId xmlns:p14="http://schemas.microsoft.com/office/powerpoint/2010/main" val="1893160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P spid="21" grpId="0" animBg="1"/>
      <p:bldP spid="2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04CFD3AF-2791-7272-F34F-4A0A01FDC428}"/>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DDB29FB0-4BD7-2191-0A73-7699A7D64153}"/>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b="1" dirty="0">
                <a:solidFill>
                  <a:schemeClr val="tx1"/>
                </a:solidFill>
              </a:rPr>
              <a:t>1) Production scenarios from Canadian Climate Institute</a:t>
            </a:r>
          </a:p>
          <a:p>
            <a:pPr marL="342900" indent="-342900">
              <a:spcBef>
                <a:spcPts val="0"/>
              </a:spcBef>
              <a:buFont typeface="Arial" panose="020B0604020202020204" pitchFamily="34" charset="0"/>
              <a:buChar char="•"/>
            </a:pPr>
            <a:r>
              <a:rPr lang="en-US" sz="1800" dirty="0">
                <a:solidFill>
                  <a:schemeClr val="tx1"/>
                </a:solidFill>
              </a:rPr>
              <a:t>2 scenarios: existing production and production potential</a:t>
            </a:r>
          </a:p>
          <a:p>
            <a:pPr marL="342900" indent="-342900">
              <a:spcBef>
                <a:spcPts val="0"/>
              </a:spcBef>
              <a:buFont typeface="Arial" panose="020B0604020202020204" pitchFamily="34" charset="0"/>
              <a:buChar char="•"/>
            </a:pPr>
            <a:r>
              <a:rPr lang="en-US" sz="1800" dirty="0">
                <a:solidFill>
                  <a:schemeClr val="tx1"/>
                </a:solidFill>
              </a:rPr>
              <a:t>6 metals covered: Cu, Co, Ni, Li, </a:t>
            </a:r>
          </a:p>
          <a:p>
            <a:pPr marL="342900" indent="-342900">
              <a:spcBef>
                <a:spcPts val="0"/>
              </a:spcBef>
              <a:buFont typeface="Arial" panose="020B0604020202020204" pitchFamily="34" charset="0"/>
              <a:buChar char="•"/>
            </a:pPr>
            <a:r>
              <a:rPr lang="en-US" sz="1800" dirty="0">
                <a:solidFill>
                  <a:schemeClr val="tx1"/>
                </a:solidFill>
              </a:rPr>
              <a:t>Yearly data 2020-2040</a:t>
            </a:r>
          </a:p>
          <a:p>
            <a:pPr marL="0" indent="0">
              <a:spcBef>
                <a:spcPts val="0"/>
              </a:spcBef>
            </a:pPr>
            <a:endParaRPr lang="en-US" sz="1800" dirty="0">
              <a:solidFill>
                <a:schemeClr val="tx1"/>
              </a:solidFill>
            </a:endParaRPr>
          </a:p>
          <a:p>
            <a:pPr marL="0" indent="0">
              <a:spcBef>
                <a:spcPts val="0"/>
              </a:spcBef>
            </a:pPr>
            <a:r>
              <a:rPr lang="en-US" sz="1800" b="1" dirty="0">
                <a:solidFill>
                  <a:schemeClr val="tx1"/>
                </a:solidFill>
              </a:rPr>
              <a:t>2) Scenarios from Canada Energy Regulator</a:t>
            </a:r>
          </a:p>
          <a:p>
            <a:pPr marL="342900" indent="-342900">
              <a:spcBef>
                <a:spcPts val="0"/>
              </a:spcBef>
              <a:buFont typeface="Arial" panose="020B0604020202020204" pitchFamily="34" charset="0"/>
              <a:buChar char="•"/>
            </a:pPr>
            <a:r>
              <a:rPr lang="en-US" sz="1800" dirty="0">
                <a:solidFill>
                  <a:schemeClr val="tx1"/>
                </a:solidFill>
              </a:rPr>
              <a:t>3 scenarios: current measures, Canada net-zero and Global net-zero</a:t>
            </a:r>
          </a:p>
          <a:p>
            <a:pPr marL="342900" indent="-342900">
              <a:spcBef>
                <a:spcPts val="0"/>
              </a:spcBef>
              <a:buFont typeface="Arial" panose="020B0604020202020204" pitchFamily="34" charset="0"/>
              <a:buChar char="•"/>
            </a:pPr>
            <a:r>
              <a:rPr lang="en-US" sz="1800" dirty="0">
                <a:solidFill>
                  <a:schemeClr val="tx1"/>
                </a:solidFill>
              </a:rPr>
              <a:t>Energy sector</a:t>
            </a:r>
          </a:p>
          <a:p>
            <a:pPr marL="342900" indent="-342900">
              <a:spcBef>
                <a:spcPts val="0"/>
              </a:spcBef>
              <a:buFont typeface="Arial" panose="020B0604020202020204" pitchFamily="34" charset="0"/>
              <a:buChar char="•"/>
            </a:pPr>
            <a:r>
              <a:rPr lang="en-US" sz="1800" dirty="0">
                <a:solidFill>
                  <a:schemeClr val="tx1"/>
                </a:solidFill>
              </a:rPr>
              <a:t>Yearly data 2020-2050</a:t>
            </a:r>
          </a:p>
          <a:p>
            <a:pPr marL="342900" indent="-342900">
              <a:spcBef>
                <a:spcPts val="0"/>
              </a:spcBef>
              <a:buFont typeface="Arial" panose="020B0604020202020204" pitchFamily="34" charset="0"/>
              <a:buChar char="•"/>
            </a:pPr>
            <a:endParaRPr lang="en-US" sz="1800" dirty="0">
              <a:solidFill>
                <a:schemeClr val="tx1"/>
              </a:solidFill>
            </a:endParaRPr>
          </a:p>
          <a:p>
            <a:pPr marL="0" indent="0">
              <a:spcBef>
                <a:spcPts val="0"/>
              </a:spcBef>
            </a:pPr>
            <a:r>
              <a:rPr lang="en-US" sz="1800" b="1" dirty="0">
                <a:solidFill>
                  <a:schemeClr val="tx1"/>
                </a:solidFill>
              </a:rPr>
              <a:t>3) </a:t>
            </a:r>
            <a:r>
              <a:rPr lang="en-CA" sz="1800" b="1" dirty="0">
                <a:solidFill>
                  <a:schemeClr val="tx1"/>
                </a:solidFill>
              </a:rPr>
              <a:t>EVs calculation</a:t>
            </a:r>
          </a:p>
          <a:p>
            <a:pPr marL="342900" indent="-342900">
              <a:spcBef>
                <a:spcPts val="0"/>
              </a:spcBef>
              <a:buFont typeface="Arial" panose="020B0604020202020204" pitchFamily="34" charset="0"/>
              <a:buChar char="•"/>
            </a:pPr>
            <a:r>
              <a:rPr lang="en-CA" sz="1800" dirty="0">
                <a:solidFill>
                  <a:schemeClr val="tx1"/>
                </a:solidFill>
              </a:rPr>
              <a:t>EV sales in Canada in 2024 by mode and powertrain (from IEA)</a:t>
            </a:r>
          </a:p>
          <a:p>
            <a:pPr marL="342900" indent="-342900">
              <a:spcBef>
                <a:spcPts val="0"/>
              </a:spcBef>
              <a:buFont typeface="Arial" panose="020B0604020202020204" pitchFamily="34" charset="0"/>
              <a:buChar char="•"/>
            </a:pPr>
            <a:r>
              <a:rPr lang="en-CA" sz="1800" dirty="0">
                <a:solidFill>
                  <a:schemeClr val="tx1"/>
                </a:solidFill>
              </a:rPr>
              <a:t>Average size of vehicles (from SAQ)</a:t>
            </a:r>
          </a:p>
          <a:p>
            <a:pPr marL="342900" indent="-342900">
              <a:spcBef>
                <a:spcPts val="0"/>
              </a:spcBef>
              <a:buFont typeface="Arial" panose="020B0604020202020204" pitchFamily="34" charset="0"/>
              <a:buChar char="•"/>
            </a:pPr>
            <a:r>
              <a:rPr lang="en-CA" sz="1800" dirty="0">
                <a:solidFill>
                  <a:schemeClr val="tx1"/>
                </a:solidFill>
              </a:rPr>
              <a:t>Battery capacity (mixed sources) and battery chemistry mix (IRENA)</a:t>
            </a:r>
          </a:p>
          <a:p>
            <a:pPr marL="0" indent="0">
              <a:spcBef>
                <a:spcPts val="0"/>
              </a:spcBef>
            </a:pPr>
            <a:r>
              <a:rPr lang="en-CA" sz="1800" dirty="0">
                <a:solidFill>
                  <a:schemeClr val="tx1"/>
                </a:solidFill>
              </a:rPr>
              <a:t> </a:t>
            </a:r>
          </a:p>
          <a:p>
            <a:pPr marL="0" indent="0">
              <a:spcBef>
                <a:spcPts val="0"/>
              </a:spcBef>
            </a:pPr>
            <a:r>
              <a:rPr lang="en-US" sz="1800" b="1" dirty="0">
                <a:solidFill>
                  <a:schemeClr val="tx1"/>
                </a:solidFill>
              </a:rPr>
              <a:t>4) </a:t>
            </a:r>
            <a:r>
              <a:rPr lang="en-CA" sz="1800" b="1" dirty="0">
                <a:solidFill>
                  <a:schemeClr val="tx1"/>
                </a:solidFill>
              </a:rPr>
              <a:t>Material intensity</a:t>
            </a:r>
          </a:p>
          <a:p>
            <a:pPr marL="342900" indent="-342900">
              <a:spcBef>
                <a:spcPts val="0"/>
              </a:spcBef>
              <a:buFont typeface="Arial" panose="020B0604020202020204" pitchFamily="34" charset="0"/>
              <a:buChar char="•"/>
            </a:pPr>
            <a:r>
              <a:rPr lang="en-CA" sz="1800" dirty="0">
                <a:solidFill>
                  <a:schemeClr val="tx1"/>
                </a:solidFill>
              </a:rPr>
              <a:t>From Penelope + CCS from Watari et al. 2019</a:t>
            </a:r>
          </a:p>
        </p:txBody>
      </p:sp>
      <p:sp>
        <p:nvSpPr>
          <p:cNvPr id="238" name="Google Shape;238;p13">
            <a:extLst>
              <a:ext uri="{FF2B5EF4-FFF2-40B4-BE49-F238E27FC236}">
                <a16:creationId xmlns:a16="http://schemas.microsoft.com/office/drawing/2014/main" id="{72C9F45C-FEB8-4243-9451-D90222D29C83}"/>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Method – General overview</a:t>
            </a:r>
            <a:endParaRPr dirty="0"/>
          </a:p>
        </p:txBody>
      </p:sp>
      <p:sp>
        <p:nvSpPr>
          <p:cNvPr id="239" name="Google Shape;239;p13">
            <a:extLst>
              <a:ext uri="{FF2B5EF4-FFF2-40B4-BE49-F238E27FC236}">
                <a16:creationId xmlns:a16="http://schemas.microsoft.com/office/drawing/2014/main" id="{639C3D0A-F3F2-9737-9FAE-63F90B2FA45D}"/>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3</a:t>
            </a:fld>
            <a:endParaRPr/>
          </a:p>
        </p:txBody>
      </p:sp>
    </p:spTree>
    <p:extLst>
      <p:ext uri="{BB962C8B-B14F-4D97-AF65-F5344CB8AC3E}">
        <p14:creationId xmlns:p14="http://schemas.microsoft.com/office/powerpoint/2010/main" val="416198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456F25CF-9189-7DE9-B09B-09B007DF4C24}"/>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05948530-E313-46FC-6035-E882454B9D57}"/>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b="1" dirty="0">
                <a:solidFill>
                  <a:schemeClr val="tx1"/>
                </a:solidFill>
              </a:rPr>
              <a:t>1) Production scenarios from Canadian Climate Institute</a:t>
            </a:r>
          </a:p>
          <a:p>
            <a:pPr marL="285750" indent="-285750">
              <a:spcBef>
                <a:spcPts val="0"/>
              </a:spcBef>
              <a:buFont typeface="Arial" panose="020B0604020202020204" pitchFamily="34" charset="0"/>
              <a:buChar char="•"/>
            </a:pPr>
            <a:r>
              <a:rPr lang="en-US" sz="1800" dirty="0">
                <a:solidFill>
                  <a:schemeClr val="tx1"/>
                </a:solidFill>
              </a:rPr>
              <a:t>Existing production: production forecasted by mines currently at the production stage</a:t>
            </a:r>
          </a:p>
          <a:p>
            <a:pPr marL="285750" indent="-285750">
              <a:spcBef>
                <a:spcPts val="0"/>
              </a:spcBef>
              <a:buFont typeface="Arial" panose="020B0604020202020204" pitchFamily="34" charset="0"/>
              <a:buChar char="•"/>
            </a:pPr>
            <a:endParaRPr lang="en-US" sz="1800" dirty="0">
              <a:solidFill>
                <a:schemeClr val="tx1"/>
              </a:solidFill>
            </a:endParaRPr>
          </a:p>
          <a:p>
            <a:pPr marL="285750" indent="-285750">
              <a:spcBef>
                <a:spcPts val="0"/>
              </a:spcBef>
              <a:buFont typeface="Arial" panose="020B0604020202020204" pitchFamily="34" charset="0"/>
              <a:buChar char="•"/>
            </a:pPr>
            <a:r>
              <a:rPr lang="en-US" sz="1800" dirty="0">
                <a:solidFill>
                  <a:schemeClr val="tx1"/>
                </a:solidFill>
              </a:rPr>
              <a:t>Production potential: production forecasts from mines at the feasibility, preproduction or production stage </a:t>
            </a:r>
          </a:p>
          <a:p>
            <a:pPr marL="0" indent="0">
              <a:spcBef>
                <a:spcPts val="0"/>
              </a:spcBef>
            </a:pPr>
            <a:endParaRPr lang="en-US" sz="1800" dirty="0">
              <a:solidFill>
                <a:schemeClr val="tx1"/>
              </a:solidFill>
            </a:endParaRPr>
          </a:p>
          <a:p>
            <a:pPr marL="0" indent="0">
              <a:spcBef>
                <a:spcPts val="0"/>
              </a:spcBef>
            </a:pPr>
            <a:endParaRPr lang="en-US" sz="1800" dirty="0">
              <a:solidFill>
                <a:schemeClr val="tx1"/>
              </a:solidFill>
            </a:endParaRPr>
          </a:p>
          <a:p>
            <a:pPr marL="0" indent="0">
              <a:spcBef>
                <a:spcPts val="0"/>
              </a:spcBef>
            </a:pPr>
            <a:endParaRPr lang="en-US" sz="1800" dirty="0">
              <a:solidFill>
                <a:schemeClr val="tx1"/>
              </a:solidFill>
            </a:endParaRPr>
          </a:p>
          <a:p>
            <a:pPr marL="0" indent="0">
              <a:spcBef>
                <a:spcPts val="0"/>
              </a:spcBef>
            </a:pPr>
            <a:r>
              <a:rPr lang="en-US" sz="1800" b="1" dirty="0">
                <a:solidFill>
                  <a:schemeClr val="tx1"/>
                </a:solidFill>
              </a:rPr>
              <a:t>2) Scenarios from Canada Energy Regulator</a:t>
            </a:r>
          </a:p>
          <a:p>
            <a:pPr marL="342900" indent="-342900">
              <a:spcBef>
                <a:spcPts val="0"/>
              </a:spcBef>
              <a:buFont typeface="Arial" panose="020B0604020202020204" pitchFamily="34" charset="0"/>
              <a:buChar char="•"/>
            </a:pPr>
            <a:r>
              <a:rPr lang="en-US" sz="1800" dirty="0">
                <a:solidFill>
                  <a:schemeClr val="tx1"/>
                </a:solidFill>
              </a:rPr>
              <a:t>Current Measures: Limited action in Canada to reduce GHG emissions beyond measures in place today and does not require that Canada achieve net-zero emissions</a:t>
            </a:r>
          </a:p>
          <a:p>
            <a:pPr marL="342900" indent="-342900">
              <a:spcBef>
                <a:spcPts val="0"/>
              </a:spcBef>
              <a:buFont typeface="Arial" panose="020B0604020202020204" pitchFamily="34" charset="0"/>
              <a:buChar char="•"/>
            </a:pPr>
            <a:endParaRPr lang="en-US" sz="1800" dirty="0">
              <a:solidFill>
                <a:schemeClr val="tx1"/>
              </a:solidFill>
            </a:endParaRPr>
          </a:p>
          <a:p>
            <a:pPr marL="342900" indent="-342900">
              <a:spcBef>
                <a:spcPts val="0"/>
              </a:spcBef>
              <a:buFont typeface="Arial" panose="020B0604020202020204" pitchFamily="34" charset="0"/>
              <a:buChar char="•"/>
            </a:pPr>
            <a:r>
              <a:rPr lang="en-US" sz="1800" dirty="0">
                <a:solidFill>
                  <a:schemeClr val="tx1"/>
                </a:solidFill>
              </a:rPr>
              <a:t>Canada Net-zero: Canada achieves net-zero emissions by 2050 but rest of the world moves more slowly to reduce GHG emissions.</a:t>
            </a:r>
          </a:p>
          <a:p>
            <a:pPr marL="342900" indent="-342900">
              <a:spcBef>
                <a:spcPts val="0"/>
              </a:spcBef>
              <a:buFont typeface="Arial" panose="020B0604020202020204" pitchFamily="34" charset="0"/>
              <a:buChar char="•"/>
            </a:pPr>
            <a:endParaRPr lang="en-US" sz="1800" dirty="0">
              <a:solidFill>
                <a:schemeClr val="tx1"/>
              </a:solidFill>
            </a:endParaRPr>
          </a:p>
          <a:p>
            <a:pPr marL="342900" indent="-342900">
              <a:spcBef>
                <a:spcPts val="0"/>
              </a:spcBef>
              <a:buFont typeface="Arial" panose="020B0604020202020204" pitchFamily="34" charset="0"/>
              <a:buChar char="•"/>
            </a:pPr>
            <a:r>
              <a:rPr lang="en-US" sz="1800" dirty="0">
                <a:solidFill>
                  <a:schemeClr val="tx1"/>
                </a:solidFill>
              </a:rPr>
              <a:t>Global Net-zero: Canada achieves net-zero emissions by 2050 and the rest of the world reduces emissions enough to limit warming to 1.5°C, by 2050</a:t>
            </a:r>
          </a:p>
          <a:p>
            <a:pPr marL="342900" indent="-342900">
              <a:spcBef>
                <a:spcPts val="0"/>
              </a:spcBef>
              <a:buFont typeface="Arial" panose="020B0604020202020204" pitchFamily="34" charset="0"/>
              <a:buChar char="•"/>
            </a:pPr>
            <a:endParaRPr lang="en-US" sz="1800" dirty="0">
              <a:solidFill>
                <a:schemeClr val="tx1"/>
              </a:solidFill>
            </a:endParaRPr>
          </a:p>
        </p:txBody>
      </p:sp>
      <p:sp>
        <p:nvSpPr>
          <p:cNvPr id="238" name="Google Shape;238;p13">
            <a:extLst>
              <a:ext uri="{FF2B5EF4-FFF2-40B4-BE49-F238E27FC236}">
                <a16:creationId xmlns:a16="http://schemas.microsoft.com/office/drawing/2014/main" id="{E334E247-7CA8-A569-61DF-0AF8AEDB4D7C}"/>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Method – Scenarios</a:t>
            </a:r>
            <a:endParaRPr dirty="0"/>
          </a:p>
        </p:txBody>
      </p:sp>
      <p:sp>
        <p:nvSpPr>
          <p:cNvPr id="239" name="Google Shape;239;p13">
            <a:extLst>
              <a:ext uri="{FF2B5EF4-FFF2-40B4-BE49-F238E27FC236}">
                <a16:creationId xmlns:a16="http://schemas.microsoft.com/office/drawing/2014/main" id="{3CC50101-463A-057B-E27E-CD08B5FA2659}"/>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4</a:t>
            </a:fld>
            <a:endParaRPr/>
          </a:p>
        </p:txBody>
      </p:sp>
    </p:spTree>
    <p:extLst>
      <p:ext uri="{BB962C8B-B14F-4D97-AF65-F5344CB8AC3E}">
        <p14:creationId xmlns:p14="http://schemas.microsoft.com/office/powerpoint/2010/main" val="2503232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40DF226F-6290-FADF-55BC-51DB63EAACDE}"/>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C2B00187-F998-B314-04F4-88C98C6F7FBB}"/>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Production scenarios</a:t>
            </a:r>
            <a:endParaRPr dirty="0"/>
          </a:p>
        </p:txBody>
      </p:sp>
      <p:sp>
        <p:nvSpPr>
          <p:cNvPr id="239" name="Google Shape;239;p13">
            <a:extLst>
              <a:ext uri="{FF2B5EF4-FFF2-40B4-BE49-F238E27FC236}">
                <a16:creationId xmlns:a16="http://schemas.microsoft.com/office/drawing/2014/main" id="{4DCFC27D-FA8A-AB7F-9005-1D2C7FC2B140}"/>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5</a:t>
            </a:fld>
            <a:endParaRPr/>
          </a:p>
        </p:txBody>
      </p:sp>
      <p:pic>
        <p:nvPicPr>
          <p:cNvPr id="15" name="Graphique 14">
            <a:extLst>
              <a:ext uri="{FF2B5EF4-FFF2-40B4-BE49-F238E27FC236}">
                <a16:creationId xmlns:a16="http://schemas.microsoft.com/office/drawing/2014/main" id="{6DC90234-02D4-9327-7053-74BB99C232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5637" y="968441"/>
            <a:ext cx="7334081" cy="5580845"/>
          </a:xfrm>
          <a:prstGeom prst="rect">
            <a:avLst/>
          </a:prstGeom>
        </p:spPr>
      </p:pic>
      <p:sp>
        <p:nvSpPr>
          <p:cNvPr id="16" name="Google Shape;237;p13">
            <a:extLst>
              <a:ext uri="{FF2B5EF4-FFF2-40B4-BE49-F238E27FC236}">
                <a16:creationId xmlns:a16="http://schemas.microsoft.com/office/drawing/2014/main" id="{4246AB48-6FFE-CCF7-FD10-C59CD5A0606F}"/>
              </a:ext>
            </a:extLst>
          </p:cNvPr>
          <p:cNvSpPr txBox="1">
            <a:spLocks noGrp="1"/>
          </p:cNvSpPr>
          <p:nvPr>
            <p:ph type="body" idx="1"/>
          </p:nvPr>
        </p:nvSpPr>
        <p:spPr>
          <a:xfrm>
            <a:off x="524329" y="1447592"/>
            <a:ext cx="3367670"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i="1" dirty="0">
                <a:solidFill>
                  <a:schemeClr val="tx1"/>
                </a:solidFill>
              </a:rPr>
              <a:t>In metal recoverable,</a:t>
            </a:r>
          </a:p>
          <a:p>
            <a:pPr marL="0" indent="0">
              <a:spcBef>
                <a:spcPts val="0"/>
              </a:spcBef>
            </a:pPr>
            <a:endParaRPr lang="en-US" sz="1800" i="1" dirty="0">
              <a:solidFill>
                <a:schemeClr val="tx1"/>
              </a:solidFill>
            </a:endParaRPr>
          </a:p>
          <a:p>
            <a:pPr marL="0" indent="0">
              <a:spcBef>
                <a:spcPts val="0"/>
              </a:spcBef>
            </a:pPr>
            <a:r>
              <a:rPr lang="en-US" sz="1800" i="1" dirty="0">
                <a:solidFill>
                  <a:schemeClr val="tx1"/>
                </a:solidFill>
              </a:rPr>
              <a:t>Later multiplied by production yield from Chartier-Poncelet et al (2022) to compare with metal in finished products</a:t>
            </a:r>
            <a:endParaRPr lang="en-CA" sz="1800" i="1" dirty="0">
              <a:solidFill>
                <a:schemeClr val="tx1"/>
              </a:solidFill>
            </a:endParaRPr>
          </a:p>
        </p:txBody>
      </p:sp>
    </p:spTree>
    <p:extLst>
      <p:ext uri="{BB962C8B-B14F-4D97-AF65-F5344CB8AC3E}">
        <p14:creationId xmlns:p14="http://schemas.microsoft.com/office/powerpoint/2010/main" val="710984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52421E4E-9C04-00CE-5832-5B27B75449C2}"/>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0213D87D-5DD4-407D-4344-9C9A385E7F19}"/>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NZ scenario</a:t>
            </a:r>
            <a:endParaRPr dirty="0"/>
          </a:p>
        </p:txBody>
      </p:sp>
      <p:sp>
        <p:nvSpPr>
          <p:cNvPr id="239" name="Google Shape;239;p13">
            <a:extLst>
              <a:ext uri="{FF2B5EF4-FFF2-40B4-BE49-F238E27FC236}">
                <a16:creationId xmlns:a16="http://schemas.microsoft.com/office/drawing/2014/main" id="{FCA6708E-DA27-30C6-4949-BB31898011F5}"/>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6</a:t>
            </a:fld>
            <a:endParaRPr/>
          </a:p>
        </p:txBody>
      </p:sp>
      <p:pic>
        <p:nvPicPr>
          <p:cNvPr id="3" name="Graphique 2">
            <a:extLst>
              <a:ext uri="{FF2B5EF4-FFF2-40B4-BE49-F238E27FC236}">
                <a16:creationId xmlns:a16="http://schemas.microsoft.com/office/drawing/2014/main" id="{4BBA9286-2E98-717E-A034-9D23DFC766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8837" y="976562"/>
            <a:ext cx="10299220" cy="5584574"/>
          </a:xfrm>
          <a:prstGeom prst="rect">
            <a:avLst/>
          </a:prstGeom>
        </p:spPr>
      </p:pic>
    </p:spTree>
    <p:extLst>
      <p:ext uri="{BB962C8B-B14F-4D97-AF65-F5344CB8AC3E}">
        <p14:creationId xmlns:p14="http://schemas.microsoft.com/office/powerpoint/2010/main" val="3153337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C86EDD04-15DF-E33E-7B82-2AF8AA882C01}"/>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1FA137D0-BC7F-3302-F0F3-C448B439EE45}"/>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NZ scenario (with iron)</a:t>
            </a:r>
            <a:endParaRPr dirty="0"/>
          </a:p>
        </p:txBody>
      </p:sp>
      <p:sp>
        <p:nvSpPr>
          <p:cNvPr id="239" name="Google Shape;239;p13">
            <a:extLst>
              <a:ext uri="{FF2B5EF4-FFF2-40B4-BE49-F238E27FC236}">
                <a16:creationId xmlns:a16="http://schemas.microsoft.com/office/drawing/2014/main" id="{7912B6DE-3ABD-DD58-1C35-4AC15E263E16}"/>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7</a:t>
            </a:fld>
            <a:endParaRPr/>
          </a:p>
        </p:txBody>
      </p:sp>
      <p:pic>
        <p:nvPicPr>
          <p:cNvPr id="6" name="Graphique 5">
            <a:extLst>
              <a:ext uri="{FF2B5EF4-FFF2-40B4-BE49-F238E27FC236}">
                <a16:creationId xmlns:a16="http://schemas.microsoft.com/office/drawing/2014/main" id="{50583B6D-75D1-CB08-2D7A-A455C9530250}"/>
              </a:ext>
            </a:extLst>
          </p:cNvPr>
          <p:cNvPicPr>
            <a:picLocks noChangeAspect="1"/>
          </p:cNvPicPr>
          <p:nvPr/>
        </p:nvPicPr>
        <p:blipFill>
          <a:blip r:embed="rId3">
            <a:extLst>
              <a:ext uri="{96DAC541-7B7A-43D3-8B79-37D633B846F1}">
                <asvg:svgBlip xmlns:asvg="http://schemas.microsoft.com/office/drawing/2016/SVG/main" r:embed="rId4"/>
              </a:ext>
            </a:extLst>
          </a:blip>
          <a:srcRect b="52783"/>
          <a:stretch>
            <a:fillRect/>
          </a:stretch>
        </p:blipFill>
        <p:spPr>
          <a:xfrm>
            <a:off x="1359493" y="2089502"/>
            <a:ext cx="4736507" cy="3238166"/>
          </a:xfrm>
          <a:prstGeom prst="rect">
            <a:avLst/>
          </a:prstGeom>
        </p:spPr>
      </p:pic>
      <p:pic>
        <p:nvPicPr>
          <p:cNvPr id="7" name="Graphique 6">
            <a:extLst>
              <a:ext uri="{FF2B5EF4-FFF2-40B4-BE49-F238E27FC236}">
                <a16:creationId xmlns:a16="http://schemas.microsoft.com/office/drawing/2014/main" id="{0A6F64A5-7BBB-D53C-3A82-466A8AF69192}"/>
              </a:ext>
            </a:extLst>
          </p:cNvPr>
          <p:cNvPicPr>
            <a:picLocks noChangeAspect="1"/>
          </p:cNvPicPr>
          <p:nvPr/>
        </p:nvPicPr>
        <p:blipFill>
          <a:blip r:embed="rId3">
            <a:extLst>
              <a:ext uri="{96DAC541-7B7A-43D3-8B79-37D633B846F1}">
                <asvg:svgBlip xmlns:asvg="http://schemas.microsoft.com/office/drawing/2016/SVG/main" r:embed="rId4"/>
              </a:ext>
            </a:extLst>
          </a:blip>
          <a:srcRect t="52368"/>
          <a:stretch>
            <a:fillRect/>
          </a:stretch>
        </p:blipFill>
        <p:spPr>
          <a:xfrm>
            <a:off x="6303036" y="2061044"/>
            <a:ext cx="4736507" cy="3266624"/>
          </a:xfrm>
          <a:prstGeom prst="rect">
            <a:avLst/>
          </a:prstGeom>
        </p:spPr>
      </p:pic>
    </p:spTree>
    <p:extLst>
      <p:ext uri="{BB962C8B-B14F-4D97-AF65-F5344CB8AC3E}">
        <p14:creationId xmlns:p14="http://schemas.microsoft.com/office/powerpoint/2010/main" val="3667767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82315E18-2FD1-3212-C22E-E4FAC97D9B17}"/>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7A5E695A-5B3B-FCC0-CF7D-F344E4B6A3B8}"/>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NZ scenario (without iron)</a:t>
            </a:r>
            <a:endParaRPr dirty="0"/>
          </a:p>
        </p:txBody>
      </p:sp>
      <p:sp>
        <p:nvSpPr>
          <p:cNvPr id="239" name="Google Shape;239;p13">
            <a:extLst>
              <a:ext uri="{FF2B5EF4-FFF2-40B4-BE49-F238E27FC236}">
                <a16:creationId xmlns:a16="http://schemas.microsoft.com/office/drawing/2014/main" id="{B4FA3AD5-8D08-29EB-F6AC-25CBFDEC5CCF}"/>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8</a:t>
            </a:fld>
            <a:endParaRPr/>
          </a:p>
        </p:txBody>
      </p:sp>
      <p:pic>
        <p:nvPicPr>
          <p:cNvPr id="8" name="Graphique 7">
            <a:extLst>
              <a:ext uri="{FF2B5EF4-FFF2-40B4-BE49-F238E27FC236}">
                <a16:creationId xmlns:a16="http://schemas.microsoft.com/office/drawing/2014/main" id="{20195799-63B9-D6E9-670C-856A6ACBE61E}"/>
              </a:ext>
            </a:extLst>
          </p:cNvPr>
          <p:cNvPicPr>
            <a:picLocks noChangeAspect="1"/>
          </p:cNvPicPr>
          <p:nvPr/>
        </p:nvPicPr>
        <p:blipFill>
          <a:blip r:embed="rId3">
            <a:extLst>
              <a:ext uri="{96DAC541-7B7A-43D3-8B79-37D633B846F1}">
                <asvg:svgBlip xmlns:asvg="http://schemas.microsoft.com/office/drawing/2016/SVG/main" r:embed="rId4"/>
              </a:ext>
            </a:extLst>
          </a:blip>
          <a:srcRect t="51027"/>
          <a:stretch>
            <a:fillRect/>
          </a:stretch>
        </p:blipFill>
        <p:spPr>
          <a:xfrm>
            <a:off x="6096000" y="1645919"/>
            <a:ext cx="5773807" cy="3358535"/>
          </a:xfrm>
          <a:prstGeom prst="rect">
            <a:avLst/>
          </a:prstGeom>
        </p:spPr>
      </p:pic>
      <p:pic>
        <p:nvPicPr>
          <p:cNvPr id="9" name="Graphique 8">
            <a:extLst>
              <a:ext uri="{FF2B5EF4-FFF2-40B4-BE49-F238E27FC236}">
                <a16:creationId xmlns:a16="http://schemas.microsoft.com/office/drawing/2014/main" id="{64EF121A-7641-B6B2-A6F5-737BA7D2F313}"/>
              </a:ext>
            </a:extLst>
          </p:cNvPr>
          <p:cNvPicPr>
            <a:picLocks noChangeAspect="1"/>
          </p:cNvPicPr>
          <p:nvPr/>
        </p:nvPicPr>
        <p:blipFill>
          <a:blip r:embed="rId3">
            <a:extLst>
              <a:ext uri="{96DAC541-7B7A-43D3-8B79-37D633B846F1}">
                <asvg:svgBlip xmlns:asvg="http://schemas.microsoft.com/office/drawing/2016/SVG/main" r:embed="rId4"/>
              </a:ext>
            </a:extLst>
          </a:blip>
          <a:srcRect b="51216"/>
          <a:stretch>
            <a:fillRect/>
          </a:stretch>
        </p:blipFill>
        <p:spPr>
          <a:xfrm>
            <a:off x="585349" y="1658826"/>
            <a:ext cx="5773807" cy="3345628"/>
          </a:xfrm>
          <a:prstGeom prst="rect">
            <a:avLst/>
          </a:prstGeom>
        </p:spPr>
      </p:pic>
    </p:spTree>
    <p:extLst>
      <p:ext uri="{BB962C8B-B14F-4D97-AF65-F5344CB8AC3E}">
        <p14:creationId xmlns:p14="http://schemas.microsoft.com/office/powerpoint/2010/main" val="1141955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935183BE-55D7-A6BE-65A9-44760B8BB01D}"/>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8175AF1C-6FF5-A32E-A3D6-09E5FE592C6A}"/>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Current measures vs NZ</a:t>
            </a:r>
            <a:endParaRPr dirty="0"/>
          </a:p>
        </p:txBody>
      </p:sp>
      <p:sp>
        <p:nvSpPr>
          <p:cNvPr id="239" name="Google Shape;239;p13">
            <a:extLst>
              <a:ext uri="{FF2B5EF4-FFF2-40B4-BE49-F238E27FC236}">
                <a16:creationId xmlns:a16="http://schemas.microsoft.com/office/drawing/2014/main" id="{DC0B121D-F867-6A1C-8839-1DDE8812783B}"/>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9</a:t>
            </a:fld>
            <a:endParaRPr/>
          </a:p>
        </p:txBody>
      </p:sp>
      <p:pic>
        <p:nvPicPr>
          <p:cNvPr id="7" name="Graphique 6">
            <a:extLst>
              <a:ext uri="{FF2B5EF4-FFF2-40B4-BE49-F238E27FC236}">
                <a16:creationId xmlns:a16="http://schemas.microsoft.com/office/drawing/2014/main" id="{32C0D1AE-3D3F-D3AC-EC45-DB7CF19448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81262" y="1465448"/>
            <a:ext cx="7229475" cy="4486275"/>
          </a:xfrm>
          <a:prstGeom prst="rect">
            <a:avLst/>
          </a:prstGeom>
        </p:spPr>
      </p:pic>
    </p:spTree>
    <p:extLst>
      <p:ext uri="{BB962C8B-B14F-4D97-AF65-F5344CB8AC3E}">
        <p14:creationId xmlns:p14="http://schemas.microsoft.com/office/powerpoint/2010/main" val="287084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236">
          <a:extLst>
            <a:ext uri="{FF2B5EF4-FFF2-40B4-BE49-F238E27FC236}">
              <a16:creationId xmlns:a16="http://schemas.microsoft.com/office/drawing/2014/main" id="{BF59213C-D819-1048-0045-624F398AEF8F}"/>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EB0AD44C-4B39-A7FC-F143-8E7FD717CB08}"/>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Production vs Demand for selected metals</a:t>
            </a:r>
            <a:endParaRPr dirty="0"/>
          </a:p>
        </p:txBody>
      </p:sp>
      <p:sp>
        <p:nvSpPr>
          <p:cNvPr id="239" name="Google Shape;239;p13">
            <a:extLst>
              <a:ext uri="{FF2B5EF4-FFF2-40B4-BE49-F238E27FC236}">
                <a16:creationId xmlns:a16="http://schemas.microsoft.com/office/drawing/2014/main" id="{04184FD8-26F1-7A2D-CC4A-0DE19C2F145B}"/>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10</a:t>
            </a:fld>
            <a:endParaRPr/>
          </a:p>
        </p:txBody>
      </p:sp>
      <p:pic>
        <p:nvPicPr>
          <p:cNvPr id="6" name="Graphique 5">
            <a:extLst>
              <a:ext uri="{FF2B5EF4-FFF2-40B4-BE49-F238E27FC236}">
                <a16:creationId xmlns:a16="http://schemas.microsoft.com/office/drawing/2014/main" id="{5DFA7CFB-50B2-AE03-B098-0EBD3E506A2E}"/>
              </a:ext>
            </a:extLst>
          </p:cNvPr>
          <p:cNvPicPr>
            <a:picLocks noChangeAspect="1"/>
          </p:cNvPicPr>
          <p:nvPr/>
        </p:nvPicPr>
        <p:blipFill>
          <a:blip r:embed="rId3">
            <a:extLst>
              <a:ext uri="{96DAC541-7B7A-43D3-8B79-37D633B846F1}">
                <asvg:svgBlip xmlns:asvg="http://schemas.microsoft.com/office/drawing/2016/SVG/main" r:embed="rId4"/>
              </a:ext>
            </a:extLst>
          </a:blip>
          <a:srcRect l="11024" t="51765" r="14471"/>
          <a:stretch>
            <a:fillRect/>
          </a:stretch>
        </p:blipFill>
        <p:spPr>
          <a:xfrm>
            <a:off x="6460513" y="1757753"/>
            <a:ext cx="5033671" cy="4181014"/>
          </a:xfrm>
          <a:prstGeom prst="rect">
            <a:avLst/>
          </a:prstGeom>
        </p:spPr>
      </p:pic>
      <p:sp>
        <p:nvSpPr>
          <p:cNvPr id="8" name="ZoneTexte 7">
            <a:extLst>
              <a:ext uri="{FF2B5EF4-FFF2-40B4-BE49-F238E27FC236}">
                <a16:creationId xmlns:a16="http://schemas.microsoft.com/office/drawing/2014/main" id="{BB409FCC-D934-1143-D3BD-77A1DD2EE76B}"/>
              </a:ext>
            </a:extLst>
          </p:cNvPr>
          <p:cNvSpPr txBox="1"/>
          <p:nvPr/>
        </p:nvSpPr>
        <p:spPr>
          <a:xfrm>
            <a:off x="2354438" y="1381807"/>
            <a:ext cx="1640385" cy="369332"/>
          </a:xfrm>
          <a:prstGeom prst="rect">
            <a:avLst/>
          </a:prstGeom>
          <a:noFill/>
        </p:spPr>
        <p:txBody>
          <a:bodyPr wrap="none" rtlCol="0">
            <a:spAutoFit/>
          </a:bodyPr>
          <a:lstStyle/>
          <a:p>
            <a:r>
              <a:rPr lang="en-US" b="1" dirty="0"/>
              <a:t>PRODUCTION</a:t>
            </a:r>
            <a:endParaRPr lang="fr-FR" b="1" dirty="0"/>
          </a:p>
        </p:txBody>
      </p:sp>
      <p:sp>
        <p:nvSpPr>
          <p:cNvPr id="9" name="ZoneTexte 8">
            <a:extLst>
              <a:ext uri="{FF2B5EF4-FFF2-40B4-BE49-F238E27FC236}">
                <a16:creationId xmlns:a16="http://schemas.microsoft.com/office/drawing/2014/main" id="{B6CBA0C4-23DF-5D8C-1886-3EA93C6E05FA}"/>
              </a:ext>
            </a:extLst>
          </p:cNvPr>
          <p:cNvSpPr txBox="1"/>
          <p:nvPr/>
        </p:nvSpPr>
        <p:spPr>
          <a:xfrm>
            <a:off x="8197177" y="1388421"/>
            <a:ext cx="1143262" cy="369332"/>
          </a:xfrm>
          <a:prstGeom prst="rect">
            <a:avLst/>
          </a:prstGeom>
          <a:noFill/>
        </p:spPr>
        <p:txBody>
          <a:bodyPr wrap="none" rtlCol="0">
            <a:spAutoFit/>
          </a:bodyPr>
          <a:lstStyle/>
          <a:p>
            <a:r>
              <a:rPr lang="en-US" b="1" dirty="0"/>
              <a:t>DEMAND</a:t>
            </a:r>
            <a:endParaRPr lang="fr-FR" b="1" dirty="0"/>
          </a:p>
        </p:txBody>
      </p:sp>
      <p:pic>
        <p:nvPicPr>
          <p:cNvPr id="11" name="Graphique 10">
            <a:extLst>
              <a:ext uri="{FF2B5EF4-FFF2-40B4-BE49-F238E27FC236}">
                <a16:creationId xmlns:a16="http://schemas.microsoft.com/office/drawing/2014/main" id="{AD73C50D-054C-8859-EE6D-AA99E549A25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816" y="1757753"/>
            <a:ext cx="5204192" cy="3960113"/>
          </a:xfrm>
          <a:prstGeom prst="rect">
            <a:avLst/>
          </a:prstGeom>
        </p:spPr>
      </p:pic>
      <p:sp>
        <p:nvSpPr>
          <p:cNvPr id="12" name="Flèche : double flèche horizontale 11">
            <a:extLst>
              <a:ext uri="{FF2B5EF4-FFF2-40B4-BE49-F238E27FC236}">
                <a16:creationId xmlns:a16="http://schemas.microsoft.com/office/drawing/2014/main" id="{54F05FA4-DA2B-C7AD-B438-9FA42283EEDC}"/>
              </a:ext>
            </a:extLst>
          </p:cNvPr>
          <p:cNvSpPr/>
          <p:nvPr/>
        </p:nvSpPr>
        <p:spPr>
          <a:xfrm>
            <a:off x="5170842" y="1443102"/>
            <a:ext cx="1850316" cy="246741"/>
          </a:xfrm>
          <a:prstGeom prst="lef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52891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1608DD45-77F1-7310-0169-F95AC79475EB}"/>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5FC5BC02-4CC8-348B-E78E-D8159C48FAC5}"/>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Production vs Demand for selected metals</a:t>
            </a:r>
            <a:endParaRPr dirty="0"/>
          </a:p>
        </p:txBody>
      </p:sp>
      <p:sp>
        <p:nvSpPr>
          <p:cNvPr id="239" name="Google Shape;239;p13">
            <a:extLst>
              <a:ext uri="{FF2B5EF4-FFF2-40B4-BE49-F238E27FC236}">
                <a16:creationId xmlns:a16="http://schemas.microsoft.com/office/drawing/2014/main" id="{8FEDE548-FABE-E803-BB3B-9B56ECA326DF}"/>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11</a:t>
            </a:fld>
            <a:endParaRPr/>
          </a:p>
        </p:txBody>
      </p:sp>
      <p:pic>
        <p:nvPicPr>
          <p:cNvPr id="3" name="Graphique 2">
            <a:extLst>
              <a:ext uri="{FF2B5EF4-FFF2-40B4-BE49-F238E27FC236}">
                <a16:creationId xmlns:a16="http://schemas.microsoft.com/office/drawing/2014/main" id="{7838CAC1-E20F-7B5C-4AA1-33660D2059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84992" y="1372760"/>
            <a:ext cx="9083039" cy="5099847"/>
          </a:xfrm>
          <a:prstGeom prst="rect">
            <a:avLst/>
          </a:prstGeom>
        </p:spPr>
      </p:pic>
      <p:sp>
        <p:nvSpPr>
          <p:cNvPr id="4" name="ZoneTexte 3">
            <a:extLst>
              <a:ext uri="{FF2B5EF4-FFF2-40B4-BE49-F238E27FC236}">
                <a16:creationId xmlns:a16="http://schemas.microsoft.com/office/drawing/2014/main" id="{8A73E691-1969-DDC4-F984-7CF112ACEB27}"/>
              </a:ext>
            </a:extLst>
          </p:cNvPr>
          <p:cNvSpPr txBox="1"/>
          <p:nvPr/>
        </p:nvSpPr>
        <p:spPr>
          <a:xfrm>
            <a:off x="9004150" y="4518212"/>
            <a:ext cx="2432525" cy="923330"/>
          </a:xfrm>
          <a:prstGeom prst="rect">
            <a:avLst/>
          </a:prstGeom>
          <a:noFill/>
        </p:spPr>
        <p:txBody>
          <a:bodyPr wrap="none" rtlCol="0">
            <a:spAutoFit/>
          </a:bodyPr>
          <a:lstStyle/>
          <a:p>
            <a:r>
              <a:rPr lang="en-US" dirty="0"/>
              <a:t>Graphite and lithium </a:t>
            </a:r>
          </a:p>
          <a:p>
            <a:r>
              <a:rPr lang="en-US" dirty="0"/>
              <a:t>only in vehicle battery, </a:t>
            </a:r>
          </a:p>
          <a:p>
            <a:r>
              <a:rPr lang="en-US" dirty="0"/>
              <a:t>but still strange?</a:t>
            </a:r>
            <a:endParaRPr lang="fr-FR" dirty="0"/>
          </a:p>
        </p:txBody>
      </p:sp>
    </p:spTree>
    <p:extLst>
      <p:ext uri="{BB962C8B-B14F-4D97-AF65-F5344CB8AC3E}">
        <p14:creationId xmlns:p14="http://schemas.microsoft.com/office/powerpoint/2010/main" val="2482214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EBEDE1A9-FAB3-A16A-4455-023F414450D3}"/>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7678E62C-3A98-4281-E236-68C89880AA48}"/>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Production vs Demand for selected metals</a:t>
            </a:r>
            <a:endParaRPr dirty="0"/>
          </a:p>
        </p:txBody>
      </p:sp>
      <p:sp>
        <p:nvSpPr>
          <p:cNvPr id="239" name="Google Shape;239;p13">
            <a:extLst>
              <a:ext uri="{FF2B5EF4-FFF2-40B4-BE49-F238E27FC236}">
                <a16:creationId xmlns:a16="http://schemas.microsoft.com/office/drawing/2014/main" id="{D0A6703E-9D9F-5F01-E7AD-79A2E4C83C47}"/>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12</a:t>
            </a:fld>
            <a:endParaRPr/>
          </a:p>
        </p:txBody>
      </p:sp>
      <p:graphicFrame>
        <p:nvGraphicFramePr>
          <p:cNvPr id="2" name="Graphique 1">
            <a:extLst>
              <a:ext uri="{FF2B5EF4-FFF2-40B4-BE49-F238E27FC236}">
                <a16:creationId xmlns:a16="http://schemas.microsoft.com/office/drawing/2014/main" id="{A8166789-171C-A5C2-8F62-30A3C58224D6}"/>
              </a:ext>
            </a:extLst>
          </p:cNvPr>
          <p:cNvGraphicFramePr>
            <a:graphicFrameLocks/>
          </p:cNvGraphicFramePr>
          <p:nvPr>
            <p:extLst>
              <p:ext uri="{D42A27DB-BD31-4B8C-83A1-F6EECF244321}">
                <p14:modId xmlns:p14="http://schemas.microsoft.com/office/powerpoint/2010/main" val="3214961301"/>
              </p:ext>
            </p:extLst>
          </p:nvPr>
        </p:nvGraphicFramePr>
        <p:xfrm>
          <a:off x="1029221" y="1792729"/>
          <a:ext cx="6386187" cy="3831713"/>
        </p:xfrm>
        <a:graphic>
          <a:graphicData uri="http://schemas.openxmlformats.org/drawingml/2006/chart">
            <c:chart xmlns:c="http://schemas.openxmlformats.org/drawingml/2006/chart" xmlns:r="http://schemas.openxmlformats.org/officeDocument/2006/relationships" r:id="rId3"/>
          </a:graphicData>
        </a:graphic>
      </p:graphicFrame>
      <p:sp>
        <p:nvSpPr>
          <p:cNvPr id="5" name="ZoneTexte 4">
            <a:extLst>
              <a:ext uri="{FF2B5EF4-FFF2-40B4-BE49-F238E27FC236}">
                <a16:creationId xmlns:a16="http://schemas.microsoft.com/office/drawing/2014/main" id="{5DC8DB8B-A341-2402-BC2B-02CC49CE0538}"/>
              </a:ext>
            </a:extLst>
          </p:cNvPr>
          <p:cNvSpPr txBox="1"/>
          <p:nvPr/>
        </p:nvSpPr>
        <p:spPr>
          <a:xfrm>
            <a:off x="9206630" y="2743200"/>
            <a:ext cx="2207977" cy="1477328"/>
          </a:xfrm>
          <a:prstGeom prst="rect">
            <a:avLst/>
          </a:prstGeom>
          <a:noFill/>
        </p:spPr>
        <p:txBody>
          <a:bodyPr wrap="none" rtlCol="0">
            <a:spAutoFit/>
          </a:bodyPr>
          <a:lstStyle/>
          <a:p>
            <a:r>
              <a:rPr lang="en-US" dirty="0"/>
              <a:t>35% difference Co</a:t>
            </a:r>
          </a:p>
          <a:p>
            <a:r>
              <a:rPr lang="en-US" dirty="0"/>
              <a:t>30% difference Cu</a:t>
            </a:r>
          </a:p>
          <a:p>
            <a:r>
              <a:rPr lang="en-US" dirty="0"/>
              <a:t>23% difference C</a:t>
            </a:r>
          </a:p>
          <a:p>
            <a:r>
              <a:rPr lang="en-US" dirty="0"/>
              <a:t>63% difference Li</a:t>
            </a:r>
          </a:p>
          <a:p>
            <a:r>
              <a:rPr lang="en-US" dirty="0"/>
              <a:t>-0.15% difference Ni</a:t>
            </a:r>
            <a:endParaRPr lang="fr-FR" dirty="0"/>
          </a:p>
        </p:txBody>
      </p:sp>
    </p:spTree>
    <p:extLst>
      <p:ext uri="{BB962C8B-B14F-4D97-AF65-F5344CB8AC3E}">
        <p14:creationId xmlns:p14="http://schemas.microsoft.com/office/powerpoint/2010/main" val="2624286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96C74D03-EB11-C11C-51ED-953B37D0A8CC}"/>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689FD5B1-1B3E-DB13-3BC0-458BED6FABCB}"/>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b="1" dirty="0">
                <a:solidFill>
                  <a:schemeClr val="tx1"/>
                </a:solidFill>
              </a:rPr>
              <a:t>1) </a:t>
            </a:r>
            <a:r>
              <a:rPr lang="en-US" sz="1800" b="1" dirty="0" err="1">
                <a:solidFill>
                  <a:schemeClr val="tx1"/>
                </a:solidFill>
              </a:rPr>
              <a:t>Quels</a:t>
            </a:r>
            <a:r>
              <a:rPr lang="en-US" sz="1800" b="1" dirty="0">
                <a:solidFill>
                  <a:schemeClr val="tx1"/>
                </a:solidFill>
              </a:rPr>
              <a:t> ICVs associes?</a:t>
            </a:r>
          </a:p>
          <a:p>
            <a:pPr marL="342900" indent="-342900">
              <a:spcBef>
                <a:spcPts val="0"/>
              </a:spcBef>
              <a:buFont typeface="Arial" panose="020B0604020202020204" pitchFamily="34" charset="0"/>
              <a:buChar char="•"/>
            </a:pPr>
            <a:r>
              <a:rPr lang="en-US" sz="1800" dirty="0">
                <a:solidFill>
                  <a:schemeClr val="tx1"/>
                </a:solidFill>
              </a:rPr>
              <a:t>CA LCIs for the production scenarios (not available for all)</a:t>
            </a:r>
          </a:p>
          <a:p>
            <a:pPr marL="342900" indent="-342900">
              <a:spcBef>
                <a:spcPts val="0"/>
              </a:spcBef>
              <a:buFont typeface="Arial" panose="020B0604020202020204" pitchFamily="34" charset="0"/>
              <a:buChar char="•"/>
            </a:pPr>
            <a:r>
              <a:rPr lang="en-US" sz="1800" dirty="0">
                <a:solidFill>
                  <a:schemeClr val="tx1"/>
                </a:solidFill>
              </a:rPr>
              <a:t>Quel IAM pour premise? </a:t>
            </a:r>
          </a:p>
          <a:p>
            <a:pPr marL="342900" indent="-342900">
              <a:spcBef>
                <a:spcPts val="0"/>
              </a:spcBef>
              <a:buFont typeface="Arial" panose="020B0604020202020204" pitchFamily="34" charset="0"/>
              <a:buChar char="•"/>
            </a:pPr>
            <a:r>
              <a:rPr lang="en-US" sz="1800" dirty="0" err="1">
                <a:solidFill>
                  <a:schemeClr val="tx1"/>
                </a:solidFill>
              </a:rPr>
              <a:t>Pbm</a:t>
            </a:r>
            <a:r>
              <a:rPr lang="en-US" sz="1800" dirty="0">
                <a:solidFill>
                  <a:schemeClr val="tx1"/>
                </a:solidFill>
              </a:rPr>
              <a:t> de computational power pour </a:t>
            </a:r>
            <a:r>
              <a:rPr lang="en-US" sz="1800" dirty="0" err="1">
                <a:solidFill>
                  <a:schemeClr val="tx1"/>
                </a:solidFill>
              </a:rPr>
              <a:t>regiopremise</a:t>
            </a:r>
            <a:r>
              <a:rPr lang="en-US" sz="1800" dirty="0">
                <a:solidFill>
                  <a:schemeClr val="tx1"/>
                </a:solidFill>
              </a:rPr>
              <a:t> avec </a:t>
            </a:r>
            <a:r>
              <a:rPr lang="en-US" sz="1800" dirty="0" err="1">
                <a:solidFill>
                  <a:schemeClr val="tx1"/>
                </a:solidFill>
              </a:rPr>
              <a:t>bcp</a:t>
            </a:r>
            <a:r>
              <a:rPr lang="en-US" sz="1800" dirty="0">
                <a:solidFill>
                  <a:schemeClr val="tx1"/>
                </a:solidFill>
              </a:rPr>
              <a:t> </a:t>
            </a:r>
            <a:r>
              <a:rPr lang="en-US" sz="1800" dirty="0" err="1">
                <a:solidFill>
                  <a:schemeClr val="tx1"/>
                </a:solidFill>
              </a:rPr>
              <a:t>d’annees</a:t>
            </a:r>
            <a:endParaRPr lang="en-US" sz="1800" dirty="0">
              <a:solidFill>
                <a:schemeClr val="tx1"/>
              </a:solidFill>
            </a:endParaRPr>
          </a:p>
          <a:p>
            <a:pPr marL="0" indent="0">
              <a:spcBef>
                <a:spcPts val="0"/>
              </a:spcBef>
            </a:pPr>
            <a:endParaRPr lang="en-US" sz="1800" dirty="0">
              <a:solidFill>
                <a:schemeClr val="tx1"/>
              </a:solidFill>
            </a:endParaRPr>
          </a:p>
          <a:p>
            <a:pPr marL="0" indent="0">
              <a:spcBef>
                <a:spcPts val="0"/>
              </a:spcBef>
            </a:pPr>
            <a:r>
              <a:rPr lang="en-US" sz="1800" b="1" dirty="0">
                <a:solidFill>
                  <a:schemeClr val="tx1"/>
                </a:solidFill>
              </a:rPr>
              <a:t>2) </a:t>
            </a:r>
            <a:r>
              <a:rPr lang="en-US" sz="1800" b="1" dirty="0" err="1">
                <a:solidFill>
                  <a:schemeClr val="tx1"/>
                </a:solidFill>
              </a:rPr>
              <a:t>Limites</a:t>
            </a:r>
            <a:endParaRPr lang="en-US" sz="1800" b="1" dirty="0">
              <a:solidFill>
                <a:schemeClr val="tx1"/>
              </a:solidFill>
            </a:endParaRPr>
          </a:p>
          <a:p>
            <a:pPr marL="342900" indent="-342900">
              <a:spcBef>
                <a:spcPts val="0"/>
              </a:spcBef>
              <a:buFont typeface="Arial" panose="020B0604020202020204" pitchFamily="34" charset="0"/>
              <a:buChar char="•"/>
            </a:pPr>
            <a:r>
              <a:rPr lang="en-US" sz="1800" dirty="0">
                <a:solidFill>
                  <a:schemeClr val="tx1"/>
                </a:solidFill>
              </a:rPr>
              <a:t>Production scenarios not so good</a:t>
            </a:r>
          </a:p>
          <a:p>
            <a:pPr marL="342900" indent="-342900">
              <a:spcBef>
                <a:spcPts val="0"/>
              </a:spcBef>
              <a:buFont typeface="Arial" panose="020B0604020202020204" pitchFamily="34" charset="0"/>
              <a:buChar char="•"/>
            </a:pPr>
            <a:r>
              <a:rPr lang="en-US" sz="1800" dirty="0">
                <a:solidFill>
                  <a:schemeClr val="tx1"/>
                </a:solidFill>
              </a:rPr>
              <a:t>Grid pas </a:t>
            </a:r>
            <a:r>
              <a:rPr lang="en-US" sz="1800" dirty="0" err="1">
                <a:solidFill>
                  <a:schemeClr val="tx1"/>
                </a:solidFill>
              </a:rPr>
              <a:t>couvert</a:t>
            </a:r>
            <a:endParaRPr lang="en-US" sz="1800" dirty="0">
              <a:solidFill>
                <a:schemeClr val="tx1"/>
              </a:solidFill>
            </a:endParaRPr>
          </a:p>
          <a:p>
            <a:pPr marL="342900" indent="-342900">
              <a:spcBef>
                <a:spcPts val="0"/>
              </a:spcBef>
              <a:buFont typeface="Arial" panose="020B0604020202020204" pitchFamily="34" charset="0"/>
              <a:buChar char="•"/>
            </a:pPr>
            <a:r>
              <a:rPr lang="en-US" sz="1800" dirty="0">
                <a:solidFill>
                  <a:schemeClr val="tx1"/>
                </a:solidFill>
              </a:rPr>
              <a:t>Hypotheses non prospectives sur le </a:t>
            </a:r>
            <a:r>
              <a:rPr lang="en-US" sz="1800" dirty="0" err="1">
                <a:solidFill>
                  <a:schemeClr val="tx1"/>
                </a:solidFill>
              </a:rPr>
              <a:t>poids</a:t>
            </a:r>
            <a:r>
              <a:rPr lang="en-US" sz="1800" dirty="0">
                <a:solidFill>
                  <a:schemeClr val="tx1"/>
                </a:solidFill>
              </a:rPr>
              <a:t>, battery capacity</a:t>
            </a:r>
          </a:p>
          <a:p>
            <a:pPr marL="342900" indent="-342900">
              <a:spcBef>
                <a:spcPts val="0"/>
              </a:spcBef>
              <a:buFont typeface="Arial" panose="020B0604020202020204" pitchFamily="34" charset="0"/>
              <a:buChar char="•"/>
            </a:pPr>
            <a:r>
              <a:rPr lang="en-US" sz="1800" dirty="0">
                <a:solidFill>
                  <a:schemeClr val="tx1"/>
                </a:solidFill>
              </a:rPr>
              <a:t>Pas </a:t>
            </a:r>
            <a:r>
              <a:rPr lang="en-US" sz="1800" dirty="0" err="1">
                <a:solidFill>
                  <a:schemeClr val="tx1"/>
                </a:solidFill>
              </a:rPr>
              <a:t>d’ameliorations</a:t>
            </a:r>
            <a:r>
              <a:rPr lang="en-US" sz="1800" dirty="0">
                <a:solidFill>
                  <a:schemeClr val="tx1"/>
                </a:solidFill>
              </a:rPr>
              <a:t> des material intensity</a:t>
            </a:r>
          </a:p>
          <a:p>
            <a:pPr marL="342900" indent="-342900">
              <a:spcBef>
                <a:spcPts val="0"/>
              </a:spcBef>
              <a:buFont typeface="Arial" panose="020B0604020202020204" pitchFamily="34" charset="0"/>
              <a:buChar char="•"/>
            </a:pPr>
            <a:endParaRPr lang="en-US" sz="1800" dirty="0">
              <a:solidFill>
                <a:schemeClr val="tx1"/>
              </a:solidFill>
            </a:endParaRPr>
          </a:p>
          <a:p>
            <a:pPr marL="342900" indent="-342900">
              <a:spcBef>
                <a:spcPts val="0"/>
              </a:spcBef>
              <a:buFont typeface="Arial" panose="020B0604020202020204" pitchFamily="34" charset="0"/>
              <a:buChar char="•"/>
            </a:pPr>
            <a:endParaRPr lang="en-US" sz="1800" dirty="0">
              <a:solidFill>
                <a:schemeClr val="tx1"/>
              </a:solidFill>
            </a:endParaRPr>
          </a:p>
          <a:p>
            <a:pPr marL="0" indent="0">
              <a:spcBef>
                <a:spcPts val="0"/>
              </a:spcBef>
            </a:pPr>
            <a:r>
              <a:rPr lang="en-US" sz="1800" b="1" dirty="0">
                <a:solidFill>
                  <a:schemeClr val="tx1"/>
                </a:solidFill>
              </a:rPr>
              <a:t>3) Manque</a:t>
            </a:r>
          </a:p>
          <a:p>
            <a:pPr marL="285750" indent="-285750">
              <a:spcBef>
                <a:spcPts val="0"/>
              </a:spcBef>
              <a:buFont typeface="Arial" panose="020B0604020202020204" pitchFamily="34" charset="0"/>
              <a:buChar char="•"/>
            </a:pPr>
            <a:r>
              <a:rPr lang="en-US" sz="1800" dirty="0">
                <a:solidFill>
                  <a:schemeClr val="tx1"/>
                </a:solidFill>
              </a:rPr>
              <a:t>Scenario </a:t>
            </a:r>
            <a:r>
              <a:rPr lang="en-US" sz="1800" dirty="0" err="1">
                <a:solidFill>
                  <a:schemeClr val="tx1"/>
                </a:solidFill>
              </a:rPr>
              <a:t>d’impacts</a:t>
            </a:r>
            <a:r>
              <a:rPr lang="en-US" sz="1800" dirty="0">
                <a:solidFill>
                  <a:schemeClr val="tx1"/>
                </a:solidFill>
              </a:rPr>
              <a:t> evites avec LCIs pour </a:t>
            </a:r>
            <a:r>
              <a:rPr lang="en-US" sz="1800" dirty="0" err="1">
                <a:solidFill>
                  <a:schemeClr val="tx1"/>
                </a:solidFill>
              </a:rPr>
              <a:t>raffinage</a:t>
            </a:r>
            <a:r>
              <a:rPr lang="en-US" sz="1800" dirty="0">
                <a:solidFill>
                  <a:schemeClr val="tx1"/>
                </a:solidFill>
              </a:rPr>
              <a:t>?</a:t>
            </a:r>
          </a:p>
          <a:p>
            <a:pPr marL="0" indent="0">
              <a:spcBef>
                <a:spcPts val="0"/>
              </a:spcBef>
            </a:pPr>
            <a:endParaRPr lang="en-US" sz="1800" b="1" dirty="0">
              <a:solidFill>
                <a:schemeClr val="tx1"/>
              </a:solidFill>
            </a:endParaRPr>
          </a:p>
          <a:p>
            <a:pPr marL="0" indent="0">
              <a:spcBef>
                <a:spcPts val="0"/>
              </a:spcBef>
            </a:pPr>
            <a:endParaRPr lang="en-US" sz="1800" dirty="0">
              <a:solidFill>
                <a:schemeClr val="tx1"/>
              </a:solidFill>
            </a:endParaRPr>
          </a:p>
        </p:txBody>
      </p:sp>
      <p:sp>
        <p:nvSpPr>
          <p:cNvPr id="238" name="Google Shape;238;p13">
            <a:extLst>
              <a:ext uri="{FF2B5EF4-FFF2-40B4-BE49-F238E27FC236}">
                <a16:creationId xmlns:a16="http://schemas.microsoft.com/office/drawing/2014/main" id="{9CF93AB5-F152-4770-44B5-20E3507312D2}"/>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Discussions</a:t>
            </a:r>
            <a:endParaRPr dirty="0"/>
          </a:p>
        </p:txBody>
      </p:sp>
      <p:sp>
        <p:nvSpPr>
          <p:cNvPr id="239" name="Google Shape;239;p13">
            <a:extLst>
              <a:ext uri="{FF2B5EF4-FFF2-40B4-BE49-F238E27FC236}">
                <a16:creationId xmlns:a16="http://schemas.microsoft.com/office/drawing/2014/main" id="{93850BF8-67BB-E6B6-EDAE-7156BC0F37C2}"/>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13</a:t>
            </a:fld>
            <a:endParaRPr/>
          </a:p>
        </p:txBody>
      </p:sp>
    </p:spTree>
    <p:extLst>
      <p:ext uri="{BB962C8B-B14F-4D97-AF65-F5344CB8AC3E}">
        <p14:creationId xmlns:p14="http://schemas.microsoft.com/office/powerpoint/2010/main" val="868090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888B99CD-A0B1-7EAF-1737-4116E0654F5F}"/>
            </a:ext>
          </a:extLst>
        </p:cNvPr>
        <p:cNvGrpSpPr/>
        <p:nvPr/>
      </p:nvGrpSpPr>
      <p:grpSpPr>
        <a:xfrm>
          <a:off x="0" y="0"/>
          <a:ext cx="0" cy="0"/>
          <a:chOff x="0" y="0"/>
          <a:chExt cx="0" cy="0"/>
        </a:xfrm>
      </p:grpSpPr>
      <p:sp>
        <p:nvSpPr>
          <p:cNvPr id="189" name="Google Shape;189;p6">
            <a:extLst>
              <a:ext uri="{FF2B5EF4-FFF2-40B4-BE49-F238E27FC236}">
                <a16:creationId xmlns:a16="http://schemas.microsoft.com/office/drawing/2014/main" id="{C9D6BF6D-539B-439D-5284-99ED7474E33D}"/>
              </a:ext>
            </a:extLst>
          </p:cNvPr>
          <p:cNvSpPr txBox="1">
            <a:spLocks noGrp="1"/>
          </p:cNvSpPr>
          <p:nvPr>
            <p:ph type="ctrTitle"/>
          </p:nvPr>
        </p:nvSpPr>
        <p:spPr>
          <a:xfrm>
            <a:off x="1404000" y="2051999"/>
            <a:ext cx="4680000" cy="1544400"/>
          </a:xfrm>
          <a:prstGeom prst="rect">
            <a:avLst/>
          </a:prstGeom>
          <a:noFill/>
          <a:ln>
            <a:noFill/>
          </a:ln>
        </p:spPr>
        <p:txBody>
          <a:bodyPr spcFirstLastPara="1" wrap="square" lIns="0" tIns="0" rIns="0" bIns="0" anchor="b" anchorCtr="0">
            <a:noAutofit/>
          </a:bodyPr>
          <a:lstStyle/>
          <a:p>
            <a:pPr marL="0" lvl="0" indent="0" algn="l" rtl="0">
              <a:lnSpc>
                <a:spcPct val="111111"/>
              </a:lnSpc>
              <a:spcBef>
                <a:spcPts val="0"/>
              </a:spcBef>
              <a:spcAft>
                <a:spcPts val="0"/>
              </a:spcAft>
              <a:buClr>
                <a:schemeClr val="accent1"/>
              </a:buClr>
              <a:buSzPts val="3600"/>
              <a:buFont typeface="Calibri"/>
              <a:buNone/>
            </a:pPr>
            <a:r>
              <a:rPr lang="fr-FR" dirty="0"/>
              <a:t>2. 2</a:t>
            </a:r>
            <a:r>
              <a:rPr lang="fr-FR" baseline="30000" dirty="0"/>
              <a:t>nd</a:t>
            </a:r>
            <a:r>
              <a:rPr lang="fr-FR" dirty="0"/>
              <a:t> meeting</a:t>
            </a:r>
            <a:endParaRPr dirty="0"/>
          </a:p>
        </p:txBody>
      </p:sp>
      <p:sp>
        <p:nvSpPr>
          <p:cNvPr id="3" name="Sous-titre 2">
            <a:extLst>
              <a:ext uri="{FF2B5EF4-FFF2-40B4-BE49-F238E27FC236}">
                <a16:creationId xmlns:a16="http://schemas.microsoft.com/office/drawing/2014/main" id="{197938A8-F19C-4D10-39BD-E98F6D470F7C}"/>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4043357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D6E8F9C6-0980-4967-8D6B-BD8B50AAF87A}"/>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95E36D07-7C9D-FFC7-B208-FE3B097D7FBD}"/>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b="1" dirty="0">
                <a:solidFill>
                  <a:schemeClr val="tx1"/>
                </a:solidFill>
              </a:rPr>
              <a:t>Integration du grid</a:t>
            </a:r>
          </a:p>
          <a:p>
            <a:pPr marL="342900" indent="-342900">
              <a:spcBef>
                <a:spcPts val="0"/>
              </a:spcBef>
              <a:buFont typeface="Arial" panose="020B0604020202020204" pitchFamily="34" charset="0"/>
              <a:buChar char="•"/>
            </a:pPr>
            <a:r>
              <a:rPr lang="en-US" sz="1800" dirty="0">
                <a:solidFill>
                  <a:schemeClr val="tx1"/>
                </a:solidFill>
              </a:rPr>
              <a:t>Chiffres Titouan vs Kalt et al (2021)</a:t>
            </a:r>
          </a:p>
          <a:p>
            <a:pPr marL="342900" indent="-342900">
              <a:spcBef>
                <a:spcPts val="0"/>
              </a:spcBef>
              <a:buFont typeface="Arial" panose="020B0604020202020204" pitchFamily="34" charset="0"/>
              <a:buChar char="•"/>
            </a:pPr>
            <a:r>
              <a:rPr lang="en-US" sz="1800" dirty="0">
                <a:solidFill>
                  <a:schemeClr val="tx1"/>
                </a:solidFill>
              </a:rPr>
              <a:t>Wind MV gros </a:t>
            </a:r>
            <a:r>
              <a:rPr lang="en-US" sz="1800" dirty="0" err="1">
                <a:solidFill>
                  <a:schemeClr val="tx1"/>
                </a:solidFill>
              </a:rPr>
              <a:t>contributeurs</a:t>
            </a:r>
            <a:endParaRPr lang="en-US" sz="1800" dirty="0">
              <a:solidFill>
                <a:schemeClr val="tx1"/>
              </a:solidFill>
            </a:endParaRPr>
          </a:p>
          <a:p>
            <a:pPr marL="342900" indent="-342900">
              <a:spcBef>
                <a:spcPts val="0"/>
              </a:spcBef>
              <a:buFont typeface="Arial" panose="020B0604020202020204" pitchFamily="34" charset="0"/>
              <a:buChar char="•"/>
            </a:pPr>
            <a:endParaRPr lang="en-US" sz="1800" dirty="0">
              <a:solidFill>
                <a:schemeClr val="tx1"/>
              </a:solidFill>
            </a:endParaRPr>
          </a:p>
          <a:p>
            <a:pPr marL="0" indent="0">
              <a:spcBef>
                <a:spcPts val="0"/>
              </a:spcBef>
            </a:pPr>
            <a:r>
              <a:rPr lang="en-US" sz="1800" b="1" dirty="0">
                <a:solidFill>
                  <a:schemeClr val="tx1"/>
                </a:solidFill>
              </a:rPr>
              <a:t>Graphite </a:t>
            </a:r>
          </a:p>
          <a:p>
            <a:pPr marL="285750" indent="-285750">
              <a:spcBef>
                <a:spcPts val="0"/>
              </a:spcBef>
              <a:buFont typeface="Arial" panose="020B0604020202020204" pitchFamily="34" charset="0"/>
              <a:buChar char="•"/>
            </a:pPr>
            <a:r>
              <a:rPr lang="en-US" sz="1800" dirty="0" err="1">
                <a:solidFill>
                  <a:schemeClr val="tx1"/>
                </a:solidFill>
              </a:rPr>
              <a:t>Tjrs</a:t>
            </a:r>
            <a:r>
              <a:rPr lang="en-US" sz="1800" dirty="0">
                <a:solidFill>
                  <a:schemeClr val="tx1"/>
                </a:solidFill>
              </a:rPr>
              <a:t> gros </a:t>
            </a:r>
            <a:r>
              <a:rPr lang="en-US" sz="1800" dirty="0" err="1">
                <a:solidFill>
                  <a:schemeClr val="tx1"/>
                </a:solidFill>
              </a:rPr>
              <a:t>écart</a:t>
            </a:r>
            <a:r>
              <a:rPr lang="en-US" sz="1800" dirty="0">
                <a:solidFill>
                  <a:schemeClr val="tx1"/>
                </a:solidFill>
              </a:rPr>
              <a:t> production vs demand, meme avec un production yield = 33%</a:t>
            </a:r>
          </a:p>
          <a:p>
            <a:pPr marL="285750" indent="-285750">
              <a:spcBef>
                <a:spcPts val="0"/>
              </a:spcBef>
              <a:buFont typeface="Arial" panose="020B0604020202020204" pitchFamily="34" charset="0"/>
              <a:buChar char="•"/>
            </a:pPr>
            <a:endParaRPr lang="en-US" sz="1800" dirty="0">
              <a:solidFill>
                <a:schemeClr val="tx1"/>
              </a:solidFill>
            </a:endParaRPr>
          </a:p>
          <a:p>
            <a:pPr marL="0" indent="0">
              <a:spcBef>
                <a:spcPts val="0"/>
              </a:spcBef>
            </a:pPr>
            <a:r>
              <a:rPr lang="en-US" sz="1800" b="1" dirty="0">
                <a:solidFill>
                  <a:schemeClr val="tx1"/>
                </a:solidFill>
              </a:rPr>
              <a:t>Gros impact Cu et Ni</a:t>
            </a:r>
          </a:p>
          <a:p>
            <a:pPr marL="285750" indent="-285750">
              <a:spcBef>
                <a:spcPts val="0"/>
              </a:spcBef>
              <a:buFont typeface="Arial" panose="020B0604020202020204" pitchFamily="34" charset="0"/>
              <a:buChar char="•"/>
            </a:pPr>
            <a:r>
              <a:rPr lang="en-US" sz="1800" dirty="0">
                <a:solidFill>
                  <a:schemeClr val="tx1"/>
                </a:solidFill>
              </a:rPr>
              <a:t>Graphite et lithium </a:t>
            </a:r>
            <a:r>
              <a:rPr lang="en-US" sz="1800" dirty="0" err="1">
                <a:solidFill>
                  <a:schemeClr val="tx1"/>
                </a:solidFill>
              </a:rPr>
              <a:t>uniquement</a:t>
            </a:r>
            <a:r>
              <a:rPr lang="en-US" sz="1800" dirty="0">
                <a:solidFill>
                  <a:schemeClr val="tx1"/>
                </a:solidFill>
              </a:rPr>
              <a:t> dans battery </a:t>
            </a:r>
            <a:r>
              <a:rPr lang="en-US" sz="1800" dirty="0" err="1">
                <a:solidFill>
                  <a:schemeClr val="tx1"/>
                </a:solidFill>
              </a:rPr>
              <a:t>Evs</a:t>
            </a:r>
            <a:r>
              <a:rPr lang="en-US" sz="1800" dirty="0">
                <a:solidFill>
                  <a:schemeClr val="tx1"/>
                </a:solidFill>
              </a:rPr>
              <a:t>, Neodymium dans Wind et </a:t>
            </a:r>
          </a:p>
          <a:p>
            <a:pPr marL="0" indent="0">
              <a:spcBef>
                <a:spcPts val="0"/>
              </a:spcBef>
            </a:pPr>
            <a:endParaRPr lang="en-US" sz="1800" dirty="0">
              <a:solidFill>
                <a:schemeClr val="tx1"/>
              </a:solidFill>
            </a:endParaRPr>
          </a:p>
          <a:p>
            <a:pPr marL="0" indent="0">
              <a:spcBef>
                <a:spcPts val="0"/>
              </a:spcBef>
            </a:pPr>
            <a:endParaRPr lang="en-US" sz="1800" dirty="0">
              <a:solidFill>
                <a:schemeClr val="tx1"/>
              </a:solidFill>
            </a:endParaRPr>
          </a:p>
          <a:p>
            <a:pPr marL="0" indent="0">
              <a:spcBef>
                <a:spcPts val="0"/>
              </a:spcBef>
            </a:pPr>
            <a:r>
              <a:rPr lang="en-US" sz="1800" b="1" dirty="0">
                <a:solidFill>
                  <a:schemeClr val="tx1"/>
                </a:solidFill>
              </a:rPr>
              <a:t>Premise vs </a:t>
            </a:r>
            <a:r>
              <a:rPr lang="en-US" sz="1800" b="1" dirty="0" err="1">
                <a:solidFill>
                  <a:schemeClr val="tx1"/>
                </a:solidFill>
              </a:rPr>
              <a:t>Regioinvent</a:t>
            </a:r>
            <a:endParaRPr lang="en-US" sz="1800" b="1" dirty="0">
              <a:solidFill>
                <a:schemeClr val="tx1"/>
              </a:solidFill>
            </a:endParaRPr>
          </a:p>
          <a:p>
            <a:pPr marL="342900" indent="-342900">
              <a:spcBef>
                <a:spcPts val="0"/>
              </a:spcBef>
              <a:buFont typeface="Arial" panose="020B0604020202020204" pitchFamily="34" charset="0"/>
              <a:buChar char="•"/>
            </a:pPr>
            <a:r>
              <a:rPr lang="en-US" sz="1800" dirty="0" err="1">
                <a:solidFill>
                  <a:schemeClr val="tx1"/>
                </a:solidFill>
              </a:rPr>
              <a:t>Pbm</a:t>
            </a:r>
            <a:r>
              <a:rPr lang="en-US" sz="1800" dirty="0">
                <a:solidFill>
                  <a:schemeClr val="tx1"/>
                </a:solidFill>
              </a:rPr>
              <a:t> de temps et computational time</a:t>
            </a:r>
          </a:p>
          <a:p>
            <a:pPr marL="342900" indent="-342900">
              <a:spcBef>
                <a:spcPts val="0"/>
              </a:spcBef>
              <a:buFont typeface="Arial" panose="020B0604020202020204" pitchFamily="34" charset="0"/>
              <a:buChar char="•"/>
            </a:pPr>
            <a:r>
              <a:rPr lang="en-US" sz="1800" dirty="0">
                <a:solidFill>
                  <a:schemeClr val="tx1"/>
                </a:solidFill>
              </a:rPr>
              <a:t>Creation de march</a:t>
            </a:r>
            <a:r>
              <a:rPr lang="fr-FR" sz="1800" dirty="0">
                <a:solidFill>
                  <a:schemeClr val="tx1"/>
                </a:solidFill>
              </a:rPr>
              <a:t>é</a:t>
            </a:r>
            <a:r>
              <a:rPr lang="en-US" sz="1800" dirty="0">
                <a:solidFill>
                  <a:schemeClr val="tx1"/>
                </a:solidFill>
              </a:rPr>
              <a:t> dans premise, </a:t>
            </a:r>
            <a:r>
              <a:rPr lang="en-US" sz="1800" dirty="0" err="1">
                <a:solidFill>
                  <a:schemeClr val="tx1"/>
                </a:solidFill>
              </a:rPr>
              <a:t>peut</a:t>
            </a:r>
            <a:r>
              <a:rPr lang="en-US" sz="1800" dirty="0">
                <a:solidFill>
                  <a:schemeClr val="tx1"/>
                </a:solidFill>
              </a:rPr>
              <a:t> </a:t>
            </a:r>
            <a:r>
              <a:rPr lang="en-US" sz="1800" dirty="0" err="1">
                <a:solidFill>
                  <a:schemeClr val="tx1"/>
                </a:solidFill>
              </a:rPr>
              <a:t>être</a:t>
            </a:r>
            <a:r>
              <a:rPr lang="en-US" sz="1800" dirty="0">
                <a:solidFill>
                  <a:schemeClr val="tx1"/>
                </a:solidFill>
              </a:rPr>
              <a:t> </a:t>
            </a:r>
            <a:r>
              <a:rPr lang="en-US" sz="1800" dirty="0" err="1">
                <a:solidFill>
                  <a:schemeClr val="tx1"/>
                </a:solidFill>
              </a:rPr>
              <a:t>suffisant</a:t>
            </a:r>
            <a:r>
              <a:rPr lang="en-US" sz="1800" dirty="0">
                <a:solidFill>
                  <a:schemeClr val="tx1"/>
                </a:solidFill>
              </a:rPr>
              <a:t> avec </a:t>
            </a:r>
            <a:r>
              <a:rPr lang="en-US" sz="1800" dirty="0" err="1">
                <a:solidFill>
                  <a:schemeClr val="tx1"/>
                </a:solidFill>
              </a:rPr>
              <a:t>simplement</a:t>
            </a:r>
            <a:r>
              <a:rPr lang="en-US" sz="1800" dirty="0">
                <a:solidFill>
                  <a:schemeClr val="tx1"/>
                </a:solidFill>
              </a:rPr>
              <a:t> version regionalized de </a:t>
            </a:r>
            <a:r>
              <a:rPr lang="en-US" sz="1800" dirty="0" err="1">
                <a:solidFill>
                  <a:schemeClr val="tx1"/>
                </a:solidFill>
              </a:rPr>
              <a:t>ces</a:t>
            </a:r>
            <a:r>
              <a:rPr lang="en-US" sz="1800" dirty="0">
                <a:solidFill>
                  <a:schemeClr val="tx1"/>
                </a:solidFill>
              </a:rPr>
              <a:t> DBs</a:t>
            </a:r>
          </a:p>
          <a:p>
            <a:pPr marL="342900" indent="-342900">
              <a:spcBef>
                <a:spcPts val="0"/>
              </a:spcBef>
              <a:buFont typeface="Arial" panose="020B0604020202020204" pitchFamily="34" charset="0"/>
              <a:buChar char="•"/>
            </a:pPr>
            <a:endParaRPr lang="en-US" sz="1800" dirty="0">
              <a:solidFill>
                <a:schemeClr val="tx1"/>
              </a:solidFill>
            </a:endParaRPr>
          </a:p>
          <a:p>
            <a:pPr marL="342900" indent="-342900">
              <a:spcBef>
                <a:spcPts val="0"/>
              </a:spcBef>
              <a:buFont typeface="Arial" panose="020B0604020202020204" pitchFamily="34" charset="0"/>
              <a:buChar char="•"/>
            </a:pPr>
            <a:endParaRPr lang="en-US" sz="1800" dirty="0">
              <a:solidFill>
                <a:schemeClr val="tx1"/>
              </a:solidFill>
            </a:endParaRPr>
          </a:p>
          <a:p>
            <a:pPr marL="0" indent="0">
              <a:spcBef>
                <a:spcPts val="0"/>
              </a:spcBef>
            </a:pPr>
            <a:endParaRPr lang="en-US" sz="1800" b="1" dirty="0">
              <a:solidFill>
                <a:schemeClr val="tx1"/>
              </a:solidFill>
            </a:endParaRPr>
          </a:p>
          <a:p>
            <a:pPr marL="0" indent="0">
              <a:spcBef>
                <a:spcPts val="0"/>
              </a:spcBef>
            </a:pPr>
            <a:endParaRPr lang="en-US" sz="1800" dirty="0">
              <a:solidFill>
                <a:schemeClr val="tx1"/>
              </a:solidFill>
            </a:endParaRPr>
          </a:p>
        </p:txBody>
      </p:sp>
      <p:sp>
        <p:nvSpPr>
          <p:cNvPr id="238" name="Google Shape;238;p13">
            <a:extLst>
              <a:ext uri="{FF2B5EF4-FFF2-40B4-BE49-F238E27FC236}">
                <a16:creationId xmlns:a16="http://schemas.microsoft.com/office/drawing/2014/main" id="{689FB8C0-4E83-A0A8-B4BB-B989EA63D72D}"/>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Key points</a:t>
            </a:r>
            <a:endParaRPr dirty="0"/>
          </a:p>
        </p:txBody>
      </p:sp>
      <p:sp>
        <p:nvSpPr>
          <p:cNvPr id="239" name="Google Shape;239;p13">
            <a:extLst>
              <a:ext uri="{FF2B5EF4-FFF2-40B4-BE49-F238E27FC236}">
                <a16:creationId xmlns:a16="http://schemas.microsoft.com/office/drawing/2014/main" id="{49862503-07C8-1D34-7410-9A9939E0177E}"/>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15</a:t>
            </a:fld>
            <a:endParaRPr/>
          </a:p>
        </p:txBody>
      </p:sp>
    </p:spTree>
    <p:extLst>
      <p:ext uri="{BB962C8B-B14F-4D97-AF65-F5344CB8AC3E}">
        <p14:creationId xmlns:p14="http://schemas.microsoft.com/office/powerpoint/2010/main" val="3664577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1DC5C7A8-13A6-3BD3-ED4C-F6AE1AF2D3F6}"/>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66FE2153-30B6-EC98-CB9E-C4E4911A2310}"/>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b="1" dirty="0">
                <a:solidFill>
                  <a:schemeClr val="tx1"/>
                </a:solidFill>
              </a:rPr>
              <a:t>Chiffres </a:t>
            </a:r>
            <a:r>
              <a:rPr lang="en-US" sz="1800" b="1" dirty="0" err="1">
                <a:solidFill>
                  <a:schemeClr val="tx1"/>
                </a:solidFill>
              </a:rPr>
              <a:t>issus</a:t>
            </a:r>
            <a:r>
              <a:rPr lang="en-US" sz="1800" b="1" dirty="0">
                <a:solidFill>
                  <a:schemeClr val="tx1"/>
                </a:solidFill>
              </a:rPr>
              <a:t> de </a:t>
            </a:r>
            <a:r>
              <a:rPr lang="en-US" sz="1800" b="1" dirty="0" err="1">
                <a:solidFill>
                  <a:schemeClr val="tx1"/>
                </a:solidFill>
              </a:rPr>
              <a:t>Deetman</a:t>
            </a:r>
            <a:r>
              <a:rPr lang="en-US" sz="1800" b="1" dirty="0">
                <a:solidFill>
                  <a:schemeClr val="tx1"/>
                </a:solidFill>
              </a:rPr>
              <a:t> et al (2021) et Chen et al (2023)</a:t>
            </a:r>
          </a:p>
          <a:p>
            <a:pPr marL="342900" indent="-342900">
              <a:spcBef>
                <a:spcPts val="0"/>
              </a:spcBef>
              <a:buFont typeface="Arial" panose="020B0604020202020204" pitchFamily="34" charset="0"/>
              <a:buChar char="•"/>
            </a:pPr>
            <a:r>
              <a:rPr lang="en-US" sz="1800" dirty="0">
                <a:solidFill>
                  <a:schemeClr val="tx1"/>
                </a:solidFill>
              </a:rPr>
              <a:t>Grid MV gros </a:t>
            </a:r>
            <a:r>
              <a:rPr lang="en-US" sz="1800" dirty="0" err="1">
                <a:solidFill>
                  <a:schemeClr val="tx1"/>
                </a:solidFill>
              </a:rPr>
              <a:t>contributeurs</a:t>
            </a:r>
            <a:endParaRPr lang="en-US" sz="1800" dirty="0">
              <a:solidFill>
                <a:schemeClr val="tx1"/>
              </a:solidFill>
            </a:endParaRPr>
          </a:p>
          <a:p>
            <a:pPr marL="342900" indent="-342900">
              <a:spcBef>
                <a:spcPts val="0"/>
              </a:spcBef>
              <a:buFont typeface="Arial" panose="020B0604020202020204" pitchFamily="34" charset="0"/>
              <a:buChar char="•"/>
            </a:pPr>
            <a:r>
              <a:rPr lang="en-US" sz="1800" dirty="0">
                <a:solidFill>
                  <a:schemeClr val="tx1"/>
                </a:solidFill>
              </a:rPr>
              <a:t>Wind </a:t>
            </a:r>
            <a:r>
              <a:rPr lang="fr-FR" sz="1800" dirty="0">
                <a:solidFill>
                  <a:schemeClr val="tx1"/>
                </a:solidFill>
              </a:rPr>
              <a:t>à </a:t>
            </a:r>
            <a:r>
              <a:rPr lang="fr-FR" sz="1800" dirty="0" err="1">
                <a:solidFill>
                  <a:schemeClr val="tx1"/>
                </a:solidFill>
              </a:rPr>
              <a:t>recheck</a:t>
            </a:r>
            <a:r>
              <a:rPr lang="en-US" sz="1800" dirty="0">
                <a:solidFill>
                  <a:schemeClr val="tx1"/>
                </a:solidFill>
              </a:rPr>
              <a:t>?</a:t>
            </a:r>
          </a:p>
          <a:p>
            <a:pPr marL="342900" indent="-342900">
              <a:spcBef>
                <a:spcPts val="0"/>
              </a:spcBef>
              <a:buFont typeface="Arial" panose="020B0604020202020204" pitchFamily="34" charset="0"/>
              <a:buChar char="•"/>
            </a:pPr>
            <a:endParaRPr lang="en-US" sz="1800" dirty="0">
              <a:solidFill>
                <a:schemeClr val="tx1"/>
              </a:solidFill>
            </a:endParaRPr>
          </a:p>
          <a:p>
            <a:pPr marL="342900" indent="-342900">
              <a:spcBef>
                <a:spcPts val="0"/>
              </a:spcBef>
              <a:buFont typeface="Arial" panose="020B0604020202020204" pitchFamily="34" charset="0"/>
              <a:buChar char="•"/>
            </a:pPr>
            <a:endParaRPr lang="en-US" sz="1800" dirty="0">
              <a:solidFill>
                <a:schemeClr val="tx1"/>
              </a:solidFill>
            </a:endParaRPr>
          </a:p>
          <a:p>
            <a:pPr marL="0" indent="0">
              <a:spcBef>
                <a:spcPts val="0"/>
              </a:spcBef>
            </a:pPr>
            <a:r>
              <a:rPr lang="en-US" sz="1800" b="1" dirty="0">
                <a:solidFill>
                  <a:schemeClr val="tx1"/>
                </a:solidFill>
              </a:rPr>
              <a:t>Kalt et al (2021)</a:t>
            </a:r>
          </a:p>
          <a:p>
            <a:pPr marL="285750" indent="-285750">
              <a:spcBef>
                <a:spcPts val="0"/>
              </a:spcBef>
              <a:buFont typeface="Arial" panose="020B0604020202020204" pitchFamily="34" charset="0"/>
              <a:buChar char="•"/>
            </a:pPr>
            <a:r>
              <a:rPr lang="en-US" sz="1800" dirty="0">
                <a:solidFill>
                  <a:schemeClr val="tx1"/>
                </a:solidFill>
              </a:rPr>
              <a:t>Transmission grid et distribution grid </a:t>
            </a:r>
            <a:r>
              <a:rPr lang="en-US" sz="1800" dirty="0" err="1">
                <a:solidFill>
                  <a:schemeClr val="tx1"/>
                </a:solidFill>
              </a:rPr>
              <a:t>en</a:t>
            </a:r>
            <a:r>
              <a:rPr lang="en-US" sz="1800" dirty="0">
                <a:solidFill>
                  <a:schemeClr val="tx1"/>
                </a:solidFill>
              </a:rPr>
              <a:t> km</a:t>
            </a:r>
          </a:p>
          <a:p>
            <a:pPr marL="285750" indent="-285750">
              <a:spcBef>
                <a:spcPts val="0"/>
              </a:spcBef>
              <a:buFont typeface="Arial" panose="020B0604020202020204" pitchFamily="34" charset="0"/>
              <a:buChar char="•"/>
            </a:pPr>
            <a:endParaRPr lang="en-US" sz="1800" dirty="0">
              <a:solidFill>
                <a:schemeClr val="tx1"/>
              </a:solidFill>
            </a:endParaRPr>
          </a:p>
          <a:p>
            <a:pPr marL="285750" indent="-285750">
              <a:spcBef>
                <a:spcPts val="0"/>
              </a:spcBef>
              <a:buFont typeface="Arial" panose="020B0604020202020204" pitchFamily="34" charset="0"/>
              <a:buChar char="•"/>
            </a:pPr>
            <a:endParaRPr lang="en-US" sz="1800" dirty="0">
              <a:solidFill>
                <a:schemeClr val="tx1"/>
              </a:solidFill>
            </a:endParaRPr>
          </a:p>
          <a:p>
            <a:pPr marL="0" indent="0">
              <a:spcBef>
                <a:spcPts val="0"/>
              </a:spcBef>
            </a:pPr>
            <a:r>
              <a:rPr lang="en-US" sz="1800" b="1" dirty="0">
                <a:solidFill>
                  <a:schemeClr val="tx1"/>
                </a:solidFill>
              </a:rPr>
              <a:t>IEA</a:t>
            </a:r>
            <a:r>
              <a:rPr lang="en-US" sz="1800" dirty="0">
                <a:solidFill>
                  <a:schemeClr val="tx1"/>
                </a:solidFill>
              </a:rPr>
              <a:t> </a:t>
            </a:r>
          </a:p>
          <a:p>
            <a:pPr marL="285750" indent="-285750">
              <a:spcBef>
                <a:spcPts val="0"/>
              </a:spcBef>
              <a:buFont typeface="Arial" panose="020B0604020202020204" pitchFamily="34" charset="0"/>
              <a:buChar char="•"/>
            </a:pPr>
            <a:r>
              <a:rPr lang="en-US" sz="1800" dirty="0">
                <a:solidFill>
                  <a:schemeClr val="tx1"/>
                </a:solidFill>
              </a:rPr>
              <a:t>Grid = 45-61% de la </a:t>
            </a:r>
            <a:r>
              <a:rPr lang="en-US" sz="1800" dirty="0" err="1">
                <a:solidFill>
                  <a:schemeClr val="tx1"/>
                </a:solidFill>
              </a:rPr>
              <a:t>demande</a:t>
            </a:r>
            <a:r>
              <a:rPr lang="en-US" sz="1800" dirty="0">
                <a:solidFill>
                  <a:schemeClr val="tx1"/>
                </a:solidFill>
              </a:rPr>
              <a:t> </a:t>
            </a:r>
            <a:r>
              <a:rPr lang="en-US" sz="1800" dirty="0" err="1">
                <a:solidFill>
                  <a:schemeClr val="tx1"/>
                </a:solidFill>
              </a:rPr>
              <a:t>en</a:t>
            </a:r>
            <a:r>
              <a:rPr lang="en-US" sz="1800" dirty="0">
                <a:solidFill>
                  <a:schemeClr val="tx1"/>
                </a:solidFill>
              </a:rPr>
              <a:t> Cu des clean technologies dans Net Zero Scenario, </a:t>
            </a:r>
          </a:p>
          <a:p>
            <a:pPr marL="0" indent="0">
              <a:spcBef>
                <a:spcPts val="0"/>
              </a:spcBef>
            </a:pPr>
            <a:endParaRPr lang="en-US" sz="1800" b="1" dirty="0">
              <a:solidFill>
                <a:schemeClr val="tx1"/>
              </a:solidFill>
            </a:endParaRPr>
          </a:p>
          <a:p>
            <a:pPr marL="0" indent="0">
              <a:spcBef>
                <a:spcPts val="0"/>
              </a:spcBef>
            </a:pPr>
            <a:endParaRPr lang="en-US" sz="1800" dirty="0">
              <a:solidFill>
                <a:schemeClr val="tx1"/>
              </a:solidFill>
            </a:endParaRPr>
          </a:p>
        </p:txBody>
      </p:sp>
      <p:sp>
        <p:nvSpPr>
          <p:cNvPr id="238" name="Google Shape;238;p13">
            <a:extLst>
              <a:ext uri="{FF2B5EF4-FFF2-40B4-BE49-F238E27FC236}">
                <a16:creationId xmlns:a16="http://schemas.microsoft.com/office/drawing/2014/main" id="{43585131-AD69-3489-B546-7AA9F4B70085}"/>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Focus on grid</a:t>
            </a:r>
            <a:endParaRPr dirty="0"/>
          </a:p>
        </p:txBody>
      </p:sp>
      <p:sp>
        <p:nvSpPr>
          <p:cNvPr id="239" name="Google Shape;239;p13">
            <a:extLst>
              <a:ext uri="{FF2B5EF4-FFF2-40B4-BE49-F238E27FC236}">
                <a16:creationId xmlns:a16="http://schemas.microsoft.com/office/drawing/2014/main" id="{666CD995-5A31-9E21-C307-C428DC526B45}"/>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16</a:t>
            </a:fld>
            <a:endParaRPr/>
          </a:p>
        </p:txBody>
      </p:sp>
    </p:spTree>
    <p:extLst>
      <p:ext uri="{BB962C8B-B14F-4D97-AF65-F5344CB8AC3E}">
        <p14:creationId xmlns:p14="http://schemas.microsoft.com/office/powerpoint/2010/main" val="320581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4B831A2B-55F8-666E-5204-B773E8C21BDD}"/>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9FFDD1E4-6DE3-A365-A7F5-6C193C8FBB1E}"/>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New results with grid</a:t>
            </a:r>
            <a:endParaRPr dirty="0"/>
          </a:p>
        </p:txBody>
      </p:sp>
      <p:sp>
        <p:nvSpPr>
          <p:cNvPr id="239" name="Google Shape;239;p13">
            <a:extLst>
              <a:ext uri="{FF2B5EF4-FFF2-40B4-BE49-F238E27FC236}">
                <a16:creationId xmlns:a16="http://schemas.microsoft.com/office/drawing/2014/main" id="{16E5A6EE-D81B-01FD-DA92-98AC059A1281}"/>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17</a:t>
            </a:fld>
            <a:endParaRPr/>
          </a:p>
        </p:txBody>
      </p:sp>
      <p:pic>
        <p:nvPicPr>
          <p:cNvPr id="5" name="Graphique 4">
            <a:extLst>
              <a:ext uri="{FF2B5EF4-FFF2-40B4-BE49-F238E27FC236}">
                <a16:creationId xmlns:a16="http://schemas.microsoft.com/office/drawing/2014/main" id="{DCBA0742-AEE1-FD33-6FEE-16552897AC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90917" y="1118496"/>
            <a:ext cx="9901098" cy="5442640"/>
          </a:xfrm>
          <a:prstGeom prst="rect">
            <a:avLst/>
          </a:prstGeom>
        </p:spPr>
      </p:pic>
    </p:spTree>
    <p:extLst>
      <p:ext uri="{BB962C8B-B14F-4D97-AF65-F5344CB8AC3E}">
        <p14:creationId xmlns:p14="http://schemas.microsoft.com/office/powerpoint/2010/main" val="3375556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B08D559D-F3EB-3229-20AB-53C0B3D2B869}"/>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18C1A51D-78E0-6F41-4BBC-367D51F5AAB0}"/>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New results with grid</a:t>
            </a:r>
            <a:endParaRPr dirty="0"/>
          </a:p>
        </p:txBody>
      </p:sp>
      <p:sp>
        <p:nvSpPr>
          <p:cNvPr id="239" name="Google Shape;239;p13">
            <a:extLst>
              <a:ext uri="{FF2B5EF4-FFF2-40B4-BE49-F238E27FC236}">
                <a16:creationId xmlns:a16="http://schemas.microsoft.com/office/drawing/2014/main" id="{1CA7B4C0-8531-A356-680A-9B0C6DFB914F}"/>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18</a:t>
            </a:fld>
            <a:endParaRPr/>
          </a:p>
        </p:txBody>
      </p:sp>
      <p:pic>
        <p:nvPicPr>
          <p:cNvPr id="2" name="Graphique 1">
            <a:extLst>
              <a:ext uri="{FF2B5EF4-FFF2-40B4-BE49-F238E27FC236}">
                <a16:creationId xmlns:a16="http://schemas.microsoft.com/office/drawing/2014/main" id="{CE0CB3EF-8DF9-DE13-EADD-1EBBA147C3E7}"/>
              </a:ext>
            </a:extLst>
          </p:cNvPr>
          <p:cNvPicPr>
            <a:picLocks noChangeAspect="1"/>
          </p:cNvPicPr>
          <p:nvPr/>
        </p:nvPicPr>
        <p:blipFill>
          <a:blip r:embed="rId3">
            <a:extLst>
              <a:ext uri="{96DAC541-7B7A-43D3-8B79-37D633B846F1}">
                <asvg:svgBlip xmlns:asvg="http://schemas.microsoft.com/office/drawing/2016/SVG/main" r:embed="rId4"/>
              </a:ext>
            </a:extLst>
          </a:blip>
          <a:srcRect t="52706"/>
          <a:stretch>
            <a:fillRect/>
          </a:stretch>
        </p:blipFill>
        <p:spPr>
          <a:xfrm>
            <a:off x="6150473" y="1764395"/>
            <a:ext cx="6041527" cy="3888380"/>
          </a:xfrm>
          <a:prstGeom prst="rect">
            <a:avLst/>
          </a:prstGeom>
        </p:spPr>
      </p:pic>
      <p:pic>
        <p:nvPicPr>
          <p:cNvPr id="4" name="Image 3">
            <a:extLst>
              <a:ext uri="{FF2B5EF4-FFF2-40B4-BE49-F238E27FC236}">
                <a16:creationId xmlns:a16="http://schemas.microsoft.com/office/drawing/2014/main" id="{7715B192-A34D-0592-24F3-CBA1DE63C364}"/>
              </a:ext>
            </a:extLst>
          </p:cNvPr>
          <p:cNvPicPr>
            <a:picLocks noChangeAspect="1"/>
          </p:cNvPicPr>
          <p:nvPr/>
        </p:nvPicPr>
        <p:blipFill>
          <a:blip r:embed="rId5"/>
          <a:stretch>
            <a:fillRect/>
          </a:stretch>
        </p:blipFill>
        <p:spPr>
          <a:xfrm>
            <a:off x="399698" y="1764395"/>
            <a:ext cx="5750775" cy="3888380"/>
          </a:xfrm>
          <a:prstGeom prst="rect">
            <a:avLst/>
          </a:prstGeom>
        </p:spPr>
      </p:pic>
    </p:spTree>
    <p:extLst>
      <p:ext uri="{BB962C8B-B14F-4D97-AF65-F5344CB8AC3E}">
        <p14:creationId xmlns:p14="http://schemas.microsoft.com/office/powerpoint/2010/main" val="2631534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D1E8A22A-2B8F-E246-237A-CD6C7D462DE7}"/>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284A5629-BF94-EE53-EB75-1112679643BB}"/>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Results – Production vs Demand for selected metals</a:t>
            </a:r>
            <a:endParaRPr dirty="0"/>
          </a:p>
        </p:txBody>
      </p:sp>
      <p:sp>
        <p:nvSpPr>
          <p:cNvPr id="239" name="Google Shape;239;p13">
            <a:extLst>
              <a:ext uri="{FF2B5EF4-FFF2-40B4-BE49-F238E27FC236}">
                <a16:creationId xmlns:a16="http://schemas.microsoft.com/office/drawing/2014/main" id="{B757DFBE-0534-AFCF-2536-132FC311D2AB}"/>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19</a:t>
            </a:fld>
            <a:endParaRPr/>
          </a:p>
        </p:txBody>
      </p:sp>
      <p:pic>
        <p:nvPicPr>
          <p:cNvPr id="3" name="Graphique 2">
            <a:extLst>
              <a:ext uri="{FF2B5EF4-FFF2-40B4-BE49-F238E27FC236}">
                <a16:creationId xmlns:a16="http://schemas.microsoft.com/office/drawing/2014/main" id="{B765E89E-4395-F026-D02B-011FA7C73B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8842" y="1361578"/>
            <a:ext cx="9074316" cy="5149368"/>
          </a:xfrm>
          <a:prstGeom prst="rect">
            <a:avLst/>
          </a:prstGeom>
        </p:spPr>
      </p:pic>
    </p:spTree>
    <p:extLst>
      <p:ext uri="{BB962C8B-B14F-4D97-AF65-F5344CB8AC3E}">
        <p14:creationId xmlns:p14="http://schemas.microsoft.com/office/powerpoint/2010/main" val="2956023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42060171-5F6F-9A3F-C443-8898A99A3594}"/>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2217BC18-FB27-9C81-888B-50731CD0A939}"/>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2023 production data calibration</a:t>
            </a:r>
            <a:endParaRPr dirty="0"/>
          </a:p>
        </p:txBody>
      </p:sp>
      <p:sp>
        <p:nvSpPr>
          <p:cNvPr id="239" name="Google Shape;239;p13">
            <a:extLst>
              <a:ext uri="{FF2B5EF4-FFF2-40B4-BE49-F238E27FC236}">
                <a16:creationId xmlns:a16="http://schemas.microsoft.com/office/drawing/2014/main" id="{C8FB5003-64F2-E978-D883-2A9D03E7B424}"/>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20</a:t>
            </a:fld>
            <a:endParaRPr/>
          </a:p>
        </p:txBody>
      </p:sp>
      <p:graphicFrame>
        <p:nvGraphicFramePr>
          <p:cNvPr id="2" name="Graphique 1">
            <a:extLst>
              <a:ext uri="{FF2B5EF4-FFF2-40B4-BE49-F238E27FC236}">
                <a16:creationId xmlns:a16="http://schemas.microsoft.com/office/drawing/2014/main" id="{6E6F6B23-8571-A2A5-B252-45580ABE95FB}"/>
              </a:ext>
            </a:extLst>
          </p:cNvPr>
          <p:cNvGraphicFramePr>
            <a:graphicFrameLocks/>
          </p:cNvGraphicFramePr>
          <p:nvPr>
            <p:extLst>
              <p:ext uri="{D42A27DB-BD31-4B8C-83A1-F6EECF244321}">
                <p14:modId xmlns:p14="http://schemas.microsoft.com/office/powerpoint/2010/main" val="3724679350"/>
              </p:ext>
            </p:extLst>
          </p:nvPr>
        </p:nvGraphicFramePr>
        <p:xfrm>
          <a:off x="2803917" y="1456530"/>
          <a:ext cx="7444103" cy="44601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79847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8985AB69-56CB-B12E-CA2A-13F9A881857F}"/>
            </a:ext>
          </a:extLst>
        </p:cNvPr>
        <p:cNvGrpSpPr/>
        <p:nvPr/>
      </p:nvGrpSpPr>
      <p:grpSpPr>
        <a:xfrm>
          <a:off x="0" y="0"/>
          <a:ext cx="0" cy="0"/>
          <a:chOff x="0" y="0"/>
          <a:chExt cx="0" cy="0"/>
        </a:xfrm>
      </p:grpSpPr>
      <p:sp>
        <p:nvSpPr>
          <p:cNvPr id="189" name="Google Shape;189;p6">
            <a:extLst>
              <a:ext uri="{FF2B5EF4-FFF2-40B4-BE49-F238E27FC236}">
                <a16:creationId xmlns:a16="http://schemas.microsoft.com/office/drawing/2014/main" id="{BBB2DA4E-ED84-E805-0DDE-9BE76F7F1859}"/>
              </a:ext>
            </a:extLst>
          </p:cNvPr>
          <p:cNvSpPr txBox="1">
            <a:spLocks noGrp="1"/>
          </p:cNvSpPr>
          <p:nvPr>
            <p:ph type="ctrTitle"/>
          </p:nvPr>
        </p:nvSpPr>
        <p:spPr>
          <a:xfrm>
            <a:off x="1404000" y="2051999"/>
            <a:ext cx="4680000" cy="1544400"/>
          </a:xfrm>
          <a:prstGeom prst="rect">
            <a:avLst/>
          </a:prstGeom>
          <a:noFill/>
          <a:ln>
            <a:noFill/>
          </a:ln>
        </p:spPr>
        <p:txBody>
          <a:bodyPr spcFirstLastPara="1" wrap="square" lIns="0" tIns="0" rIns="0" bIns="0" anchor="b" anchorCtr="0">
            <a:noAutofit/>
          </a:bodyPr>
          <a:lstStyle/>
          <a:p>
            <a:pPr marL="0" lvl="0" indent="0" algn="l" rtl="0">
              <a:lnSpc>
                <a:spcPct val="111111"/>
              </a:lnSpc>
              <a:spcBef>
                <a:spcPts val="0"/>
              </a:spcBef>
              <a:spcAft>
                <a:spcPts val="0"/>
              </a:spcAft>
              <a:buClr>
                <a:schemeClr val="accent1"/>
              </a:buClr>
              <a:buSzPts val="3600"/>
              <a:buFont typeface="Calibri"/>
              <a:buNone/>
            </a:pPr>
            <a:r>
              <a:rPr lang="fr-FR" dirty="0"/>
              <a:t>3. Meeting 14/01/26</a:t>
            </a:r>
            <a:endParaRPr dirty="0"/>
          </a:p>
        </p:txBody>
      </p:sp>
      <p:sp>
        <p:nvSpPr>
          <p:cNvPr id="3" name="Sous-titre 2">
            <a:extLst>
              <a:ext uri="{FF2B5EF4-FFF2-40B4-BE49-F238E27FC236}">
                <a16:creationId xmlns:a16="http://schemas.microsoft.com/office/drawing/2014/main" id="{D432E6BB-998F-6FA2-667C-6E58EB8CFA00}"/>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258077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249C0CA7-968C-DCBA-9897-CD7B87518DA6}"/>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2FBD04B6-F7F8-970A-EB84-AB0DD29D7D71}"/>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0" indent="0">
              <a:spcBef>
                <a:spcPts val="0"/>
              </a:spcBef>
            </a:pPr>
            <a:r>
              <a:rPr lang="en-US" sz="1800" b="1" dirty="0">
                <a:solidFill>
                  <a:schemeClr val="tx1"/>
                </a:solidFill>
              </a:rPr>
              <a:t>Old approach</a:t>
            </a:r>
          </a:p>
          <a:p>
            <a:pPr marL="342900" indent="-342900">
              <a:spcBef>
                <a:spcPts val="0"/>
              </a:spcBef>
              <a:buFont typeface="Arial" panose="020B0604020202020204" pitchFamily="34" charset="0"/>
              <a:buChar char="•"/>
            </a:pPr>
            <a:r>
              <a:rPr lang="en-US" sz="1800" dirty="0">
                <a:solidFill>
                  <a:schemeClr val="tx1"/>
                </a:solidFill>
              </a:rPr>
              <a:t>t/km * km/GW from Titouan</a:t>
            </a:r>
          </a:p>
          <a:p>
            <a:pPr marL="342900" indent="-342900">
              <a:spcBef>
                <a:spcPts val="0"/>
              </a:spcBef>
              <a:buFont typeface="Arial" panose="020B0604020202020204" pitchFamily="34" charset="0"/>
              <a:buChar char="•"/>
            </a:pPr>
            <a:r>
              <a:rPr lang="fr-FR" sz="1800" dirty="0">
                <a:solidFill>
                  <a:schemeClr val="tx1"/>
                </a:solidFill>
              </a:rPr>
              <a:t>Scope: HV + MV + LV for </a:t>
            </a:r>
            <a:r>
              <a:rPr lang="fr-FR" sz="1800" dirty="0" err="1">
                <a:solidFill>
                  <a:schemeClr val="tx1"/>
                </a:solidFill>
              </a:rPr>
              <a:t>lines</a:t>
            </a:r>
            <a:r>
              <a:rPr lang="fr-FR" sz="1800" dirty="0">
                <a:solidFill>
                  <a:schemeClr val="tx1"/>
                </a:solidFill>
              </a:rPr>
              <a:t>, </a:t>
            </a:r>
            <a:r>
              <a:rPr lang="fr-FR" sz="1800" dirty="0" err="1">
                <a:solidFill>
                  <a:schemeClr val="tx1"/>
                </a:solidFill>
              </a:rPr>
              <a:t>substation</a:t>
            </a:r>
            <a:r>
              <a:rPr lang="fr-FR" sz="1800" dirty="0">
                <a:solidFill>
                  <a:schemeClr val="tx1"/>
                </a:solidFill>
              </a:rPr>
              <a:t> and transformer</a:t>
            </a:r>
          </a:p>
          <a:p>
            <a:pPr marL="342900" indent="-342900">
              <a:spcBef>
                <a:spcPts val="0"/>
              </a:spcBef>
              <a:buFont typeface="Arial" panose="020B0604020202020204" pitchFamily="34" charset="0"/>
              <a:buChar char="•"/>
            </a:pPr>
            <a:r>
              <a:rPr lang="fr-FR" sz="1800" dirty="0" err="1">
                <a:solidFill>
                  <a:schemeClr val="tx1"/>
                </a:solidFill>
              </a:rPr>
              <a:t>Results</a:t>
            </a:r>
            <a:r>
              <a:rPr lang="fr-FR" sz="1800" dirty="0">
                <a:solidFill>
                  <a:schemeClr val="tx1"/>
                </a:solidFill>
              </a:rPr>
              <a:t>: &gt; 75% </a:t>
            </a:r>
            <a:r>
              <a:rPr lang="fr-FR" sz="1800" dirty="0" err="1">
                <a:solidFill>
                  <a:schemeClr val="tx1"/>
                </a:solidFill>
              </a:rPr>
              <a:t>demand</a:t>
            </a:r>
            <a:r>
              <a:rPr lang="fr-FR" sz="1800" dirty="0">
                <a:solidFill>
                  <a:schemeClr val="tx1"/>
                </a:solidFill>
              </a:rPr>
              <a:t> for Cu </a:t>
            </a:r>
            <a:r>
              <a:rPr lang="fr-FR" sz="1800" dirty="0" err="1">
                <a:solidFill>
                  <a:schemeClr val="tx1"/>
                </a:solidFill>
              </a:rPr>
              <a:t>is</a:t>
            </a:r>
            <a:r>
              <a:rPr lang="fr-FR" sz="1800" dirty="0">
                <a:solidFill>
                  <a:schemeClr val="tx1"/>
                </a:solidFill>
              </a:rPr>
              <a:t> for </a:t>
            </a:r>
            <a:r>
              <a:rPr lang="fr-FR" sz="1800" dirty="0" err="1">
                <a:solidFill>
                  <a:schemeClr val="tx1"/>
                </a:solidFill>
              </a:rPr>
              <a:t>grid</a:t>
            </a:r>
            <a:r>
              <a:rPr lang="fr-FR" sz="1800" dirty="0">
                <a:solidFill>
                  <a:schemeClr val="tx1"/>
                </a:solidFill>
              </a:rPr>
              <a:t> (</a:t>
            </a:r>
            <a:r>
              <a:rPr lang="fr-FR" sz="1800" dirty="0" err="1">
                <a:solidFill>
                  <a:schemeClr val="tx1"/>
                </a:solidFill>
              </a:rPr>
              <a:t>mainly</a:t>
            </a:r>
            <a:r>
              <a:rPr lang="fr-FR" sz="1800" dirty="0">
                <a:solidFill>
                  <a:schemeClr val="tx1"/>
                </a:solidFill>
              </a:rPr>
              <a:t> MV), more </a:t>
            </a:r>
            <a:r>
              <a:rPr lang="fr-FR" sz="1800" dirty="0" err="1">
                <a:solidFill>
                  <a:schemeClr val="tx1"/>
                </a:solidFill>
              </a:rPr>
              <a:t>than</a:t>
            </a:r>
            <a:r>
              <a:rPr lang="fr-FR" sz="1800" dirty="0">
                <a:solidFill>
                  <a:schemeClr val="tx1"/>
                </a:solidFill>
              </a:rPr>
              <a:t> 80% Al and Pb </a:t>
            </a:r>
            <a:r>
              <a:rPr lang="fr-FR" sz="1800" dirty="0" err="1">
                <a:solidFill>
                  <a:schemeClr val="tx1"/>
                </a:solidFill>
              </a:rPr>
              <a:t>is</a:t>
            </a:r>
            <a:r>
              <a:rPr lang="fr-FR" sz="1800" dirty="0">
                <a:solidFill>
                  <a:schemeClr val="tx1"/>
                </a:solidFill>
              </a:rPr>
              <a:t> for </a:t>
            </a:r>
            <a:r>
              <a:rPr lang="fr-FR" sz="1800" dirty="0" err="1">
                <a:solidFill>
                  <a:schemeClr val="tx1"/>
                </a:solidFill>
              </a:rPr>
              <a:t>grid</a:t>
            </a:r>
            <a:r>
              <a:rPr lang="fr-FR" sz="1800" dirty="0">
                <a:solidFill>
                  <a:schemeClr val="tx1"/>
                </a:solidFill>
              </a:rPr>
              <a:t> (</a:t>
            </a:r>
            <a:r>
              <a:rPr lang="fr-FR" sz="1800" dirty="0" err="1">
                <a:solidFill>
                  <a:schemeClr val="tx1"/>
                </a:solidFill>
              </a:rPr>
              <a:t>respectively</a:t>
            </a:r>
            <a:r>
              <a:rPr lang="fr-FR" sz="1800" dirty="0">
                <a:solidFill>
                  <a:schemeClr val="tx1"/>
                </a:solidFill>
              </a:rPr>
              <a:t> HV+LV and MV)</a:t>
            </a:r>
          </a:p>
          <a:p>
            <a:pPr marL="342900" indent="-342900">
              <a:spcBef>
                <a:spcPts val="0"/>
              </a:spcBef>
              <a:buFont typeface="Arial" panose="020B0604020202020204" pitchFamily="34" charset="0"/>
              <a:buChar char="•"/>
            </a:pPr>
            <a:endParaRPr lang="fr-FR" sz="1800" dirty="0">
              <a:solidFill>
                <a:schemeClr val="tx1"/>
              </a:solidFill>
            </a:endParaRPr>
          </a:p>
          <a:p>
            <a:pPr marL="342900" indent="-342900">
              <a:spcBef>
                <a:spcPts val="0"/>
              </a:spcBef>
              <a:buFont typeface="Wingdings" panose="05000000000000000000" pitchFamily="2" charset="2"/>
              <a:buChar char="Ø"/>
            </a:pPr>
            <a:r>
              <a:rPr lang="fr-FR" sz="1800" dirty="0" err="1">
                <a:solidFill>
                  <a:schemeClr val="tx1"/>
                </a:solidFill>
              </a:rPr>
              <a:t>Rationale</a:t>
            </a:r>
            <a:r>
              <a:rPr lang="fr-FR" sz="1800" dirty="0">
                <a:solidFill>
                  <a:schemeClr val="tx1"/>
                </a:solidFill>
              </a:rPr>
              <a:t> for prospective: </a:t>
            </a:r>
            <a:r>
              <a:rPr lang="fr-FR" sz="1800" dirty="0" err="1">
                <a:solidFill>
                  <a:schemeClr val="tx1"/>
                </a:solidFill>
              </a:rPr>
              <a:t>grid</a:t>
            </a:r>
            <a:r>
              <a:rPr lang="fr-FR" sz="1800" dirty="0">
                <a:solidFill>
                  <a:schemeClr val="tx1"/>
                </a:solidFill>
              </a:rPr>
              <a:t> </a:t>
            </a:r>
            <a:r>
              <a:rPr lang="fr-FR" sz="1800" dirty="0" err="1">
                <a:solidFill>
                  <a:schemeClr val="tx1"/>
                </a:solidFill>
              </a:rPr>
              <a:t>is</a:t>
            </a:r>
            <a:r>
              <a:rPr lang="fr-FR" sz="1800" dirty="0">
                <a:solidFill>
                  <a:schemeClr val="tx1"/>
                </a:solidFill>
              </a:rPr>
              <a:t> </a:t>
            </a:r>
            <a:r>
              <a:rPr lang="fr-FR" sz="1800" dirty="0" err="1">
                <a:solidFill>
                  <a:schemeClr val="tx1"/>
                </a:solidFill>
              </a:rPr>
              <a:t>capacity-dependent</a:t>
            </a:r>
            <a:r>
              <a:rPr lang="fr-FR" sz="1800" dirty="0">
                <a:solidFill>
                  <a:schemeClr val="tx1"/>
                </a:solidFill>
              </a:rPr>
              <a:t> (</a:t>
            </a:r>
            <a:r>
              <a:rPr lang="fr-FR" sz="1800" dirty="0" err="1">
                <a:solidFill>
                  <a:schemeClr val="tx1"/>
                </a:solidFill>
              </a:rPr>
              <a:t>eg</a:t>
            </a:r>
            <a:r>
              <a:rPr lang="fr-FR" sz="1800" dirty="0">
                <a:solidFill>
                  <a:schemeClr val="tx1"/>
                </a:solidFill>
              </a:rPr>
              <a:t> km = a * GW). </a:t>
            </a:r>
          </a:p>
          <a:p>
            <a:pPr marL="342900" indent="-342900">
              <a:spcBef>
                <a:spcPts val="0"/>
              </a:spcBef>
              <a:buFont typeface="Arial" panose="020B0604020202020204" pitchFamily="34" charset="0"/>
              <a:buChar char="•"/>
            </a:pPr>
            <a:endParaRPr lang="en-US" sz="1800" dirty="0">
              <a:solidFill>
                <a:schemeClr val="tx1"/>
              </a:solidFill>
            </a:endParaRPr>
          </a:p>
          <a:p>
            <a:pPr marL="0" indent="0">
              <a:spcBef>
                <a:spcPts val="0"/>
              </a:spcBef>
            </a:pPr>
            <a:r>
              <a:rPr lang="en-US" sz="1800" b="1" dirty="0">
                <a:solidFill>
                  <a:schemeClr val="tx1"/>
                </a:solidFill>
              </a:rPr>
              <a:t>Kalt et al</a:t>
            </a:r>
          </a:p>
          <a:p>
            <a:pPr marL="342900" indent="-342900">
              <a:spcBef>
                <a:spcPts val="0"/>
              </a:spcBef>
              <a:buFont typeface="Arial" panose="020B0604020202020204" pitchFamily="34" charset="0"/>
              <a:buChar char="•"/>
            </a:pPr>
            <a:r>
              <a:rPr lang="en-US" sz="1800" dirty="0">
                <a:solidFill>
                  <a:schemeClr val="tx1"/>
                </a:solidFill>
              </a:rPr>
              <a:t>For 2017 from Kalt et al (2017): Circuit-length km transmission and distribution grid, Giga Volt Ampere (GVA) for transformers for Canada for 2017 </a:t>
            </a:r>
            <a:r>
              <a:rPr lang="en-US" sz="1800" dirty="0">
                <a:solidFill>
                  <a:schemeClr val="tx1"/>
                </a:solidFill>
                <a:sym typeface="Wingdings" panose="05000000000000000000" pitchFamily="2" charset="2"/>
              </a:rPr>
              <a:t> we multiply both to get t of steel, </a:t>
            </a:r>
            <a:r>
              <a:rPr lang="en-US" sz="1800" dirty="0" err="1">
                <a:solidFill>
                  <a:schemeClr val="tx1"/>
                </a:solidFill>
                <a:sym typeface="Wingdings" panose="05000000000000000000" pitchFamily="2" charset="2"/>
              </a:rPr>
              <a:t>aluminium</a:t>
            </a:r>
            <a:r>
              <a:rPr lang="en-US" sz="1800" dirty="0">
                <a:solidFill>
                  <a:schemeClr val="tx1"/>
                </a:solidFill>
                <a:sym typeface="Wingdings" panose="05000000000000000000" pitchFamily="2" charset="2"/>
              </a:rPr>
              <a:t>, concrete and copper</a:t>
            </a:r>
          </a:p>
          <a:p>
            <a:pPr marL="342900" indent="-342900">
              <a:spcBef>
                <a:spcPts val="0"/>
              </a:spcBef>
              <a:buFont typeface="Arial" panose="020B0604020202020204" pitchFamily="34" charset="0"/>
              <a:buChar char="•"/>
            </a:pPr>
            <a:endParaRPr lang="en-US" sz="1800" dirty="0">
              <a:solidFill>
                <a:schemeClr val="tx1"/>
              </a:solidFill>
            </a:endParaRPr>
          </a:p>
          <a:p>
            <a:pPr marL="342900" indent="-342900">
              <a:spcBef>
                <a:spcPts val="0"/>
              </a:spcBef>
              <a:buFont typeface="Wingdings" panose="05000000000000000000" pitchFamily="2" charset="2"/>
              <a:buChar char="Ø"/>
            </a:pPr>
            <a:r>
              <a:rPr lang="fr-FR" sz="1800" dirty="0" err="1">
                <a:solidFill>
                  <a:schemeClr val="tx1"/>
                </a:solidFill>
              </a:rPr>
              <a:t>Rationale</a:t>
            </a:r>
            <a:r>
              <a:rPr lang="fr-FR" sz="1800" dirty="0">
                <a:solidFill>
                  <a:schemeClr val="tx1"/>
                </a:solidFill>
              </a:rPr>
              <a:t> for prospective: stock-</a:t>
            </a:r>
            <a:r>
              <a:rPr lang="fr-FR" sz="1800" dirty="0" err="1">
                <a:solidFill>
                  <a:schemeClr val="tx1"/>
                </a:solidFill>
              </a:rPr>
              <a:t>driven</a:t>
            </a:r>
            <a:r>
              <a:rPr lang="fr-FR" sz="1800" dirty="0">
                <a:solidFill>
                  <a:schemeClr val="tx1"/>
                </a:solidFill>
              </a:rPr>
              <a:t>; </a:t>
            </a:r>
            <a:r>
              <a:rPr lang="fr-FR" sz="1800" dirty="0" err="1">
                <a:solidFill>
                  <a:schemeClr val="tx1"/>
                </a:solidFill>
              </a:rPr>
              <a:t>grid</a:t>
            </a:r>
            <a:r>
              <a:rPr lang="fr-FR" sz="1800" dirty="0">
                <a:solidFill>
                  <a:schemeClr val="tx1"/>
                </a:solidFill>
              </a:rPr>
              <a:t> </a:t>
            </a:r>
            <a:r>
              <a:rPr lang="fr-FR" sz="1800" dirty="0" err="1">
                <a:solidFill>
                  <a:schemeClr val="tx1"/>
                </a:solidFill>
              </a:rPr>
              <a:t>is</a:t>
            </a:r>
            <a:r>
              <a:rPr lang="fr-FR" sz="1800" dirty="0">
                <a:solidFill>
                  <a:schemeClr val="tx1"/>
                </a:solidFill>
              </a:rPr>
              <a:t> not </a:t>
            </a:r>
            <a:r>
              <a:rPr lang="fr-FR" sz="1800" dirty="0" err="1">
                <a:solidFill>
                  <a:schemeClr val="tx1"/>
                </a:solidFill>
              </a:rPr>
              <a:t>capacity-dependent</a:t>
            </a:r>
            <a:r>
              <a:rPr lang="fr-FR" sz="1800" dirty="0">
                <a:solidFill>
                  <a:schemeClr val="tx1"/>
                </a:solidFill>
              </a:rPr>
              <a:t>. In </a:t>
            </a:r>
            <a:r>
              <a:rPr lang="fr-FR" sz="1800" dirty="0" err="1">
                <a:solidFill>
                  <a:schemeClr val="tx1"/>
                </a:solidFill>
              </a:rPr>
              <a:t>Kalt</a:t>
            </a:r>
            <a:r>
              <a:rPr lang="fr-FR" sz="1800" dirty="0">
                <a:solidFill>
                  <a:schemeClr val="tx1"/>
                </a:solidFill>
              </a:rPr>
              <a:t> et al (2022), transmission </a:t>
            </a:r>
            <a:r>
              <a:rPr lang="fr-FR" sz="1800" dirty="0" err="1">
                <a:solidFill>
                  <a:schemeClr val="tx1"/>
                </a:solidFill>
              </a:rPr>
              <a:t>grid</a:t>
            </a:r>
            <a:r>
              <a:rPr lang="fr-FR" sz="1800" dirty="0">
                <a:solidFill>
                  <a:schemeClr val="tx1"/>
                </a:solidFill>
              </a:rPr>
              <a:t> </a:t>
            </a:r>
            <a:r>
              <a:rPr lang="fr-FR" sz="1800" dirty="0" err="1">
                <a:solidFill>
                  <a:schemeClr val="tx1"/>
                </a:solidFill>
              </a:rPr>
              <a:t>length</a:t>
            </a:r>
            <a:r>
              <a:rPr lang="fr-FR" sz="1800" dirty="0">
                <a:solidFill>
                  <a:schemeClr val="tx1"/>
                </a:solidFill>
              </a:rPr>
              <a:t> </a:t>
            </a:r>
            <a:r>
              <a:rPr lang="fr-FR" sz="1800" dirty="0" err="1">
                <a:solidFill>
                  <a:schemeClr val="tx1"/>
                </a:solidFill>
              </a:rPr>
              <a:t>regression</a:t>
            </a:r>
            <a:r>
              <a:rPr lang="fr-FR" sz="1800" dirty="0">
                <a:solidFill>
                  <a:schemeClr val="tx1"/>
                </a:solidFill>
              </a:rPr>
              <a:t> model </a:t>
            </a:r>
            <a:r>
              <a:rPr lang="fr-FR" sz="1800" dirty="0" err="1">
                <a:solidFill>
                  <a:schemeClr val="tx1"/>
                </a:solidFill>
              </a:rPr>
              <a:t>based</a:t>
            </a:r>
            <a:r>
              <a:rPr lang="fr-FR" sz="1800" dirty="0">
                <a:solidFill>
                  <a:schemeClr val="tx1"/>
                </a:solidFill>
              </a:rPr>
              <a:t> on </a:t>
            </a:r>
            <a:r>
              <a:rPr lang="fr-FR" sz="1800" dirty="0" err="1">
                <a:solidFill>
                  <a:schemeClr val="tx1"/>
                </a:solidFill>
              </a:rPr>
              <a:t>electricity</a:t>
            </a:r>
            <a:r>
              <a:rPr lang="fr-FR" sz="1800" dirty="0">
                <a:solidFill>
                  <a:schemeClr val="tx1"/>
                </a:solidFill>
              </a:rPr>
              <a:t> </a:t>
            </a:r>
            <a:r>
              <a:rPr lang="fr-FR" sz="1800" dirty="0" err="1">
                <a:solidFill>
                  <a:schemeClr val="tx1"/>
                </a:solidFill>
              </a:rPr>
              <a:t>generation</a:t>
            </a:r>
            <a:r>
              <a:rPr lang="fr-FR" sz="1800" dirty="0">
                <a:solidFill>
                  <a:schemeClr val="tx1"/>
                </a:solidFill>
              </a:rPr>
              <a:t> </a:t>
            </a:r>
            <a:r>
              <a:rPr lang="fr-FR" sz="1800" dirty="0" err="1">
                <a:solidFill>
                  <a:schemeClr val="tx1"/>
                </a:solidFill>
              </a:rPr>
              <a:t>technology</a:t>
            </a:r>
            <a:r>
              <a:rPr lang="fr-FR" sz="1800" dirty="0">
                <a:solidFill>
                  <a:schemeClr val="tx1"/>
                </a:solidFill>
              </a:rPr>
              <a:t>, population </a:t>
            </a:r>
            <a:r>
              <a:rPr lang="fr-FR" sz="1800" dirty="0" err="1">
                <a:solidFill>
                  <a:schemeClr val="tx1"/>
                </a:solidFill>
              </a:rPr>
              <a:t>with</a:t>
            </a:r>
            <a:r>
              <a:rPr lang="fr-FR" sz="1800" dirty="0">
                <a:solidFill>
                  <a:schemeClr val="tx1"/>
                </a:solidFill>
              </a:rPr>
              <a:t> </a:t>
            </a:r>
            <a:r>
              <a:rPr lang="fr-FR" sz="1800" dirty="0" err="1">
                <a:solidFill>
                  <a:schemeClr val="tx1"/>
                </a:solidFill>
              </a:rPr>
              <a:t>access</a:t>
            </a:r>
            <a:r>
              <a:rPr lang="fr-FR" sz="1800" dirty="0">
                <a:solidFill>
                  <a:schemeClr val="tx1"/>
                </a:solidFill>
              </a:rPr>
              <a:t> to </a:t>
            </a:r>
            <a:r>
              <a:rPr lang="fr-FR" sz="1800" dirty="0" err="1">
                <a:solidFill>
                  <a:schemeClr val="tx1"/>
                </a:solidFill>
              </a:rPr>
              <a:t>electricity</a:t>
            </a:r>
            <a:r>
              <a:rPr lang="fr-FR" sz="1800" dirty="0">
                <a:solidFill>
                  <a:schemeClr val="tx1"/>
                </a:solidFill>
              </a:rPr>
              <a:t>, and distribution </a:t>
            </a:r>
            <a:r>
              <a:rPr lang="fr-FR" sz="1800" dirty="0" err="1">
                <a:solidFill>
                  <a:schemeClr val="tx1"/>
                </a:solidFill>
              </a:rPr>
              <a:t>grids</a:t>
            </a:r>
            <a:r>
              <a:rPr lang="fr-FR" sz="1800" dirty="0">
                <a:solidFill>
                  <a:schemeClr val="tx1"/>
                </a:solidFill>
              </a:rPr>
              <a:t>. </a:t>
            </a:r>
            <a:r>
              <a:rPr lang="fr-FR" sz="1800" u="sng" dirty="0">
                <a:solidFill>
                  <a:schemeClr val="tx1"/>
                </a:solidFill>
              </a:rPr>
              <a:t>BUT </a:t>
            </a:r>
            <a:r>
              <a:rPr lang="fr-FR" sz="1800" u="sng" dirty="0" err="1">
                <a:solidFill>
                  <a:schemeClr val="tx1"/>
                </a:solidFill>
              </a:rPr>
              <a:t>only</a:t>
            </a:r>
            <a:r>
              <a:rPr lang="fr-FR" sz="1800" u="sng" dirty="0">
                <a:solidFill>
                  <a:schemeClr val="tx1"/>
                </a:solidFill>
              </a:rPr>
              <a:t> </a:t>
            </a:r>
            <a:r>
              <a:rPr lang="fr-FR" sz="1800" u="sng" dirty="0" err="1">
                <a:solidFill>
                  <a:schemeClr val="tx1"/>
                </a:solidFill>
              </a:rPr>
              <a:t>given</a:t>
            </a:r>
            <a:r>
              <a:rPr lang="fr-FR" sz="1800" u="sng" dirty="0">
                <a:solidFill>
                  <a:schemeClr val="tx1"/>
                </a:solidFill>
              </a:rPr>
              <a:t> per world </a:t>
            </a:r>
            <a:r>
              <a:rPr lang="fr-FR" sz="1800" u="sng" dirty="0" err="1">
                <a:solidFill>
                  <a:schemeClr val="tx1"/>
                </a:solidFill>
              </a:rPr>
              <a:t>regions</a:t>
            </a:r>
            <a:r>
              <a:rPr lang="fr-FR" sz="1800" u="sng" dirty="0">
                <a:solidFill>
                  <a:schemeClr val="tx1"/>
                </a:solidFill>
              </a:rPr>
              <a:t> </a:t>
            </a:r>
            <a:r>
              <a:rPr lang="fr-FR" sz="1800" u="sng" dirty="0" err="1">
                <a:solidFill>
                  <a:schemeClr val="tx1"/>
                </a:solidFill>
              </a:rPr>
              <a:t>every</a:t>
            </a:r>
            <a:r>
              <a:rPr lang="fr-FR" sz="1800" u="sng" dirty="0">
                <a:solidFill>
                  <a:schemeClr val="tx1"/>
                </a:solidFill>
              </a:rPr>
              <a:t> 10 </a:t>
            </a:r>
            <a:r>
              <a:rPr lang="fr-FR" sz="1800" u="sng" dirty="0" err="1">
                <a:solidFill>
                  <a:schemeClr val="tx1"/>
                </a:solidFill>
              </a:rPr>
              <a:t>years</a:t>
            </a:r>
            <a:r>
              <a:rPr lang="fr-FR" sz="1800" u="sng" dirty="0">
                <a:solidFill>
                  <a:schemeClr val="tx1"/>
                </a:solidFill>
              </a:rPr>
              <a:t>, not open </a:t>
            </a:r>
            <a:r>
              <a:rPr lang="fr-FR" sz="1800" u="sng" dirty="0" err="1">
                <a:solidFill>
                  <a:schemeClr val="tx1"/>
                </a:solidFill>
              </a:rPr>
              <a:t>access</a:t>
            </a:r>
            <a:endParaRPr lang="fr-FR" sz="1800" u="sng" dirty="0">
              <a:solidFill>
                <a:schemeClr val="tx1"/>
              </a:solidFill>
            </a:endParaRPr>
          </a:p>
          <a:p>
            <a:pPr marL="0" indent="0">
              <a:spcBef>
                <a:spcPts val="0"/>
              </a:spcBef>
            </a:pPr>
            <a:endParaRPr lang="en-US" sz="1800" b="1" dirty="0">
              <a:solidFill>
                <a:schemeClr val="tx1"/>
              </a:solidFill>
            </a:endParaRPr>
          </a:p>
        </p:txBody>
      </p:sp>
      <p:sp>
        <p:nvSpPr>
          <p:cNvPr id="238" name="Google Shape;238;p13">
            <a:extLst>
              <a:ext uri="{FF2B5EF4-FFF2-40B4-BE49-F238E27FC236}">
                <a16:creationId xmlns:a16="http://schemas.microsoft.com/office/drawing/2014/main" id="{199F811E-5690-F18F-D8C3-28F7BBC5DBBA}"/>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Grid</a:t>
            </a:r>
            <a:endParaRPr dirty="0"/>
          </a:p>
        </p:txBody>
      </p:sp>
      <p:sp>
        <p:nvSpPr>
          <p:cNvPr id="239" name="Google Shape;239;p13">
            <a:extLst>
              <a:ext uri="{FF2B5EF4-FFF2-40B4-BE49-F238E27FC236}">
                <a16:creationId xmlns:a16="http://schemas.microsoft.com/office/drawing/2014/main" id="{42B03660-4ADE-20F5-CAB6-12C4EF25CBCC}"/>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22</a:t>
            </a:fld>
            <a:endParaRPr/>
          </a:p>
        </p:txBody>
      </p:sp>
    </p:spTree>
    <p:extLst>
      <p:ext uri="{BB962C8B-B14F-4D97-AF65-F5344CB8AC3E}">
        <p14:creationId xmlns:p14="http://schemas.microsoft.com/office/powerpoint/2010/main" val="562669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BA4BE9F4-1CEB-12CC-FDB8-DBB806DEEFAE}"/>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AD69DA1F-96CA-C981-EE47-84E80B7FC5DD}"/>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342900" indent="-342900">
              <a:spcBef>
                <a:spcPts val="0"/>
              </a:spcBef>
              <a:buFont typeface="Arial" panose="020B0604020202020204" pitchFamily="34" charset="0"/>
              <a:buChar char="•"/>
            </a:pPr>
            <a:r>
              <a:rPr lang="en-US" sz="1800" dirty="0">
                <a:solidFill>
                  <a:schemeClr val="tx1"/>
                </a:solidFill>
              </a:rPr>
              <a:t>We derive circuit-length km/GW and GVA/GW in 2017 from Kalt et al and </a:t>
            </a:r>
            <a:r>
              <a:rPr lang="en-US" sz="1800" dirty="0" err="1">
                <a:solidFill>
                  <a:schemeClr val="tx1"/>
                </a:solidFill>
              </a:rPr>
              <a:t>StatCan</a:t>
            </a:r>
            <a:endParaRPr lang="en-US" sz="1800" dirty="0">
              <a:solidFill>
                <a:schemeClr val="tx1"/>
              </a:solidFill>
            </a:endParaRPr>
          </a:p>
          <a:p>
            <a:pPr marL="342900" indent="-342900">
              <a:spcBef>
                <a:spcPts val="0"/>
              </a:spcBef>
              <a:buFont typeface="Arial" panose="020B0604020202020204" pitchFamily="34" charset="0"/>
              <a:buChar char="•"/>
            </a:pPr>
            <a:r>
              <a:rPr lang="fr-FR" sz="1800" dirty="0" err="1">
                <a:solidFill>
                  <a:schemeClr val="tx1"/>
                </a:solidFill>
              </a:rPr>
              <a:t>We</a:t>
            </a:r>
            <a:r>
              <a:rPr lang="fr-FR" sz="1800" dirty="0">
                <a:solidFill>
                  <a:schemeClr val="tx1"/>
                </a:solidFill>
              </a:rPr>
              <a:t> </a:t>
            </a:r>
            <a:r>
              <a:rPr lang="fr-FR" sz="1800" dirty="0" err="1">
                <a:solidFill>
                  <a:schemeClr val="tx1"/>
                </a:solidFill>
              </a:rPr>
              <a:t>multiply</a:t>
            </a:r>
            <a:r>
              <a:rPr lang="fr-FR" sz="1800" dirty="0">
                <a:solidFill>
                  <a:schemeClr val="tx1"/>
                </a:solidFill>
              </a:rPr>
              <a:t> </a:t>
            </a:r>
            <a:r>
              <a:rPr lang="fr-FR" sz="1800" dirty="0" err="1">
                <a:solidFill>
                  <a:schemeClr val="tx1"/>
                </a:solidFill>
              </a:rPr>
              <a:t>them</a:t>
            </a:r>
            <a:r>
              <a:rPr lang="fr-FR" sz="1800" dirty="0">
                <a:solidFill>
                  <a:schemeClr val="tx1"/>
                </a:solidFill>
              </a:rPr>
              <a:t> </a:t>
            </a:r>
            <a:r>
              <a:rPr lang="fr-FR" sz="1800" dirty="0" err="1">
                <a:solidFill>
                  <a:schemeClr val="tx1"/>
                </a:solidFill>
              </a:rPr>
              <a:t>with</a:t>
            </a:r>
            <a:r>
              <a:rPr lang="fr-FR" sz="1800" dirty="0">
                <a:solidFill>
                  <a:schemeClr val="tx1"/>
                </a:solidFill>
              </a:rPr>
              <a:t> MI </a:t>
            </a:r>
            <a:r>
              <a:rPr lang="fr-FR" sz="1800" dirty="0" err="1">
                <a:solidFill>
                  <a:schemeClr val="tx1"/>
                </a:solidFill>
              </a:rPr>
              <a:t>from</a:t>
            </a:r>
            <a:r>
              <a:rPr lang="fr-FR" sz="1800" dirty="0">
                <a:solidFill>
                  <a:schemeClr val="tx1"/>
                </a:solidFill>
              </a:rPr>
              <a:t> </a:t>
            </a:r>
            <a:r>
              <a:rPr lang="fr-FR" sz="1800" dirty="0" err="1">
                <a:solidFill>
                  <a:schemeClr val="tx1"/>
                </a:solidFill>
              </a:rPr>
              <a:t>Kalt</a:t>
            </a:r>
            <a:r>
              <a:rPr lang="fr-FR" sz="1800" dirty="0">
                <a:solidFill>
                  <a:schemeClr val="tx1"/>
                </a:solidFill>
              </a:rPr>
              <a:t> et al </a:t>
            </a:r>
          </a:p>
          <a:p>
            <a:pPr marL="342900" indent="-342900">
              <a:spcBef>
                <a:spcPts val="0"/>
              </a:spcBef>
              <a:buFont typeface="Arial" panose="020B0604020202020204" pitchFamily="34" charset="0"/>
              <a:buChar char="•"/>
            </a:pPr>
            <a:endParaRPr lang="fr-FR" sz="1800" dirty="0">
              <a:solidFill>
                <a:schemeClr val="tx1"/>
              </a:solidFill>
            </a:endParaRPr>
          </a:p>
          <a:p>
            <a:pPr marL="342900" indent="-342900">
              <a:spcBef>
                <a:spcPts val="0"/>
              </a:spcBef>
              <a:buFont typeface="Arial" panose="020B0604020202020204" pitchFamily="34" charset="0"/>
              <a:buChar char="•"/>
            </a:pPr>
            <a:endParaRPr lang="fr-FR" sz="1800" dirty="0">
              <a:solidFill>
                <a:schemeClr val="tx1"/>
              </a:solidFill>
            </a:endParaRPr>
          </a:p>
          <a:p>
            <a:pPr marL="342900" indent="-342900">
              <a:spcBef>
                <a:spcPts val="0"/>
              </a:spcBef>
              <a:buFont typeface="Wingdings" panose="05000000000000000000" pitchFamily="2" charset="2"/>
              <a:buChar char="Ø"/>
            </a:pPr>
            <a:r>
              <a:rPr lang="fr-FR" sz="1800" dirty="0" err="1">
                <a:solidFill>
                  <a:schemeClr val="tx1"/>
                </a:solidFill>
              </a:rPr>
              <a:t>Rationale</a:t>
            </a:r>
            <a:r>
              <a:rPr lang="fr-FR" sz="1800" dirty="0">
                <a:solidFill>
                  <a:schemeClr val="tx1"/>
                </a:solidFill>
              </a:rPr>
              <a:t> for prospective: </a:t>
            </a:r>
            <a:r>
              <a:rPr lang="fr-FR" sz="1800" dirty="0" err="1">
                <a:solidFill>
                  <a:schemeClr val="tx1"/>
                </a:solidFill>
              </a:rPr>
              <a:t>grid</a:t>
            </a:r>
            <a:r>
              <a:rPr lang="fr-FR" sz="1800" dirty="0">
                <a:solidFill>
                  <a:schemeClr val="tx1"/>
                </a:solidFill>
              </a:rPr>
              <a:t> </a:t>
            </a:r>
            <a:r>
              <a:rPr lang="fr-FR" sz="1800" dirty="0" err="1">
                <a:solidFill>
                  <a:schemeClr val="tx1"/>
                </a:solidFill>
              </a:rPr>
              <a:t>is</a:t>
            </a:r>
            <a:r>
              <a:rPr lang="fr-FR" sz="1800" dirty="0">
                <a:solidFill>
                  <a:schemeClr val="tx1"/>
                </a:solidFill>
              </a:rPr>
              <a:t> </a:t>
            </a:r>
            <a:r>
              <a:rPr lang="fr-FR" sz="1800" dirty="0" err="1">
                <a:solidFill>
                  <a:schemeClr val="tx1"/>
                </a:solidFill>
              </a:rPr>
              <a:t>capacity-dependent</a:t>
            </a:r>
            <a:r>
              <a:rPr lang="fr-FR" sz="1800" dirty="0">
                <a:solidFill>
                  <a:schemeClr val="tx1"/>
                </a:solidFill>
              </a:rPr>
              <a:t> (</a:t>
            </a:r>
            <a:r>
              <a:rPr lang="fr-FR" sz="1800" dirty="0" err="1">
                <a:solidFill>
                  <a:schemeClr val="tx1"/>
                </a:solidFill>
              </a:rPr>
              <a:t>eg</a:t>
            </a:r>
            <a:r>
              <a:rPr lang="fr-FR" sz="1800" dirty="0">
                <a:solidFill>
                  <a:schemeClr val="tx1"/>
                </a:solidFill>
              </a:rPr>
              <a:t> km = a * GW). </a:t>
            </a:r>
          </a:p>
          <a:p>
            <a:pPr marL="342900" indent="-342900">
              <a:spcBef>
                <a:spcPts val="0"/>
              </a:spcBef>
              <a:buFont typeface="Arial" panose="020B0604020202020204" pitchFamily="34" charset="0"/>
              <a:buChar char="•"/>
            </a:pPr>
            <a:endParaRPr lang="en-US" sz="1800" dirty="0">
              <a:solidFill>
                <a:schemeClr val="tx1"/>
              </a:solidFill>
            </a:endParaRPr>
          </a:p>
        </p:txBody>
      </p:sp>
      <p:sp>
        <p:nvSpPr>
          <p:cNvPr id="238" name="Google Shape;238;p13">
            <a:extLst>
              <a:ext uri="{FF2B5EF4-FFF2-40B4-BE49-F238E27FC236}">
                <a16:creationId xmlns:a16="http://schemas.microsoft.com/office/drawing/2014/main" id="{27D085B4-C2A5-FAF7-FF6A-7BB8BE5A9F1E}"/>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Grid – proposed approach</a:t>
            </a:r>
            <a:endParaRPr dirty="0"/>
          </a:p>
        </p:txBody>
      </p:sp>
      <p:sp>
        <p:nvSpPr>
          <p:cNvPr id="239" name="Google Shape;239;p13">
            <a:extLst>
              <a:ext uri="{FF2B5EF4-FFF2-40B4-BE49-F238E27FC236}">
                <a16:creationId xmlns:a16="http://schemas.microsoft.com/office/drawing/2014/main" id="{AD32D1B4-0693-074C-27A2-8579DDB85206}"/>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23</a:t>
            </a:fld>
            <a:endParaRPr/>
          </a:p>
        </p:txBody>
      </p:sp>
    </p:spTree>
    <p:extLst>
      <p:ext uri="{BB962C8B-B14F-4D97-AF65-F5344CB8AC3E}">
        <p14:creationId xmlns:p14="http://schemas.microsoft.com/office/powerpoint/2010/main" val="2451582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2293B9E6-E415-5951-DA3C-E4E63A219140}"/>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E7FB79D9-9FA6-99FE-6974-1A75CFCB33F4}"/>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285750" indent="-285750">
              <a:spcBef>
                <a:spcPts val="0"/>
              </a:spcBef>
              <a:buFont typeface="Arial" panose="020B0604020202020204" pitchFamily="34" charset="0"/>
              <a:buChar char="•"/>
            </a:pPr>
            <a:r>
              <a:rPr lang="en-US" sz="1600" dirty="0">
                <a:solidFill>
                  <a:schemeClr val="tx1"/>
                </a:solidFill>
              </a:rPr>
              <a:t>“</a:t>
            </a:r>
            <a:r>
              <a:rPr lang="en-US" sz="1600" i="1" dirty="0">
                <a:solidFill>
                  <a:schemeClr val="tx1"/>
                </a:solidFill>
              </a:rPr>
              <a:t>Transmission lines, transformers, and substations require significant Al, cement, Cu, and steel, but these requirements are smaller than electricity generation infrastructure needs.  From 2020 to 2050, we estimate that transmission infrastructure drives cumulative demand for Al and Cu that is less than half of that needed for generation infrastructure. For cement and steel, cumulative demand in 1.5 C scenarios is around a sixth and a quarter of generation infrastructure needs, respectively. Annually, Al and Cu consumption in transmission networks is less than half of corresponding requirements in power sector generation infrastructure. These are idealized estimates that do not account for several potentially important sources of error, in particular the varying transmission requirements of different electricity generation technologies. This method likely underestimates transmission material demand for scenarios with a high proportion of wind and solar generation</a:t>
            </a:r>
            <a:r>
              <a:rPr lang="en-US" sz="1600" dirty="0">
                <a:solidFill>
                  <a:schemeClr val="tx1"/>
                </a:solidFill>
              </a:rPr>
              <a:t>.” Wang et al (2023) </a:t>
            </a:r>
          </a:p>
          <a:p>
            <a:pPr marL="285750" indent="-285750">
              <a:spcBef>
                <a:spcPts val="0"/>
              </a:spcBef>
              <a:buFont typeface="Arial" panose="020B0604020202020204" pitchFamily="34" charset="0"/>
              <a:buChar char="•"/>
            </a:pPr>
            <a:endParaRPr lang="en-US" sz="1600" dirty="0">
              <a:solidFill>
                <a:schemeClr val="tx1"/>
              </a:solidFill>
            </a:endParaRPr>
          </a:p>
          <a:p>
            <a:pPr marL="285750" indent="-285750">
              <a:spcBef>
                <a:spcPts val="0"/>
              </a:spcBef>
              <a:buFont typeface="Arial" panose="020B0604020202020204" pitchFamily="34" charset="0"/>
              <a:buChar char="•"/>
            </a:pPr>
            <a:r>
              <a:rPr lang="en-US" sz="1600" dirty="0">
                <a:solidFill>
                  <a:schemeClr val="tx1"/>
                </a:solidFill>
              </a:rPr>
              <a:t>“</a:t>
            </a:r>
            <a:r>
              <a:rPr lang="en-US" sz="1600" i="1" dirty="0">
                <a:solidFill>
                  <a:schemeClr val="tx1"/>
                </a:solidFill>
              </a:rPr>
              <a:t>The expansion of transmission grids also contributes to the rising metal demand but is clearly less relevant than the material requirements for power plants</a:t>
            </a:r>
            <a:r>
              <a:rPr lang="en-US" sz="1600" dirty="0">
                <a:solidFill>
                  <a:schemeClr val="tx1"/>
                </a:solidFill>
              </a:rPr>
              <a:t>” Kalt et al (2022)</a:t>
            </a:r>
          </a:p>
          <a:p>
            <a:pPr marL="285750" indent="-285750">
              <a:spcBef>
                <a:spcPts val="0"/>
              </a:spcBef>
              <a:buFont typeface="Arial" panose="020B0604020202020204" pitchFamily="34" charset="0"/>
              <a:buChar char="•"/>
            </a:pPr>
            <a:endParaRPr lang="en-US" sz="1800" dirty="0">
              <a:solidFill>
                <a:schemeClr val="tx1"/>
              </a:solidFill>
            </a:endParaRPr>
          </a:p>
        </p:txBody>
      </p:sp>
      <p:sp>
        <p:nvSpPr>
          <p:cNvPr id="238" name="Google Shape;238;p13">
            <a:extLst>
              <a:ext uri="{FF2B5EF4-FFF2-40B4-BE49-F238E27FC236}">
                <a16:creationId xmlns:a16="http://schemas.microsoft.com/office/drawing/2014/main" id="{52641446-62CB-180D-9BA5-4E2D6A6995C3}"/>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Grid – literature review </a:t>
            </a:r>
            <a:endParaRPr dirty="0"/>
          </a:p>
        </p:txBody>
      </p:sp>
      <p:sp>
        <p:nvSpPr>
          <p:cNvPr id="239" name="Google Shape;239;p13">
            <a:extLst>
              <a:ext uri="{FF2B5EF4-FFF2-40B4-BE49-F238E27FC236}">
                <a16:creationId xmlns:a16="http://schemas.microsoft.com/office/drawing/2014/main" id="{DBB9A6C0-30D5-154B-9A67-711C376452AE}"/>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24</a:t>
            </a:fld>
            <a:endParaRPr/>
          </a:p>
        </p:txBody>
      </p:sp>
    </p:spTree>
    <p:extLst>
      <p:ext uri="{BB962C8B-B14F-4D97-AF65-F5344CB8AC3E}">
        <p14:creationId xmlns:p14="http://schemas.microsoft.com/office/powerpoint/2010/main" val="4276111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4F3F0DC1-FC76-B365-C54B-D6F75E084256}"/>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FA2BD26B-821E-9BD2-5FDF-CC0019725726}"/>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Grid – literature review (from Kalt et al. 2022)</a:t>
            </a:r>
            <a:endParaRPr dirty="0"/>
          </a:p>
        </p:txBody>
      </p:sp>
      <p:sp>
        <p:nvSpPr>
          <p:cNvPr id="239" name="Google Shape;239;p13">
            <a:extLst>
              <a:ext uri="{FF2B5EF4-FFF2-40B4-BE49-F238E27FC236}">
                <a16:creationId xmlns:a16="http://schemas.microsoft.com/office/drawing/2014/main" id="{95AC8A47-406C-0234-6054-D8296B3BADA2}"/>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25</a:t>
            </a:fld>
            <a:endParaRPr/>
          </a:p>
        </p:txBody>
      </p:sp>
      <p:pic>
        <p:nvPicPr>
          <p:cNvPr id="1026" name="Picture 2">
            <a:extLst>
              <a:ext uri="{FF2B5EF4-FFF2-40B4-BE49-F238E27FC236}">
                <a16:creationId xmlns:a16="http://schemas.microsoft.com/office/drawing/2014/main" id="{5A270780-86E3-5770-D4B1-E53346B99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79" y="1029179"/>
            <a:ext cx="5810241" cy="5531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521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6BC34727-6999-A669-B776-F61F7288B1F3}"/>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A05BE570-6810-08D9-F229-404EE34EFCFF}"/>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New results (without iron and concrete)</a:t>
            </a:r>
            <a:endParaRPr dirty="0"/>
          </a:p>
        </p:txBody>
      </p:sp>
      <p:sp>
        <p:nvSpPr>
          <p:cNvPr id="239" name="Google Shape;239;p13">
            <a:extLst>
              <a:ext uri="{FF2B5EF4-FFF2-40B4-BE49-F238E27FC236}">
                <a16:creationId xmlns:a16="http://schemas.microsoft.com/office/drawing/2014/main" id="{0465A039-6D18-0F9B-CBC0-8BA6154AEDE9}"/>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26</a:t>
            </a:fld>
            <a:endParaRPr/>
          </a:p>
        </p:txBody>
      </p:sp>
      <p:pic>
        <p:nvPicPr>
          <p:cNvPr id="3" name="Image 2" descr="Une image contenant texte, capture d’écran, Caractère coloré&#10;&#10;Le contenu généré par l’IA peut être incorrect.">
            <a:extLst>
              <a:ext uri="{FF2B5EF4-FFF2-40B4-BE49-F238E27FC236}">
                <a16:creationId xmlns:a16="http://schemas.microsoft.com/office/drawing/2014/main" id="{34318509-07A1-CFB3-981B-80D56AD2D7B9}"/>
              </a:ext>
            </a:extLst>
          </p:cNvPr>
          <p:cNvPicPr>
            <a:picLocks noChangeAspect="1"/>
          </p:cNvPicPr>
          <p:nvPr/>
        </p:nvPicPr>
        <p:blipFill>
          <a:blip r:embed="rId3">
            <a:extLst>
              <a:ext uri="{28A0092B-C50C-407E-A947-70E740481C1C}">
                <a14:useLocalDpi xmlns:a14="http://schemas.microsoft.com/office/drawing/2010/main" val="0"/>
              </a:ext>
            </a:extLst>
          </a:blip>
          <a:srcRect b="51416"/>
          <a:stretch>
            <a:fillRect/>
          </a:stretch>
        </p:blipFill>
        <p:spPr>
          <a:xfrm>
            <a:off x="700852" y="2023404"/>
            <a:ext cx="5155372" cy="3331860"/>
          </a:xfrm>
          <a:prstGeom prst="rect">
            <a:avLst/>
          </a:prstGeom>
        </p:spPr>
      </p:pic>
      <p:pic>
        <p:nvPicPr>
          <p:cNvPr id="4" name="Image 3" descr="Une image contenant texte, capture d’écran, Caractère coloré&#10;&#10;Le contenu généré par l’IA peut être incorrect.">
            <a:extLst>
              <a:ext uri="{FF2B5EF4-FFF2-40B4-BE49-F238E27FC236}">
                <a16:creationId xmlns:a16="http://schemas.microsoft.com/office/drawing/2014/main" id="{56166F30-02DA-1860-C871-BB384C90088C}"/>
              </a:ext>
            </a:extLst>
          </p:cNvPr>
          <p:cNvPicPr>
            <a:picLocks noChangeAspect="1"/>
          </p:cNvPicPr>
          <p:nvPr/>
        </p:nvPicPr>
        <p:blipFill>
          <a:blip r:embed="rId3">
            <a:extLst>
              <a:ext uri="{28A0092B-C50C-407E-A947-70E740481C1C}">
                <a14:useLocalDpi xmlns:a14="http://schemas.microsoft.com/office/drawing/2010/main" val="0"/>
              </a:ext>
            </a:extLst>
          </a:blip>
          <a:srcRect t="50317"/>
          <a:stretch>
            <a:fillRect/>
          </a:stretch>
        </p:blipFill>
        <p:spPr>
          <a:xfrm>
            <a:off x="6335776" y="1948036"/>
            <a:ext cx="5155372" cy="3407228"/>
          </a:xfrm>
          <a:prstGeom prst="rect">
            <a:avLst/>
          </a:prstGeom>
        </p:spPr>
      </p:pic>
    </p:spTree>
    <p:extLst>
      <p:ext uri="{BB962C8B-B14F-4D97-AF65-F5344CB8AC3E}">
        <p14:creationId xmlns:p14="http://schemas.microsoft.com/office/powerpoint/2010/main" val="2368798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BD1B4B74-A974-E262-DE9C-5CE3DA47190B}"/>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08CEFB83-B65A-D02E-4BE8-2DCD317430A3}"/>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New results (focus on 6 metals)</a:t>
            </a:r>
            <a:endParaRPr dirty="0"/>
          </a:p>
        </p:txBody>
      </p:sp>
      <p:sp>
        <p:nvSpPr>
          <p:cNvPr id="239" name="Google Shape;239;p13">
            <a:extLst>
              <a:ext uri="{FF2B5EF4-FFF2-40B4-BE49-F238E27FC236}">
                <a16:creationId xmlns:a16="http://schemas.microsoft.com/office/drawing/2014/main" id="{B37EA430-56AE-603A-4A39-D59D0BCB0B8A}"/>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27</a:t>
            </a:fld>
            <a:endParaRPr/>
          </a:p>
        </p:txBody>
      </p:sp>
      <p:pic>
        <p:nvPicPr>
          <p:cNvPr id="4" name="Image 3" descr="Une image contenant texte, capture d’écran, Caractère coloré&#10;&#10;Le contenu généré par l’IA peut être incorrect.">
            <a:extLst>
              <a:ext uri="{FF2B5EF4-FFF2-40B4-BE49-F238E27FC236}">
                <a16:creationId xmlns:a16="http://schemas.microsoft.com/office/drawing/2014/main" id="{364D071E-9DC7-705A-EC22-6B5F2F77F924}"/>
              </a:ext>
            </a:extLst>
          </p:cNvPr>
          <p:cNvPicPr>
            <a:picLocks noChangeAspect="1"/>
          </p:cNvPicPr>
          <p:nvPr/>
        </p:nvPicPr>
        <p:blipFill>
          <a:blip r:embed="rId3">
            <a:extLst>
              <a:ext uri="{28A0092B-C50C-407E-A947-70E740481C1C}">
                <a14:useLocalDpi xmlns:a14="http://schemas.microsoft.com/office/drawing/2010/main" val="0"/>
              </a:ext>
            </a:extLst>
          </a:blip>
          <a:srcRect b="52842"/>
          <a:stretch>
            <a:fillRect/>
          </a:stretch>
        </p:blipFill>
        <p:spPr>
          <a:xfrm>
            <a:off x="1302586" y="1811956"/>
            <a:ext cx="4712019" cy="3234088"/>
          </a:xfrm>
          <a:prstGeom prst="rect">
            <a:avLst/>
          </a:prstGeom>
        </p:spPr>
      </p:pic>
      <p:pic>
        <p:nvPicPr>
          <p:cNvPr id="5" name="Image 4" descr="Une image contenant texte, capture d’écran, Caractère coloré&#10;&#10;Le contenu généré par l’IA peut être incorrect.">
            <a:extLst>
              <a:ext uri="{FF2B5EF4-FFF2-40B4-BE49-F238E27FC236}">
                <a16:creationId xmlns:a16="http://schemas.microsoft.com/office/drawing/2014/main" id="{64B83FC8-FEDD-0FBE-A9A3-7A96762B3336}"/>
              </a:ext>
            </a:extLst>
          </p:cNvPr>
          <p:cNvPicPr>
            <a:picLocks noChangeAspect="1"/>
          </p:cNvPicPr>
          <p:nvPr/>
        </p:nvPicPr>
        <p:blipFill>
          <a:blip r:embed="rId3">
            <a:extLst>
              <a:ext uri="{28A0092B-C50C-407E-A947-70E740481C1C}">
                <a14:useLocalDpi xmlns:a14="http://schemas.microsoft.com/office/drawing/2010/main" val="0"/>
              </a:ext>
            </a:extLst>
          </a:blip>
          <a:srcRect t="52622"/>
          <a:stretch>
            <a:fillRect/>
          </a:stretch>
        </p:blipFill>
        <p:spPr>
          <a:xfrm>
            <a:off x="6616339" y="1811956"/>
            <a:ext cx="4712019" cy="3249175"/>
          </a:xfrm>
          <a:prstGeom prst="rect">
            <a:avLst/>
          </a:prstGeom>
        </p:spPr>
      </p:pic>
    </p:spTree>
    <p:extLst>
      <p:ext uri="{BB962C8B-B14F-4D97-AF65-F5344CB8AC3E}">
        <p14:creationId xmlns:p14="http://schemas.microsoft.com/office/powerpoint/2010/main" val="1267969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01461E59-BF43-4B8A-F0FA-31A447941260}"/>
            </a:ext>
          </a:extLst>
        </p:cNvPr>
        <p:cNvGrpSpPr/>
        <p:nvPr/>
      </p:nvGrpSpPr>
      <p:grpSpPr>
        <a:xfrm>
          <a:off x="0" y="0"/>
          <a:ext cx="0" cy="0"/>
          <a:chOff x="0" y="0"/>
          <a:chExt cx="0" cy="0"/>
        </a:xfrm>
      </p:grpSpPr>
      <p:sp>
        <p:nvSpPr>
          <p:cNvPr id="238" name="Google Shape;238;p13">
            <a:extLst>
              <a:ext uri="{FF2B5EF4-FFF2-40B4-BE49-F238E27FC236}">
                <a16:creationId xmlns:a16="http://schemas.microsoft.com/office/drawing/2014/main" id="{EB519B60-F6C6-6269-EE67-BF083CEDFF9D}"/>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New results</a:t>
            </a:r>
            <a:endParaRPr dirty="0"/>
          </a:p>
        </p:txBody>
      </p:sp>
      <p:sp>
        <p:nvSpPr>
          <p:cNvPr id="239" name="Google Shape;239;p13">
            <a:extLst>
              <a:ext uri="{FF2B5EF4-FFF2-40B4-BE49-F238E27FC236}">
                <a16:creationId xmlns:a16="http://schemas.microsoft.com/office/drawing/2014/main" id="{C4099AD7-46DB-44EC-E3B8-BCC7C527CF1A}"/>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28</a:t>
            </a:fld>
            <a:endParaRPr/>
          </a:p>
        </p:txBody>
      </p:sp>
      <p:pic>
        <p:nvPicPr>
          <p:cNvPr id="3" name="Image 2" descr="Une image contenant texte, Caractère coloré, capture d’écran, diagramme&#10;&#10;Le contenu généré par l’IA peut être incorrect.">
            <a:extLst>
              <a:ext uri="{FF2B5EF4-FFF2-40B4-BE49-F238E27FC236}">
                <a16:creationId xmlns:a16="http://schemas.microsoft.com/office/drawing/2014/main" id="{912D6FC9-C8B0-273D-15E9-983C70CA33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537" y="1212746"/>
            <a:ext cx="9308248" cy="5298200"/>
          </a:xfrm>
          <a:prstGeom prst="rect">
            <a:avLst/>
          </a:prstGeom>
        </p:spPr>
      </p:pic>
    </p:spTree>
    <p:extLst>
      <p:ext uri="{BB962C8B-B14F-4D97-AF65-F5344CB8AC3E}">
        <p14:creationId xmlns:p14="http://schemas.microsoft.com/office/powerpoint/2010/main" val="1946280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7C238F57-B74B-B8AE-AE28-31F0AF358A0D}"/>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EF8792F2-18C0-D7BC-7FF9-E5854C5B5199}"/>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285750" indent="-285750">
              <a:spcBef>
                <a:spcPts val="0"/>
              </a:spcBef>
              <a:buFont typeface="Arial" panose="020B0604020202020204" pitchFamily="34" charset="0"/>
              <a:buChar char="•"/>
            </a:pPr>
            <a:endParaRPr lang="en-US" sz="1600" dirty="0">
              <a:solidFill>
                <a:schemeClr val="tx1"/>
              </a:solidFill>
            </a:endParaRPr>
          </a:p>
          <a:p>
            <a:pPr marL="285750" indent="-285750">
              <a:spcBef>
                <a:spcPts val="0"/>
              </a:spcBef>
              <a:buFont typeface="Arial" panose="020B0604020202020204" pitchFamily="34" charset="0"/>
              <a:buChar char="•"/>
            </a:pPr>
            <a:endParaRPr lang="en-US" sz="1800" dirty="0">
              <a:solidFill>
                <a:schemeClr val="tx1"/>
              </a:solidFill>
            </a:endParaRPr>
          </a:p>
        </p:txBody>
      </p:sp>
      <p:sp>
        <p:nvSpPr>
          <p:cNvPr id="238" name="Google Shape;238;p13">
            <a:extLst>
              <a:ext uri="{FF2B5EF4-FFF2-40B4-BE49-F238E27FC236}">
                <a16:creationId xmlns:a16="http://schemas.microsoft.com/office/drawing/2014/main" id="{A249FF43-C811-CB33-02B3-EA49B8B00659}"/>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New results - Cumulative </a:t>
            </a:r>
            <a:endParaRPr dirty="0"/>
          </a:p>
        </p:txBody>
      </p:sp>
      <p:sp>
        <p:nvSpPr>
          <p:cNvPr id="239" name="Google Shape;239;p13">
            <a:extLst>
              <a:ext uri="{FF2B5EF4-FFF2-40B4-BE49-F238E27FC236}">
                <a16:creationId xmlns:a16="http://schemas.microsoft.com/office/drawing/2014/main" id="{BF513529-127A-495D-0E95-888ECFA74C38}"/>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29</a:t>
            </a:fld>
            <a:endParaRPr/>
          </a:p>
        </p:txBody>
      </p:sp>
      <p:pic>
        <p:nvPicPr>
          <p:cNvPr id="3" name="Image 2" descr="Une image contenant texte, ligne, capture d’écran&#10;&#10;Le contenu généré par l’IA peut être incorrect.">
            <a:extLst>
              <a:ext uri="{FF2B5EF4-FFF2-40B4-BE49-F238E27FC236}">
                <a16:creationId xmlns:a16="http://schemas.microsoft.com/office/drawing/2014/main" id="{191FA77D-D0D4-522C-5751-31086EAAA3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114" y="1812348"/>
            <a:ext cx="11683772" cy="4295504"/>
          </a:xfrm>
          <a:prstGeom prst="rect">
            <a:avLst/>
          </a:prstGeom>
        </p:spPr>
      </p:pic>
    </p:spTree>
    <p:extLst>
      <p:ext uri="{BB962C8B-B14F-4D97-AF65-F5344CB8AC3E}">
        <p14:creationId xmlns:p14="http://schemas.microsoft.com/office/powerpoint/2010/main" val="2338505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E6303689-72B7-612A-FAD6-C326239112D5}"/>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6729F923-44EB-8A85-7A6F-D4C1B77FC591}"/>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285750" indent="-285750">
              <a:spcBef>
                <a:spcPts val="0"/>
              </a:spcBef>
              <a:buFont typeface="Arial" panose="020B0604020202020204" pitchFamily="34" charset="0"/>
              <a:buChar char="•"/>
            </a:pPr>
            <a:r>
              <a:rPr lang="en-US" sz="1600" dirty="0">
                <a:solidFill>
                  <a:schemeClr val="tx1"/>
                </a:solidFill>
              </a:rPr>
              <a:t>MI from Pénélope gives graphite only for vehicle battery, for Na-</a:t>
            </a:r>
            <a:r>
              <a:rPr lang="en-US" sz="1600" dirty="0" err="1">
                <a:solidFill>
                  <a:schemeClr val="tx1"/>
                </a:solidFill>
              </a:rPr>
              <a:t>NiCl</a:t>
            </a:r>
            <a:r>
              <a:rPr lang="en-US" sz="1600" dirty="0">
                <a:solidFill>
                  <a:schemeClr val="tx1"/>
                </a:solidFill>
              </a:rPr>
              <a:t>, NCA and NMC sub-technologies</a:t>
            </a:r>
          </a:p>
          <a:p>
            <a:pPr marL="285750" indent="-285750">
              <a:spcBef>
                <a:spcPts val="0"/>
              </a:spcBef>
              <a:buFont typeface="Arial" panose="020B0604020202020204" pitchFamily="34" charset="0"/>
              <a:buChar char="•"/>
            </a:pPr>
            <a:r>
              <a:rPr lang="en-US" sz="1600" dirty="0">
                <a:solidFill>
                  <a:schemeClr val="tx1"/>
                </a:solidFill>
              </a:rPr>
              <a:t>Battery chemistry mix taken from IRENA, where those sub-technologies stop in 2040</a:t>
            </a:r>
          </a:p>
          <a:p>
            <a:pPr marL="285750" indent="-285750">
              <a:spcBef>
                <a:spcPts val="0"/>
              </a:spcBef>
              <a:buFont typeface="Arial" panose="020B0604020202020204" pitchFamily="34" charset="0"/>
              <a:buChar char="•"/>
            </a:pPr>
            <a:endParaRPr lang="en-US" sz="1600" dirty="0">
              <a:solidFill>
                <a:schemeClr val="tx1"/>
              </a:solidFill>
            </a:endParaRPr>
          </a:p>
          <a:p>
            <a:pPr marL="285750" indent="-285750">
              <a:spcBef>
                <a:spcPts val="0"/>
              </a:spcBef>
              <a:buFont typeface="Arial" panose="020B0604020202020204" pitchFamily="34" charset="0"/>
              <a:buChar char="•"/>
            </a:pPr>
            <a:endParaRPr lang="en-US" sz="1800" dirty="0">
              <a:solidFill>
                <a:schemeClr val="tx1"/>
              </a:solidFill>
            </a:endParaRPr>
          </a:p>
        </p:txBody>
      </p:sp>
      <p:sp>
        <p:nvSpPr>
          <p:cNvPr id="238" name="Google Shape;238;p13">
            <a:extLst>
              <a:ext uri="{FF2B5EF4-FFF2-40B4-BE49-F238E27FC236}">
                <a16:creationId xmlns:a16="http://schemas.microsoft.com/office/drawing/2014/main" id="{047D071A-F434-E872-AEB6-54A230C133B3}"/>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Issue with graphite stopping in 2040</a:t>
            </a:r>
            <a:endParaRPr dirty="0"/>
          </a:p>
        </p:txBody>
      </p:sp>
      <p:sp>
        <p:nvSpPr>
          <p:cNvPr id="239" name="Google Shape;239;p13">
            <a:extLst>
              <a:ext uri="{FF2B5EF4-FFF2-40B4-BE49-F238E27FC236}">
                <a16:creationId xmlns:a16="http://schemas.microsoft.com/office/drawing/2014/main" id="{EB7C0300-7D96-5546-89F8-3FF2C7B70990}"/>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30</a:t>
            </a:fld>
            <a:endParaRPr/>
          </a:p>
        </p:txBody>
      </p:sp>
      <p:pic>
        <p:nvPicPr>
          <p:cNvPr id="3" name="Image 2">
            <a:extLst>
              <a:ext uri="{FF2B5EF4-FFF2-40B4-BE49-F238E27FC236}">
                <a16:creationId xmlns:a16="http://schemas.microsoft.com/office/drawing/2014/main" id="{59DBC632-7816-2735-B89C-08B81C139281}"/>
              </a:ext>
            </a:extLst>
          </p:cNvPr>
          <p:cNvPicPr>
            <a:picLocks noChangeAspect="1"/>
          </p:cNvPicPr>
          <p:nvPr/>
        </p:nvPicPr>
        <p:blipFill>
          <a:blip r:embed="rId3"/>
          <a:stretch>
            <a:fillRect/>
          </a:stretch>
        </p:blipFill>
        <p:spPr>
          <a:xfrm>
            <a:off x="739099" y="2514495"/>
            <a:ext cx="10713802" cy="3345497"/>
          </a:xfrm>
          <a:prstGeom prst="rect">
            <a:avLst/>
          </a:prstGeom>
        </p:spPr>
      </p:pic>
    </p:spTree>
    <p:extLst>
      <p:ext uri="{BB962C8B-B14F-4D97-AF65-F5344CB8AC3E}">
        <p14:creationId xmlns:p14="http://schemas.microsoft.com/office/powerpoint/2010/main" val="3229200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2B90754B-7D8E-67F5-08FA-D1ACD72FC4A0}"/>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3E342D32-CAE9-2F85-46A3-D87AC480A900}"/>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285750" indent="-285750">
              <a:spcBef>
                <a:spcPts val="0"/>
              </a:spcBef>
              <a:buFont typeface="Arial" panose="020B0604020202020204" pitchFamily="34" charset="0"/>
              <a:buChar char="•"/>
            </a:pPr>
            <a:endParaRPr lang="en-US" sz="1600" dirty="0">
              <a:solidFill>
                <a:schemeClr val="tx1"/>
              </a:solidFill>
            </a:endParaRPr>
          </a:p>
          <a:p>
            <a:pPr marL="285750" indent="-285750">
              <a:spcBef>
                <a:spcPts val="0"/>
              </a:spcBef>
              <a:buFont typeface="Arial" panose="020B0604020202020204" pitchFamily="34" charset="0"/>
              <a:buChar char="•"/>
            </a:pPr>
            <a:endParaRPr lang="en-US" sz="1800" dirty="0">
              <a:solidFill>
                <a:schemeClr val="tx1"/>
              </a:solidFill>
            </a:endParaRPr>
          </a:p>
        </p:txBody>
      </p:sp>
      <p:sp>
        <p:nvSpPr>
          <p:cNvPr id="238" name="Google Shape;238;p13">
            <a:extLst>
              <a:ext uri="{FF2B5EF4-FFF2-40B4-BE49-F238E27FC236}">
                <a16:creationId xmlns:a16="http://schemas.microsoft.com/office/drawing/2014/main" id="{06B025ED-A0A3-B588-A7E8-DE520190867A}"/>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Issue with nickel MI in hydropower </a:t>
            </a:r>
            <a:endParaRPr dirty="0"/>
          </a:p>
        </p:txBody>
      </p:sp>
      <p:sp>
        <p:nvSpPr>
          <p:cNvPr id="239" name="Google Shape;239;p13">
            <a:extLst>
              <a:ext uri="{FF2B5EF4-FFF2-40B4-BE49-F238E27FC236}">
                <a16:creationId xmlns:a16="http://schemas.microsoft.com/office/drawing/2014/main" id="{A0FA7E52-6E21-14B7-7700-94EB226923E7}"/>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31</a:t>
            </a:fld>
            <a:endParaRPr/>
          </a:p>
        </p:txBody>
      </p:sp>
      <p:pic>
        <p:nvPicPr>
          <p:cNvPr id="4" name="Image 3" descr="Une image contenant texte, ligne, diagramme, Tracé&#10;&#10;Le contenu généré par l’IA peut être incorrect.">
            <a:extLst>
              <a:ext uri="{FF2B5EF4-FFF2-40B4-BE49-F238E27FC236}">
                <a16:creationId xmlns:a16="http://schemas.microsoft.com/office/drawing/2014/main" id="{69DB2B3F-056B-FC6D-9110-43DC9BEAFC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27" y="2312087"/>
            <a:ext cx="10835746" cy="3983730"/>
          </a:xfrm>
          <a:prstGeom prst="rect">
            <a:avLst/>
          </a:prstGeom>
        </p:spPr>
      </p:pic>
      <p:sp>
        <p:nvSpPr>
          <p:cNvPr id="5" name="Google Shape;237;p13">
            <a:extLst>
              <a:ext uri="{FF2B5EF4-FFF2-40B4-BE49-F238E27FC236}">
                <a16:creationId xmlns:a16="http://schemas.microsoft.com/office/drawing/2014/main" id="{BF9D8F05-FAFA-3895-C35D-C5368DE88D87}"/>
              </a:ext>
            </a:extLst>
          </p:cNvPr>
          <p:cNvSpPr txBox="1">
            <a:spLocks/>
          </p:cNvSpPr>
          <p:nvPr/>
        </p:nvSpPr>
        <p:spPr>
          <a:xfrm>
            <a:off x="585349" y="1359063"/>
            <a:ext cx="10835746" cy="5113544"/>
          </a:xfrm>
          <a:prstGeom prst="rect">
            <a:avLst/>
          </a:prstGeom>
          <a:noFill/>
          <a:ln>
            <a:noFill/>
          </a:ln>
        </p:spPr>
        <p:txBody>
          <a:bodyPr spcFirstLastPara="1" vert="horz" wrap="square" lIns="0" tIns="0" rIns="0" bIns="0" rtlCol="0" anchor="t" anchorCtr="0">
            <a:noAutofit/>
          </a:bodyPr>
          <a:lstStyle>
            <a:lvl1pPr marL="457200" marR="0" lvl="0" indent="-228600" algn="l" defTabSz="914400" rtl="0" eaLnBrk="1" latinLnBrk="0" hangingPunct="1">
              <a:lnSpc>
                <a:spcPct val="100000"/>
              </a:lnSpc>
              <a:spcBef>
                <a:spcPts val="1000"/>
              </a:spcBef>
              <a:spcAft>
                <a:spcPts val="0"/>
              </a:spcAft>
              <a:buClr>
                <a:schemeClr val="dk1"/>
              </a:buClr>
              <a:buSzPts val="2400"/>
              <a:buFont typeface="Arial"/>
              <a:buNone/>
              <a:defRPr sz="2400" b="0" i="0" u="none" strike="noStrike" kern="1200" cap="none">
                <a:solidFill>
                  <a:schemeClr val="dk1"/>
                </a:solidFill>
                <a:latin typeface="Calibri"/>
                <a:ea typeface="Calibri"/>
                <a:cs typeface="Calibri"/>
                <a:sym typeface="Calibri"/>
              </a:defRPr>
            </a:lvl1pPr>
            <a:lvl2pPr marL="914400" marR="0" lvl="1" indent="-228600" algn="l" defTabSz="914400" rtl="0" eaLnBrk="1" latinLnBrk="0" hangingPunct="1">
              <a:lnSpc>
                <a:spcPct val="90000"/>
              </a:lnSpc>
              <a:spcBef>
                <a:spcPts val="500"/>
              </a:spcBef>
              <a:spcAft>
                <a:spcPts val="0"/>
              </a:spcAft>
              <a:buClr>
                <a:schemeClr val="dk1"/>
              </a:buClr>
              <a:buSzPts val="1400"/>
              <a:buFont typeface="Arial"/>
              <a:buNone/>
              <a:defRPr sz="1400" b="0" i="0" u="none" strike="noStrike" kern="1200" cap="none">
                <a:solidFill>
                  <a:schemeClr val="dk1"/>
                </a:solidFill>
                <a:latin typeface="Calibri"/>
                <a:ea typeface="Calibri"/>
                <a:cs typeface="Calibri"/>
                <a:sym typeface="Calibri"/>
              </a:defRPr>
            </a:lvl2pPr>
            <a:lvl3pPr marL="1371600" marR="0" lvl="2" indent="-228600" algn="l" defTabSz="914400" rtl="0" eaLnBrk="1" latinLnBrk="0" hangingPunct="1">
              <a:lnSpc>
                <a:spcPct val="90000"/>
              </a:lnSpc>
              <a:spcBef>
                <a:spcPts val="500"/>
              </a:spcBef>
              <a:spcAft>
                <a:spcPts val="0"/>
              </a:spcAft>
              <a:buClr>
                <a:schemeClr val="dk1"/>
              </a:buClr>
              <a:buSzPts val="1200"/>
              <a:buFont typeface="Arial"/>
              <a:buNone/>
              <a:defRPr sz="1200" b="0" i="0" u="none" strike="noStrike" kern="1200" cap="none">
                <a:solidFill>
                  <a:schemeClr val="dk1"/>
                </a:solidFill>
                <a:latin typeface="Calibri"/>
                <a:ea typeface="Calibri"/>
                <a:cs typeface="Calibri"/>
                <a:sym typeface="Calibri"/>
              </a:defRPr>
            </a:lvl3pPr>
            <a:lvl4pPr marL="1828800" marR="0" lvl="3"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4pPr>
            <a:lvl5pPr marL="2286000" marR="0" lvl="4"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5pPr>
            <a:lvl6pPr marL="2743200" marR="0" lvl="5"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6pPr>
            <a:lvl7pPr marL="3200400" marR="0" lvl="6"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7pPr>
            <a:lvl8pPr marL="3657600" marR="0" lvl="7"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8pPr>
            <a:lvl9pPr marL="4114800" marR="0" lvl="8"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9pPr>
          </a:lstStyle>
          <a:p>
            <a:pPr marL="285750" indent="-285750">
              <a:spcBef>
                <a:spcPts val="0"/>
              </a:spcBef>
              <a:buFont typeface="Arial" panose="020B0604020202020204" pitchFamily="34" charset="0"/>
              <a:buChar char="•"/>
            </a:pPr>
            <a:r>
              <a:rPr lang="en-US" sz="1600" dirty="0">
                <a:solidFill>
                  <a:schemeClr val="tx1"/>
                </a:solidFill>
              </a:rPr>
              <a:t>MI for hydro nickel from </a:t>
            </a:r>
            <a:r>
              <a:rPr lang="en-US" sz="1600" dirty="0" err="1">
                <a:solidFill>
                  <a:schemeClr val="tx1"/>
                </a:solidFill>
              </a:rPr>
              <a:t>Pénéloppe</a:t>
            </a:r>
            <a:r>
              <a:rPr lang="en-US" sz="1600" dirty="0">
                <a:solidFill>
                  <a:schemeClr val="tx1"/>
                </a:solidFill>
              </a:rPr>
              <a:t> seems very high</a:t>
            </a:r>
          </a:p>
          <a:p>
            <a:pPr marL="285750" indent="-285750">
              <a:spcBef>
                <a:spcPts val="0"/>
              </a:spcBef>
              <a:buFont typeface="Arial" panose="020B0604020202020204" pitchFamily="34" charset="0"/>
              <a:buChar char="•"/>
            </a:pPr>
            <a:r>
              <a:rPr lang="en-US" sz="1600" dirty="0">
                <a:solidFill>
                  <a:schemeClr val="tx1"/>
                </a:solidFill>
              </a:rPr>
              <a:t>Nickel Institute gives a ‘low’ importance of nickel for hydroelectricity</a:t>
            </a:r>
          </a:p>
          <a:p>
            <a:pPr marL="285750" indent="-285750">
              <a:spcBef>
                <a:spcPts val="0"/>
              </a:spcBef>
              <a:buFont typeface="Arial" panose="020B0604020202020204" pitchFamily="34" charset="0"/>
              <a:buChar char="•"/>
            </a:pPr>
            <a:r>
              <a:rPr lang="en-US" sz="1600" dirty="0">
                <a:solidFill>
                  <a:schemeClr val="tx1"/>
                </a:solidFill>
              </a:rPr>
              <a:t>Nickel in hydro = </a:t>
            </a:r>
            <a:r>
              <a:rPr lang="en-US" sz="1600" dirty="0"/>
              <a:t>appears mainly in </a:t>
            </a:r>
            <a:r>
              <a:rPr lang="en-US" sz="1600" b="1" dirty="0"/>
              <a:t>stainless / corrosion-resistant steels</a:t>
            </a:r>
            <a:r>
              <a:rPr lang="en-US" sz="1600" dirty="0"/>
              <a:t> used for parts in contact with water (turbine runner, wicket gates, shafts, sometimes some piping), and in some specialty alloys.</a:t>
            </a:r>
            <a:endParaRPr lang="en-US" sz="1600" dirty="0">
              <a:solidFill>
                <a:schemeClr val="tx1"/>
              </a:solidFill>
            </a:endParaRPr>
          </a:p>
          <a:p>
            <a:pPr marL="285750" indent="-285750">
              <a:spcBef>
                <a:spcPts val="0"/>
              </a:spcBef>
              <a:buFont typeface="Arial" panose="020B0604020202020204" pitchFamily="34" charset="0"/>
              <a:buChar char="•"/>
            </a:pPr>
            <a:endParaRPr lang="en-US" sz="1600" dirty="0">
              <a:solidFill>
                <a:schemeClr val="tx1"/>
              </a:solidFill>
            </a:endParaRPr>
          </a:p>
          <a:p>
            <a:pPr marL="285750" indent="-285750">
              <a:spcBef>
                <a:spcPts val="0"/>
              </a:spcBef>
              <a:buFont typeface="Arial" panose="020B0604020202020204" pitchFamily="34" charset="0"/>
              <a:buChar char="•"/>
            </a:pPr>
            <a:endParaRPr lang="en-US" sz="1800" dirty="0">
              <a:solidFill>
                <a:schemeClr val="tx1"/>
              </a:solidFill>
            </a:endParaRPr>
          </a:p>
        </p:txBody>
      </p:sp>
    </p:spTree>
    <p:extLst>
      <p:ext uri="{BB962C8B-B14F-4D97-AF65-F5344CB8AC3E}">
        <p14:creationId xmlns:p14="http://schemas.microsoft.com/office/powerpoint/2010/main" val="1896637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183F2410-0046-68F6-C5E0-E1306D689AFA}"/>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D88DEAEB-866B-5BAE-08D5-6CABA5F427EC}"/>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285750" indent="-285750">
              <a:spcBef>
                <a:spcPts val="0"/>
              </a:spcBef>
              <a:buFont typeface="Arial" panose="020B0604020202020204" pitchFamily="34" charset="0"/>
              <a:buChar char="•"/>
            </a:pPr>
            <a:endParaRPr lang="en-US" sz="1600" dirty="0">
              <a:solidFill>
                <a:schemeClr val="tx1"/>
              </a:solidFill>
            </a:endParaRPr>
          </a:p>
          <a:p>
            <a:pPr marL="285750" indent="-285750">
              <a:spcBef>
                <a:spcPts val="0"/>
              </a:spcBef>
              <a:buFont typeface="Arial" panose="020B0604020202020204" pitchFamily="34" charset="0"/>
              <a:buChar char="•"/>
            </a:pPr>
            <a:endParaRPr lang="en-US" sz="1800" dirty="0">
              <a:solidFill>
                <a:schemeClr val="tx1"/>
              </a:solidFill>
            </a:endParaRPr>
          </a:p>
        </p:txBody>
      </p:sp>
      <p:sp>
        <p:nvSpPr>
          <p:cNvPr id="238" name="Google Shape;238;p13">
            <a:extLst>
              <a:ext uri="{FF2B5EF4-FFF2-40B4-BE49-F238E27FC236}">
                <a16:creationId xmlns:a16="http://schemas.microsoft.com/office/drawing/2014/main" id="{49F56440-1EED-427F-A7E1-CC689F6B2FDA}"/>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Issue with nickel MI in hydropower </a:t>
            </a:r>
            <a:endParaRPr dirty="0"/>
          </a:p>
        </p:txBody>
      </p:sp>
      <p:sp>
        <p:nvSpPr>
          <p:cNvPr id="239" name="Google Shape;239;p13">
            <a:extLst>
              <a:ext uri="{FF2B5EF4-FFF2-40B4-BE49-F238E27FC236}">
                <a16:creationId xmlns:a16="http://schemas.microsoft.com/office/drawing/2014/main" id="{7499DD6D-4918-27C6-6C86-A7295831B011}"/>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32</a:t>
            </a:fld>
            <a:endParaRPr/>
          </a:p>
        </p:txBody>
      </p:sp>
      <p:pic>
        <p:nvPicPr>
          <p:cNvPr id="4" name="Image 3" descr="Une image contenant texte, ligne, diagramme, Tracé&#10;&#10;Le contenu généré par l’IA peut être incorrect.">
            <a:extLst>
              <a:ext uri="{FF2B5EF4-FFF2-40B4-BE49-F238E27FC236}">
                <a16:creationId xmlns:a16="http://schemas.microsoft.com/office/drawing/2014/main" id="{A4C7A424-D7B3-9282-0FBD-76426F3953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27" y="2312087"/>
            <a:ext cx="10835746" cy="3983730"/>
          </a:xfrm>
          <a:prstGeom prst="rect">
            <a:avLst/>
          </a:prstGeom>
        </p:spPr>
      </p:pic>
      <p:sp>
        <p:nvSpPr>
          <p:cNvPr id="5" name="Google Shape;237;p13">
            <a:extLst>
              <a:ext uri="{FF2B5EF4-FFF2-40B4-BE49-F238E27FC236}">
                <a16:creationId xmlns:a16="http://schemas.microsoft.com/office/drawing/2014/main" id="{AFCC5D71-8C2A-B40F-21A3-30904A12891C}"/>
              </a:ext>
            </a:extLst>
          </p:cNvPr>
          <p:cNvSpPr txBox="1">
            <a:spLocks/>
          </p:cNvSpPr>
          <p:nvPr/>
        </p:nvSpPr>
        <p:spPr>
          <a:xfrm>
            <a:off x="585349" y="1359063"/>
            <a:ext cx="10835746" cy="5113544"/>
          </a:xfrm>
          <a:prstGeom prst="rect">
            <a:avLst/>
          </a:prstGeom>
          <a:noFill/>
          <a:ln>
            <a:noFill/>
          </a:ln>
        </p:spPr>
        <p:txBody>
          <a:bodyPr spcFirstLastPara="1" vert="horz" wrap="square" lIns="0" tIns="0" rIns="0" bIns="0" rtlCol="0" anchor="t" anchorCtr="0">
            <a:noAutofit/>
          </a:bodyPr>
          <a:lstStyle>
            <a:lvl1pPr marL="457200" marR="0" lvl="0" indent="-228600" algn="l" defTabSz="914400" rtl="0" eaLnBrk="1" latinLnBrk="0" hangingPunct="1">
              <a:lnSpc>
                <a:spcPct val="100000"/>
              </a:lnSpc>
              <a:spcBef>
                <a:spcPts val="1000"/>
              </a:spcBef>
              <a:spcAft>
                <a:spcPts val="0"/>
              </a:spcAft>
              <a:buClr>
                <a:schemeClr val="dk1"/>
              </a:buClr>
              <a:buSzPts val="2400"/>
              <a:buFont typeface="Arial"/>
              <a:buNone/>
              <a:defRPr sz="2400" b="0" i="0" u="none" strike="noStrike" kern="1200" cap="none">
                <a:solidFill>
                  <a:schemeClr val="dk1"/>
                </a:solidFill>
                <a:latin typeface="Calibri"/>
                <a:ea typeface="Calibri"/>
                <a:cs typeface="Calibri"/>
                <a:sym typeface="Calibri"/>
              </a:defRPr>
            </a:lvl1pPr>
            <a:lvl2pPr marL="914400" marR="0" lvl="1" indent="-228600" algn="l" defTabSz="914400" rtl="0" eaLnBrk="1" latinLnBrk="0" hangingPunct="1">
              <a:lnSpc>
                <a:spcPct val="90000"/>
              </a:lnSpc>
              <a:spcBef>
                <a:spcPts val="500"/>
              </a:spcBef>
              <a:spcAft>
                <a:spcPts val="0"/>
              </a:spcAft>
              <a:buClr>
                <a:schemeClr val="dk1"/>
              </a:buClr>
              <a:buSzPts val="1400"/>
              <a:buFont typeface="Arial"/>
              <a:buNone/>
              <a:defRPr sz="1400" b="0" i="0" u="none" strike="noStrike" kern="1200" cap="none">
                <a:solidFill>
                  <a:schemeClr val="dk1"/>
                </a:solidFill>
                <a:latin typeface="Calibri"/>
                <a:ea typeface="Calibri"/>
                <a:cs typeface="Calibri"/>
                <a:sym typeface="Calibri"/>
              </a:defRPr>
            </a:lvl2pPr>
            <a:lvl3pPr marL="1371600" marR="0" lvl="2" indent="-228600" algn="l" defTabSz="914400" rtl="0" eaLnBrk="1" latinLnBrk="0" hangingPunct="1">
              <a:lnSpc>
                <a:spcPct val="90000"/>
              </a:lnSpc>
              <a:spcBef>
                <a:spcPts val="500"/>
              </a:spcBef>
              <a:spcAft>
                <a:spcPts val="0"/>
              </a:spcAft>
              <a:buClr>
                <a:schemeClr val="dk1"/>
              </a:buClr>
              <a:buSzPts val="1200"/>
              <a:buFont typeface="Arial"/>
              <a:buNone/>
              <a:defRPr sz="1200" b="0" i="0" u="none" strike="noStrike" kern="1200" cap="none">
                <a:solidFill>
                  <a:schemeClr val="dk1"/>
                </a:solidFill>
                <a:latin typeface="Calibri"/>
                <a:ea typeface="Calibri"/>
                <a:cs typeface="Calibri"/>
                <a:sym typeface="Calibri"/>
              </a:defRPr>
            </a:lvl3pPr>
            <a:lvl4pPr marL="1828800" marR="0" lvl="3"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4pPr>
            <a:lvl5pPr marL="2286000" marR="0" lvl="4"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5pPr>
            <a:lvl6pPr marL="2743200" marR="0" lvl="5"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6pPr>
            <a:lvl7pPr marL="3200400" marR="0" lvl="6"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7pPr>
            <a:lvl8pPr marL="3657600" marR="0" lvl="7"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8pPr>
            <a:lvl9pPr marL="4114800" marR="0" lvl="8"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9pPr>
          </a:lstStyle>
          <a:p>
            <a:pPr marL="285750" indent="-285750">
              <a:spcBef>
                <a:spcPts val="0"/>
              </a:spcBef>
              <a:buFont typeface="Arial" panose="020B0604020202020204" pitchFamily="34" charset="0"/>
              <a:buChar char="•"/>
            </a:pPr>
            <a:r>
              <a:rPr lang="en-US" sz="1600" dirty="0">
                <a:solidFill>
                  <a:schemeClr val="tx1"/>
                </a:solidFill>
              </a:rPr>
              <a:t>MI for hydro nickel from </a:t>
            </a:r>
            <a:r>
              <a:rPr lang="en-US" sz="1600" dirty="0" err="1">
                <a:solidFill>
                  <a:schemeClr val="tx1"/>
                </a:solidFill>
              </a:rPr>
              <a:t>Pénéloppe</a:t>
            </a:r>
            <a:r>
              <a:rPr lang="en-US" sz="1600" dirty="0">
                <a:solidFill>
                  <a:schemeClr val="tx1"/>
                </a:solidFill>
              </a:rPr>
              <a:t> seems very high (source = Open LCA analysis…). No value to compare (no Ni in Titouan’s article)</a:t>
            </a:r>
          </a:p>
          <a:p>
            <a:pPr marL="285750" indent="-285750">
              <a:spcBef>
                <a:spcPts val="0"/>
              </a:spcBef>
              <a:buFont typeface="Arial" panose="020B0604020202020204" pitchFamily="34" charset="0"/>
              <a:buChar char="•"/>
            </a:pPr>
            <a:r>
              <a:rPr lang="en-US" sz="1600" dirty="0">
                <a:solidFill>
                  <a:schemeClr val="tx1"/>
                </a:solidFill>
              </a:rPr>
              <a:t>Nickel Institute gives a ‘low’ importance of nickel for hydroelectricity</a:t>
            </a:r>
          </a:p>
          <a:p>
            <a:pPr marL="285750" indent="-285750">
              <a:spcBef>
                <a:spcPts val="0"/>
              </a:spcBef>
              <a:buFont typeface="Arial" panose="020B0604020202020204" pitchFamily="34" charset="0"/>
              <a:buChar char="•"/>
            </a:pPr>
            <a:r>
              <a:rPr lang="en-US" sz="1600" dirty="0">
                <a:solidFill>
                  <a:schemeClr val="tx1"/>
                </a:solidFill>
              </a:rPr>
              <a:t>Nickel in hydro = </a:t>
            </a:r>
            <a:r>
              <a:rPr lang="en-US" sz="1600" dirty="0"/>
              <a:t>appears mainly in </a:t>
            </a:r>
            <a:r>
              <a:rPr lang="en-US" sz="1600" b="1" dirty="0"/>
              <a:t>stainless / corrosion-resistant steels</a:t>
            </a:r>
            <a:r>
              <a:rPr lang="en-US" sz="1600" dirty="0"/>
              <a:t> used for parts in contact with water (turbine runner, wicket gates, shafts, sometimes some piping), and in some specialty alloys.</a:t>
            </a:r>
            <a:endParaRPr lang="en-US" sz="1600" dirty="0">
              <a:solidFill>
                <a:schemeClr val="tx1"/>
              </a:solidFill>
            </a:endParaRPr>
          </a:p>
          <a:p>
            <a:pPr marL="285750" indent="-285750">
              <a:spcBef>
                <a:spcPts val="0"/>
              </a:spcBef>
              <a:buFont typeface="Arial" panose="020B0604020202020204" pitchFamily="34" charset="0"/>
              <a:buChar char="•"/>
            </a:pPr>
            <a:endParaRPr lang="en-US" sz="1600" dirty="0">
              <a:solidFill>
                <a:schemeClr val="tx1"/>
              </a:solidFill>
            </a:endParaRPr>
          </a:p>
          <a:p>
            <a:pPr marL="285750" indent="-285750">
              <a:spcBef>
                <a:spcPts val="0"/>
              </a:spcBef>
              <a:buFont typeface="Arial" panose="020B0604020202020204" pitchFamily="34" charset="0"/>
              <a:buChar char="•"/>
            </a:pPr>
            <a:endParaRPr lang="en-US" sz="1800" dirty="0">
              <a:solidFill>
                <a:schemeClr val="tx1"/>
              </a:solidFill>
            </a:endParaRPr>
          </a:p>
        </p:txBody>
      </p:sp>
    </p:spTree>
    <p:extLst>
      <p:ext uri="{BB962C8B-B14F-4D97-AF65-F5344CB8AC3E}">
        <p14:creationId xmlns:p14="http://schemas.microsoft.com/office/powerpoint/2010/main" val="36916023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EB6E7EAE-530B-9C02-854B-86B4E9456E31}"/>
            </a:ext>
          </a:extLst>
        </p:cNvPr>
        <p:cNvGrpSpPr/>
        <p:nvPr/>
      </p:nvGrpSpPr>
      <p:grpSpPr>
        <a:xfrm>
          <a:off x="0" y="0"/>
          <a:ext cx="0" cy="0"/>
          <a:chOff x="0" y="0"/>
          <a:chExt cx="0" cy="0"/>
        </a:xfrm>
      </p:grpSpPr>
      <p:sp>
        <p:nvSpPr>
          <p:cNvPr id="237" name="Google Shape;237;p13">
            <a:extLst>
              <a:ext uri="{FF2B5EF4-FFF2-40B4-BE49-F238E27FC236}">
                <a16:creationId xmlns:a16="http://schemas.microsoft.com/office/drawing/2014/main" id="{A74B2BF9-8B71-114B-8834-EF2297A300EA}"/>
              </a:ext>
            </a:extLst>
          </p:cNvPr>
          <p:cNvSpPr txBox="1">
            <a:spLocks noGrp="1"/>
          </p:cNvSpPr>
          <p:nvPr>
            <p:ph type="body" idx="1"/>
          </p:nvPr>
        </p:nvSpPr>
        <p:spPr>
          <a:xfrm>
            <a:off x="524329" y="1447592"/>
            <a:ext cx="10835746" cy="5113544"/>
          </a:xfrm>
          <a:prstGeom prst="rect">
            <a:avLst/>
          </a:prstGeom>
          <a:noFill/>
          <a:ln>
            <a:noFill/>
          </a:ln>
        </p:spPr>
        <p:txBody>
          <a:bodyPr spcFirstLastPara="1" wrap="square" lIns="0" tIns="0" rIns="0" bIns="0" anchor="t" anchorCtr="0">
            <a:noAutofit/>
          </a:bodyPr>
          <a:lstStyle/>
          <a:p>
            <a:pPr marL="285750" indent="-285750">
              <a:spcBef>
                <a:spcPts val="0"/>
              </a:spcBef>
              <a:buFont typeface="Arial" panose="020B0604020202020204" pitchFamily="34" charset="0"/>
              <a:buChar char="•"/>
            </a:pPr>
            <a:endParaRPr lang="en-US" sz="1600" dirty="0">
              <a:solidFill>
                <a:schemeClr val="tx1"/>
              </a:solidFill>
            </a:endParaRPr>
          </a:p>
          <a:p>
            <a:pPr marL="285750" indent="-285750">
              <a:spcBef>
                <a:spcPts val="0"/>
              </a:spcBef>
              <a:buFont typeface="Arial" panose="020B0604020202020204" pitchFamily="34" charset="0"/>
              <a:buChar char="•"/>
            </a:pPr>
            <a:endParaRPr lang="en-US" sz="1800" dirty="0">
              <a:solidFill>
                <a:schemeClr val="tx1"/>
              </a:solidFill>
            </a:endParaRPr>
          </a:p>
        </p:txBody>
      </p:sp>
      <p:sp>
        <p:nvSpPr>
          <p:cNvPr id="238" name="Google Shape;238;p13">
            <a:extLst>
              <a:ext uri="{FF2B5EF4-FFF2-40B4-BE49-F238E27FC236}">
                <a16:creationId xmlns:a16="http://schemas.microsoft.com/office/drawing/2014/main" id="{DD560148-5C0A-532C-7CA1-A50BF5ACFA03}"/>
              </a:ext>
            </a:extLst>
          </p:cNvPr>
          <p:cNvSpPr txBox="1">
            <a:spLocks noGrp="1"/>
          </p:cNvSpPr>
          <p:nvPr>
            <p:ph type="title"/>
          </p:nvPr>
        </p:nvSpPr>
        <p:spPr>
          <a:xfrm>
            <a:off x="515937" y="296864"/>
            <a:ext cx="10404109" cy="647700"/>
          </a:xfrm>
          <a:prstGeom prst="rect">
            <a:avLst/>
          </a:prstGeom>
          <a:noFill/>
          <a:ln>
            <a:noFill/>
          </a:ln>
        </p:spPr>
        <p:txBody>
          <a:bodyPr spcFirstLastPara="1" wrap="square" lIns="0" tIns="45700" rIns="91425" bIns="45700" anchor="b" anchorCtr="0">
            <a:noAutofit/>
          </a:bodyPr>
          <a:lstStyle/>
          <a:p>
            <a:pPr marL="0" lvl="0" indent="0" algn="l" rtl="0">
              <a:lnSpc>
                <a:spcPct val="107692"/>
              </a:lnSpc>
              <a:spcBef>
                <a:spcPts val="0"/>
              </a:spcBef>
              <a:spcAft>
                <a:spcPts val="0"/>
              </a:spcAft>
              <a:buClr>
                <a:schemeClr val="dk1"/>
              </a:buClr>
              <a:buSzPts val="2600"/>
              <a:buFont typeface="Calibri"/>
              <a:buNone/>
            </a:pPr>
            <a:r>
              <a:rPr lang="en-CA" dirty="0"/>
              <a:t>Refining sites with production data in </a:t>
            </a:r>
            <a:r>
              <a:rPr lang="en-CA" dirty="0" err="1"/>
              <a:t>MetalliCan</a:t>
            </a:r>
            <a:endParaRPr dirty="0"/>
          </a:p>
        </p:txBody>
      </p:sp>
      <p:sp>
        <p:nvSpPr>
          <p:cNvPr id="239" name="Google Shape;239;p13">
            <a:extLst>
              <a:ext uri="{FF2B5EF4-FFF2-40B4-BE49-F238E27FC236}">
                <a16:creationId xmlns:a16="http://schemas.microsoft.com/office/drawing/2014/main" id="{35FAA96B-7D07-1E2B-40F5-54083A09119E}"/>
              </a:ext>
            </a:extLst>
          </p:cNvPr>
          <p:cNvSpPr txBox="1">
            <a:spLocks noGrp="1"/>
          </p:cNvSpPr>
          <p:nvPr>
            <p:ph type="sldNum" idx="12"/>
          </p:nvPr>
        </p:nvSpPr>
        <p:spPr>
          <a:xfrm>
            <a:off x="172599" y="6472607"/>
            <a:ext cx="412750" cy="7667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fr-FR"/>
              <a:t>33</a:t>
            </a:fld>
            <a:endParaRPr/>
          </a:p>
        </p:txBody>
      </p:sp>
      <p:sp>
        <p:nvSpPr>
          <p:cNvPr id="5" name="Google Shape;237;p13">
            <a:extLst>
              <a:ext uri="{FF2B5EF4-FFF2-40B4-BE49-F238E27FC236}">
                <a16:creationId xmlns:a16="http://schemas.microsoft.com/office/drawing/2014/main" id="{EAA4E0D2-30A4-001B-409A-5810E609B71E}"/>
              </a:ext>
            </a:extLst>
          </p:cNvPr>
          <p:cNvSpPr txBox="1">
            <a:spLocks/>
          </p:cNvSpPr>
          <p:nvPr/>
        </p:nvSpPr>
        <p:spPr>
          <a:xfrm>
            <a:off x="585349" y="1551569"/>
            <a:ext cx="10835746" cy="2636067"/>
          </a:xfrm>
          <a:prstGeom prst="rect">
            <a:avLst/>
          </a:prstGeom>
          <a:noFill/>
          <a:ln>
            <a:noFill/>
          </a:ln>
        </p:spPr>
        <p:txBody>
          <a:bodyPr spcFirstLastPara="1" vert="horz" wrap="square" lIns="0" tIns="0" rIns="0" bIns="0" rtlCol="0" anchor="t" anchorCtr="0">
            <a:noAutofit/>
          </a:bodyPr>
          <a:lstStyle>
            <a:lvl1pPr marL="457200" marR="0" lvl="0" indent="-228600" algn="l" defTabSz="914400" rtl="0" eaLnBrk="1" latinLnBrk="0" hangingPunct="1">
              <a:lnSpc>
                <a:spcPct val="100000"/>
              </a:lnSpc>
              <a:spcBef>
                <a:spcPts val="1000"/>
              </a:spcBef>
              <a:spcAft>
                <a:spcPts val="0"/>
              </a:spcAft>
              <a:buClr>
                <a:schemeClr val="dk1"/>
              </a:buClr>
              <a:buSzPts val="2400"/>
              <a:buFont typeface="Arial"/>
              <a:buNone/>
              <a:defRPr sz="2400" b="0" i="0" u="none" strike="noStrike" kern="1200" cap="none">
                <a:solidFill>
                  <a:schemeClr val="dk1"/>
                </a:solidFill>
                <a:latin typeface="Calibri"/>
                <a:ea typeface="Calibri"/>
                <a:cs typeface="Calibri"/>
                <a:sym typeface="Calibri"/>
              </a:defRPr>
            </a:lvl1pPr>
            <a:lvl2pPr marL="914400" marR="0" lvl="1" indent="-228600" algn="l" defTabSz="914400" rtl="0" eaLnBrk="1" latinLnBrk="0" hangingPunct="1">
              <a:lnSpc>
                <a:spcPct val="90000"/>
              </a:lnSpc>
              <a:spcBef>
                <a:spcPts val="500"/>
              </a:spcBef>
              <a:spcAft>
                <a:spcPts val="0"/>
              </a:spcAft>
              <a:buClr>
                <a:schemeClr val="dk1"/>
              </a:buClr>
              <a:buSzPts val="1400"/>
              <a:buFont typeface="Arial"/>
              <a:buNone/>
              <a:defRPr sz="1400" b="0" i="0" u="none" strike="noStrike" kern="1200" cap="none">
                <a:solidFill>
                  <a:schemeClr val="dk1"/>
                </a:solidFill>
                <a:latin typeface="Calibri"/>
                <a:ea typeface="Calibri"/>
                <a:cs typeface="Calibri"/>
                <a:sym typeface="Calibri"/>
              </a:defRPr>
            </a:lvl2pPr>
            <a:lvl3pPr marL="1371600" marR="0" lvl="2" indent="-228600" algn="l" defTabSz="914400" rtl="0" eaLnBrk="1" latinLnBrk="0" hangingPunct="1">
              <a:lnSpc>
                <a:spcPct val="90000"/>
              </a:lnSpc>
              <a:spcBef>
                <a:spcPts val="500"/>
              </a:spcBef>
              <a:spcAft>
                <a:spcPts val="0"/>
              </a:spcAft>
              <a:buClr>
                <a:schemeClr val="dk1"/>
              </a:buClr>
              <a:buSzPts val="1200"/>
              <a:buFont typeface="Arial"/>
              <a:buNone/>
              <a:defRPr sz="1200" b="0" i="0" u="none" strike="noStrike" kern="1200" cap="none">
                <a:solidFill>
                  <a:schemeClr val="dk1"/>
                </a:solidFill>
                <a:latin typeface="Calibri"/>
                <a:ea typeface="Calibri"/>
                <a:cs typeface="Calibri"/>
                <a:sym typeface="Calibri"/>
              </a:defRPr>
            </a:lvl3pPr>
            <a:lvl4pPr marL="1828800" marR="0" lvl="3"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4pPr>
            <a:lvl5pPr marL="2286000" marR="0" lvl="4"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5pPr>
            <a:lvl6pPr marL="2743200" marR="0" lvl="5"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6pPr>
            <a:lvl7pPr marL="3200400" marR="0" lvl="6"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7pPr>
            <a:lvl8pPr marL="3657600" marR="0" lvl="7"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8pPr>
            <a:lvl9pPr marL="4114800" marR="0" lvl="8" indent="-228600" algn="l" defTabSz="914400" rtl="0" eaLnBrk="1" latinLnBrk="0" hangingPunct="1">
              <a:lnSpc>
                <a:spcPct val="90000"/>
              </a:lnSpc>
              <a:spcBef>
                <a:spcPts val="500"/>
              </a:spcBef>
              <a:spcAft>
                <a:spcPts val="0"/>
              </a:spcAft>
              <a:buClr>
                <a:schemeClr val="dk1"/>
              </a:buClr>
              <a:buSzPts val="1000"/>
              <a:buFont typeface="Arial"/>
              <a:buNone/>
              <a:defRPr sz="1000" b="0" i="0" u="none" strike="noStrike" kern="1200" cap="none">
                <a:solidFill>
                  <a:schemeClr val="dk1"/>
                </a:solidFill>
                <a:latin typeface="Calibri"/>
                <a:ea typeface="Calibri"/>
                <a:cs typeface="Calibri"/>
                <a:sym typeface="Calibri"/>
              </a:defRPr>
            </a:lvl9pPr>
          </a:lstStyle>
          <a:p>
            <a:pPr marL="285750" indent="-285750">
              <a:spcBef>
                <a:spcPts val="0"/>
              </a:spcBef>
              <a:buFont typeface="Arial" panose="020B0604020202020204" pitchFamily="34" charset="0"/>
              <a:buChar char="•"/>
            </a:pPr>
            <a:r>
              <a:rPr lang="en-US" sz="1600" dirty="0">
                <a:solidFill>
                  <a:schemeClr val="tx1"/>
                </a:solidFill>
              </a:rPr>
              <a:t>Copper Cliff Complex (smelter and refinery) = Ni-Cu smelter and refinery = Pyrometallurgy at the smelter, then hydrometallurgy + electrorefining at the refining stage.</a:t>
            </a:r>
          </a:p>
          <a:p>
            <a:pPr marL="285750" indent="-285750">
              <a:spcBef>
                <a:spcPts val="0"/>
              </a:spcBef>
              <a:buFont typeface="Arial" panose="020B0604020202020204" pitchFamily="34" charset="0"/>
              <a:buChar char="•"/>
            </a:pPr>
            <a:r>
              <a:rPr lang="en-US" sz="1600" dirty="0">
                <a:solidFill>
                  <a:schemeClr val="tx1"/>
                </a:solidFill>
              </a:rPr>
              <a:t>Long </a:t>
            </a:r>
            <a:r>
              <a:rPr lang="en-US" sz="1600" dirty="0" err="1">
                <a:solidFill>
                  <a:schemeClr val="tx1"/>
                </a:solidFill>
              </a:rPr>
              <a:t>Harbour</a:t>
            </a:r>
            <a:r>
              <a:rPr lang="en-US" sz="1600" dirty="0">
                <a:solidFill>
                  <a:schemeClr val="tx1"/>
                </a:solidFill>
              </a:rPr>
              <a:t> (refinery) = Ni hydrometallurgical refinery</a:t>
            </a:r>
          </a:p>
          <a:p>
            <a:pPr marL="285750" indent="-285750">
              <a:spcBef>
                <a:spcPts val="0"/>
              </a:spcBef>
              <a:buFont typeface="Arial" panose="020B0604020202020204" pitchFamily="34" charset="0"/>
              <a:buChar char="•"/>
            </a:pPr>
            <a:r>
              <a:rPr lang="en-US" sz="1600" dirty="0">
                <a:solidFill>
                  <a:schemeClr val="tx1"/>
                </a:solidFill>
              </a:rPr>
              <a:t>Sudbury (smelter) = Ni-Cu smelter = Pyrometallurgy in Canada, with final refining done in Norway</a:t>
            </a:r>
          </a:p>
          <a:p>
            <a:pPr marL="285750" indent="-285750">
              <a:spcBef>
                <a:spcPts val="0"/>
              </a:spcBef>
              <a:buFont typeface="Arial" panose="020B0604020202020204" pitchFamily="34" charset="0"/>
              <a:buChar char="•"/>
            </a:pPr>
            <a:r>
              <a:rPr lang="en-US" sz="1600" dirty="0">
                <a:solidFill>
                  <a:schemeClr val="tx1"/>
                </a:solidFill>
              </a:rPr>
              <a:t>The Cobalt Refinery Company Inc (refinery) = Ni and Co hydrometallurgical refinery, concentrate from Cuba</a:t>
            </a:r>
          </a:p>
          <a:p>
            <a:pPr marL="285750" indent="-285750">
              <a:spcBef>
                <a:spcPts val="0"/>
              </a:spcBef>
              <a:buFont typeface="Arial" panose="020B0604020202020204" pitchFamily="34" charset="0"/>
              <a:buChar char="•"/>
            </a:pPr>
            <a:endParaRPr lang="en-US" sz="1800" dirty="0">
              <a:solidFill>
                <a:schemeClr val="tx1"/>
              </a:solidFill>
            </a:endParaRPr>
          </a:p>
          <a:p>
            <a:pPr marL="0" indent="0">
              <a:spcBef>
                <a:spcPts val="0"/>
              </a:spcBef>
            </a:pPr>
            <a:endParaRPr lang="en-US" sz="1800" dirty="0">
              <a:solidFill>
                <a:schemeClr val="tx1"/>
              </a:solidFill>
            </a:endParaRPr>
          </a:p>
          <a:p>
            <a:pPr marL="0" indent="0">
              <a:spcBef>
                <a:spcPts val="0"/>
              </a:spcBef>
            </a:pPr>
            <a:r>
              <a:rPr lang="en-US" sz="1800" dirty="0">
                <a:solidFill>
                  <a:schemeClr val="tx1"/>
                </a:solidFill>
              </a:rPr>
              <a:t>Next steps = classification of LCIs extracted from Lai et al (2025) (+ extraction of Roy et al (</a:t>
            </a:r>
            <a:r>
              <a:rPr lang="en-US" sz="1800">
                <a:solidFill>
                  <a:schemeClr val="tx1"/>
                </a:solidFill>
              </a:rPr>
              <a:t>2025) </a:t>
            </a:r>
            <a:endParaRPr lang="en-US" sz="1800" dirty="0">
              <a:solidFill>
                <a:schemeClr val="tx1"/>
              </a:solidFill>
            </a:endParaRPr>
          </a:p>
        </p:txBody>
      </p:sp>
    </p:spTree>
    <p:extLst>
      <p:ext uri="{BB962C8B-B14F-4D97-AF65-F5344CB8AC3E}">
        <p14:creationId xmlns:p14="http://schemas.microsoft.com/office/powerpoint/2010/main" val="2601806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15"/>
          <p:cNvPicPr preferRelativeResize="0"/>
          <p:nvPr/>
        </p:nvPicPr>
        <p:blipFill rotWithShape="1">
          <a:blip r:embed="rId3">
            <a:alphaModFix/>
          </a:blip>
          <a:srcRect/>
          <a:stretch/>
        </p:blipFill>
        <p:spPr>
          <a:xfrm>
            <a:off x="0" y="0"/>
            <a:ext cx="12192000" cy="6857999"/>
          </a:xfrm>
          <a:prstGeom prst="rect">
            <a:avLst/>
          </a:prstGeom>
          <a:noFill/>
          <a:ln>
            <a:noFill/>
          </a:ln>
        </p:spPr>
      </p:pic>
      <p:grpSp>
        <p:nvGrpSpPr>
          <p:cNvPr id="252" name="Google Shape;252;p15"/>
          <p:cNvGrpSpPr/>
          <p:nvPr/>
        </p:nvGrpSpPr>
        <p:grpSpPr>
          <a:xfrm>
            <a:off x="702978" y="728662"/>
            <a:ext cx="10757185" cy="5400675"/>
            <a:chOff x="702978" y="728662"/>
            <a:chExt cx="10757185" cy="5400675"/>
          </a:xfrm>
        </p:grpSpPr>
        <p:pic>
          <p:nvPicPr>
            <p:cNvPr id="253" name="Google Shape;253;p15"/>
            <p:cNvPicPr preferRelativeResize="0"/>
            <p:nvPr/>
          </p:nvPicPr>
          <p:blipFill rotWithShape="1">
            <a:blip r:embed="rId4">
              <a:alphaModFix/>
            </a:blip>
            <a:srcRect/>
            <a:stretch/>
          </p:blipFill>
          <p:spPr>
            <a:xfrm rot="10800000">
              <a:off x="4247562" y="728662"/>
              <a:ext cx="7212601" cy="5400675"/>
            </a:xfrm>
            <a:prstGeom prst="rect">
              <a:avLst/>
            </a:prstGeom>
            <a:noFill/>
            <a:ln>
              <a:noFill/>
            </a:ln>
          </p:spPr>
        </p:pic>
        <p:pic>
          <p:nvPicPr>
            <p:cNvPr id="254" name="Google Shape;254;p15"/>
            <p:cNvPicPr preferRelativeResize="0"/>
            <p:nvPr/>
          </p:nvPicPr>
          <p:blipFill rotWithShape="1">
            <a:blip r:embed="rId5">
              <a:alphaModFix/>
            </a:blip>
            <a:srcRect/>
            <a:stretch/>
          </p:blipFill>
          <p:spPr>
            <a:xfrm rot="5400000">
              <a:off x="1160378" y="1231861"/>
              <a:ext cx="1300018" cy="1300018"/>
            </a:xfrm>
            <a:prstGeom prst="rect">
              <a:avLst/>
            </a:prstGeom>
            <a:noFill/>
            <a:ln>
              <a:noFill/>
            </a:ln>
          </p:spPr>
        </p:pic>
        <p:pic>
          <p:nvPicPr>
            <p:cNvPr id="255" name="Google Shape;255;p15"/>
            <p:cNvPicPr preferRelativeResize="0"/>
            <p:nvPr/>
          </p:nvPicPr>
          <p:blipFill rotWithShape="1">
            <a:blip r:embed="rId4">
              <a:alphaModFix/>
            </a:blip>
            <a:srcRect/>
            <a:stretch/>
          </p:blipFill>
          <p:spPr>
            <a:xfrm>
              <a:off x="702978" y="728662"/>
              <a:ext cx="7212601" cy="5400675"/>
            </a:xfrm>
            <a:prstGeom prst="rect">
              <a:avLst/>
            </a:prstGeom>
            <a:noFill/>
            <a:ln>
              <a:noFill/>
            </a:ln>
          </p:spPr>
        </p:pic>
      </p:grpSp>
      <p:sp>
        <p:nvSpPr>
          <p:cNvPr id="256" name="Google Shape;256;p15"/>
          <p:cNvSpPr txBox="1"/>
          <p:nvPr/>
        </p:nvSpPr>
        <p:spPr>
          <a:xfrm>
            <a:off x="1810387" y="2743273"/>
            <a:ext cx="3785103" cy="1995225"/>
          </a:xfrm>
          <a:prstGeom prst="rect">
            <a:avLst/>
          </a:prstGeom>
          <a:noFill/>
          <a:ln>
            <a:noFill/>
          </a:ln>
        </p:spPr>
        <p:txBody>
          <a:bodyPr spcFirstLastPara="1" wrap="square" lIns="0" tIns="0" rIns="0" bIns="0" anchor="t" anchorCtr="0">
            <a:noAutofit/>
          </a:bodyPr>
          <a:lstStyle/>
          <a:p>
            <a:pPr marL="0" marR="0" lvl="0" indent="0" algn="l" rtl="0">
              <a:lnSpc>
                <a:spcPct val="101111"/>
              </a:lnSpc>
              <a:spcBef>
                <a:spcPts val="0"/>
              </a:spcBef>
              <a:spcAft>
                <a:spcPts val="0"/>
              </a:spcAft>
              <a:buClr>
                <a:schemeClr val="dk1"/>
              </a:buClr>
              <a:buSzPts val="5400"/>
              <a:buFont typeface="Arial"/>
              <a:buNone/>
            </a:pPr>
            <a:r>
              <a:rPr lang="fr-FR" sz="5400" b="1" i="0" u="none" strike="noStrike" cap="none">
                <a:solidFill>
                  <a:schemeClr val="dk1"/>
                </a:solidFill>
                <a:latin typeface="Calibri"/>
                <a:ea typeface="Calibri"/>
                <a:cs typeface="Calibri"/>
                <a:sym typeface="Calibri"/>
              </a:rPr>
              <a:t>Merci!</a:t>
            </a:r>
            <a:endParaRPr/>
          </a:p>
          <a:p>
            <a:pPr marL="0" marR="0" lvl="0" indent="0" algn="l" rtl="0">
              <a:lnSpc>
                <a:spcPct val="101111"/>
              </a:lnSpc>
              <a:spcBef>
                <a:spcPts val="0"/>
              </a:spcBef>
              <a:spcAft>
                <a:spcPts val="0"/>
              </a:spcAft>
              <a:buClr>
                <a:schemeClr val="dk1"/>
              </a:buClr>
              <a:buSzPts val="5400"/>
              <a:buFont typeface="Arial"/>
              <a:buNone/>
            </a:pPr>
            <a:r>
              <a:rPr lang="fr-FR" sz="5400" b="1" i="0" u="none" strike="noStrike" cap="none">
                <a:solidFill>
                  <a:schemeClr val="dk1"/>
                </a:solidFill>
                <a:latin typeface="Calibri"/>
                <a:ea typeface="Calibri"/>
                <a:cs typeface="Calibri"/>
                <a:sym typeface="Calibri"/>
              </a:rPr>
              <a:t>Questions?</a:t>
            </a:r>
            <a:endParaRPr/>
          </a:p>
        </p:txBody>
      </p:sp>
      <p:sp>
        <p:nvSpPr>
          <p:cNvPr id="257" name="Google Shape;257;p15"/>
          <p:cNvSpPr txBox="1"/>
          <p:nvPr/>
        </p:nvSpPr>
        <p:spPr>
          <a:xfrm>
            <a:off x="1292301" y="5318362"/>
            <a:ext cx="1297854" cy="307777"/>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fr-FR" sz="2000" b="1" i="0" u="none" strike="noStrike" cap="none">
                <a:solidFill>
                  <a:schemeClr val="accent1"/>
                </a:solidFill>
                <a:latin typeface="Calibri"/>
                <a:ea typeface="Calibri"/>
                <a:cs typeface="Calibri"/>
                <a:sym typeface="Calibri"/>
              </a:rPr>
              <a:t>ciraig.org</a:t>
            </a:r>
            <a:endParaRPr sz="2000" b="1" i="0" u="none" strike="noStrike" cap="none">
              <a:solidFill>
                <a:schemeClr val="accent1"/>
              </a:solidFill>
              <a:latin typeface="Calibri"/>
              <a:ea typeface="Calibri"/>
              <a:cs typeface="Calibri"/>
              <a:sym typeface="Calibri"/>
            </a:endParaRPr>
          </a:p>
        </p:txBody>
      </p:sp>
      <p:pic>
        <p:nvPicPr>
          <p:cNvPr id="263" name="Google Shape;263;p15"/>
          <p:cNvPicPr preferRelativeResize="0"/>
          <p:nvPr/>
        </p:nvPicPr>
        <p:blipFill rotWithShape="1">
          <a:blip r:embed="rId6">
            <a:alphaModFix/>
          </a:blip>
          <a:srcRect/>
          <a:stretch/>
        </p:blipFill>
        <p:spPr>
          <a:xfrm>
            <a:off x="6338582" y="4603051"/>
            <a:ext cx="1576997" cy="651476"/>
          </a:xfrm>
          <a:prstGeom prst="rect">
            <a:avLst/>
          </a:prstGeom>
          <a:noFill/>
          <a:ln>
            <a:noFill/>
          </a:ln>
        </p:spPr>
      </p:pic>
      <p:pic>
        <p:nvPicPr>
          <p:cNvPr id="264" name="Google Shape;264;p15"/>
          <p:cNvPicPr preferRelativeResize="0"/>
          <p:nvPr/>
        </p:nvPicPr>
        <p:blipFill rotWithShape="1">
          <a:blip r:embed="rId7">
            <a:alphaModFix/>
          </a:blip>
          <a:srcRect/>
          <a:stretch/>
        </p:blipFill>
        <p:spPr>
          <a:xfrm>
            <a:off x="6338582" y="2423024"/>
            <a:ext cx="946416" cy="14319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3883</TotalTime>
  <Words>1548</Words>
  <Application>Microsoft Office PowerPoint</Application>
  <PresentationFormat>Grand écran</PresentationFormat>
  <Paragraphs>203</Paragraphs>
  <Slides>34</Slides>
  <Notes>34</Notes>
  <HiddenSlides>1</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34</vt:i4>
      </vt:variant>
    </vt:vector>
  </HeadingPairs>
  <TitlesOfParts>
    <vt:vector size="41" baseType="lpstr">
      <vt:lpstr>Aptos</vt:lpstr>
      <vt:lpstr>Aptos Display</vt:lpstr>
      <vt:lpstr>Arial</vt:lpstr>
      <vt:lpstr>Calibri</vt:lpstr>
      <vt:lpstr>Wingdings</vt:lpstr>
      <vt:lpstr>Office Theme</vt:lpstr>
      <vt:lpstr>Custom Design</vt:lpstr>
      <vt:lpstr>Présentation PowerPoint</vt:lpstr>
      <vt:lpstr>Method – General overview</vt:lpstr>
      <vt:lpstr>Method – General overview</vt:lpstr>
      <vt:lpstr>Method – Scenarios</vt:lpstr>
      <vt:lpstr>Results – Production scenarios</vt:lpstr>
      <vt:lpstr>Results – NZ scenario</vt:lpstr>
      <vt:lpstr>Results – NZ scenario (with iron)</vt:lpstr>
      <vt:lpstr>Results – NZ scenario (without iron)</vt:lpstr>
      <vt:lpstr>Results – Current measures vs NZ</vt:lpstr>
      <vt:lpstr>Results – Production vs Demand for selected metals</vt:lpstr>
      <vt:lpstr>Results – Production vs Demand for selected metals</vt:lpstr>
      <vt:lpstr>Results – Production vs Demand for selected metals</vt:lpstr>
      <vt:lpstr>Discussions</vt:lpstr>
      <vt:lpstr>2. 2nd meeting</vt:lpstr>
      <vt:lpstr>Key points</vt:lpstr>
      <vt:lpstr>Focus on grid</vt:lpstr>
      <vt:lpstr>New results with grid</vt:lpstr>
      <vt:lpstr>New results with grid</vt:lpstr>
      <vt:lpstr>Results – Production vs Demand for selected metals</vt:lpstr>
      <vt:lpstr>2023 production data calibration</vt:lpstr>
      <vt:lpstr>3. Meeting 14/01/26</vt:lpstr>
      <vt:lpstr>Grid</vt:lpstr>
      <vt:lpstr>Grid – proposed approach</vt:lpstr>
      <vt:lpstr>Grid – literature review </vt:lpstr>
      <vt:lpstr>Grid – literature review (from Kalt et al. 2022)</vt:lpstr>
      <vt:lpstr>New results (without iron and concrete)</vt:lpstr>
      <vt:lpstr>New results (focus on 6 metals)</vt:lpstr>
      <vt:lpstr>New results</vt:lpstr>
      <vt:lpstr>New results - Cumulative </vt:lpstr>
      <vt:lpstr>Issue with graphite stopping in 2040</vt:lpstr>
      <vt:lpstr>Issue with nickel MI in hydropower </vt:lpstr>
      <vt:lpstr>Issue with nickel MI in hydropower </vt:lpstr>
      <vt:lpstr>Refining sites with production data in MetalliCan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hossein abdeyazdan</dc:creator>
  <cp:lastModifiedBy>Marin Pellan</cp:lastModifiedBy>
  <cp:revision>22</cp:revision>
  <dcterms:created xsi:type="dcterms:W3CDTF">2025-06-09T15:10:14Z</dcterms:created>
  <dcterms:modified xsi:type="dcterms:W3CDTF">2026-01-14T16:01:01Z</dcterms:modified>
</cp:coreProperties>
</file>